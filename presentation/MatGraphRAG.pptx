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3318f2f-cca7-5a9d-1ba0-53222f1dfcc2}">
          <p14:sldIdLst>
            <p14:sldId id="256"/>
            <p14:sldId id="257"/>
            <p14:sldId id="258"/>
            <p14:sldId id="259"/>
          </p14:sldIdLst>
        </p14:section>
        <p14:section name="Knowledge graph" id="{ccb7c567-bb79-aa29-a565-48bced496bac}">
          <p14:sldIdLst>
            <p14:sldId id="260"/>
          </p14:sldIdLst>
        </p14:section>
        <p14:section name="Architecture" id="{91678b57-7fe7-63fe-9098-94b8b8cb098e}">
          <p14:sldIdLst>
            <p14:sldId id="261"/>
            <p14:sldId id="262"/>
            <p14:sldId id="263"/>
            <p14:sldId id="264"/>
          </p14:sldIdLst>
        </p14:section>
        <p14:section name="Retrieval and ingestion" id="{db6f0b5f-baa1-c091-2d55-956e64aefa23}">
          <p14:sldIdLst>
            <p14:sldId id="265"/>
            <p14:sldId id="266"/>
            <p14:sldId id="267"/>
          </p14:sldIdLst>
        </p14:section>
        <p14:section name="Results and demo" id="{d38e2cd9-2922-0a5b-e158-2911b570dafe}">
          <p14:sldIdLst>
            <p14:sldId id="268"/>
            <p14:sldId id="269"/>
            <p14:sldId id="270"/>
            <p14:sldId id="271"/>
          </p14:sldIdLst>
        </p14:section>
        <p14:section name="Conclusion" id="{a425e518-8e1f-0680-4585-bd2e0ce1fc45}">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0C11"/>
                </a:solidFill>
                <a:latin typeface="+mn-lt"/>
              </a:defRPr>
            </a:pPr>
            <a:r>
              <a:rPr sz="1400" b="0" i="0" u="none" strike="noStrike">
                <a:solidFill>
                  <a:srgbClr val="0B0C11"/>
                </a:solidFill>
                <a:latin typeface="+mn-lt"/>
              </a:rPr>
              <a:t>Ranking quality (55 questions, gold constraints)</a:t>
            </a:r>
          </a:p>
        </c:rich>
      </c:tx>
      <c:layout/>
      <c:overlay val="0"/>
    </c:title>
    <c:autoTitleDeleted val="0"/>
    <c:plotArea>
      <c:layout/>
      <c:barChart>
        <c:barDir val="col"/>
        <c:grouping val="clustered"/>
        <c:varyColors val="0"/>
        <c:ser>
          <c:idx val="0"/>
          <c:order val="0"/>
          <c:tx>
            <c:strRef>
              <c:f>Sheet1!$B$1</c:f>
              <c:strCache>
                <c:ptCount val="1"/>
                <c:pt idx="0">
                  <c:v>Vector RAG</c:v>
                </c:pt>
              </c:strCache>
            </c:strRef>
          </c:tx>
          <c:spPr>
            <a:solidFill>
              <a:srgbClr val="5B6278">
                <a:alpha val="100000"/>
              </a:srgbClr>
            </a:solidFill>
            <a:effectLst/>
          </c:spPr>
          <c:invertIfNegative val="0"/>
          <c:dLbls>
            <c:numFmt formatCode="0.00" sourceLinked="0"/>
            <c:txPr>
              <a:bodyPr/>
              <a:lstStyle/>
              <a:p>
                <a:pPr>
                  <a:defRPr b="0" i="0" strike="noStrike" sz="1100" u="none">
                    <a:solidFill>
                      <a:srgbClr val="0B0C11"/>
                    </a:solidFill>
                    <a:latin typeface="+mn-lt"/>
                  </a:defRPr>
                </a:pPr>
              </a:p>
            </c:txPr>
            <c:showLegendKey val="0"/>
            <c:showVal val="1"/>
            <c:showCatName val="0"/>
            <c:showSerName val="0"/>
            <c:showPercent val="0"/>
            <c:showBubbleSize val="0"/>
            <c:showLeaderLines val="0"/>
          </c:dLbls>
          <c:cat>
            <c:multiLvlStrRef>
              <c:f>Sheet1!$A$2:$A$4</c:f>
              <c:multiLvlStrCache>
                <c:ptCount val="3"/>
                <c:lvl>
                  <c:pt idx="0">
                    <c:v>Recall@10</c:v>
                  </c:pt>
                  <c:pt idx="1">
                    <c:v>MRR</c:v>
                  </c:pt>
                  <c:pt idx="2">
                    <c:v>nDCG@10</c:v>
                  </c:pt>
                </c:lvl>
              </c:multiLvlStrCache>
            </c:multiLvlStrRef>
          </c:cat>
          <c:val>
            <c:numRef>
              <c:f>Sheet1!$B$2:$B$4</c:f>
              <c:numCache>
                <c:formatCode>General</c:formatCode>
                <c:ptCount val="3"/>
                <c:pt idx="0">
                  <c:v>0.326</c:v>
                </c:pt>
                <c:pt idx="1">
                  <c:v>0.386</c:v>
                </c:pt>
                <c:pt idx="2">
                  <c:v>0.308</c:v>
                </c:pt>
              </c:numCache>
            </c:numRef>
          </c:val>
        </c:ser>
        <c:ser>
          <c:idx val="1"/>
          <c:order val="1"/>
          <c:tx>
            <c:strRef>
              <c:f>Sheet1!$C$1</c:f>
              <c:strCache>
                <c:ptCount val="1"/>
                <c:pt idx="0">
                  <c:v>Fixed-hop GraphRAG</c:v>
                </c:pt>
              </c:strCache>
            </c:strRef>
          </c:tx>
          <c:spPr>
            <a:solidFill>
              <a:srgbClr val="9C36B5">
                <a:alpha val="100000"/>
              </a:srgbClr>
            </a:solidFill>
            <a:effectLst/>
          </c:spPr>
          <c:invertIfNegative val="0"/>
          <c:dLbls>
            <c:numFmt formatCode="0.00" sourceLinked="0"/>
            <c:txPr>
              <a:bodyPr/>
              <a:lstStyle/>
              <a:p>
                <a:pPr>
                  <a:defRPr b="0" i="0" strike="noStrike" sz="1100" u="none">
                    <a:solidFill>
                      <a:srgbClr val="0B0C11"/>
                    </a:solidFill>
                    <a:latin typeface="+mn-lt"/>
                  </a:defRPr>
                </a:pPr>
              </a:p>
            </c:txPr>
            <c:showLegendKey val="0"/>
            <c:showVal val="1"/>
            <c:showCatName val="0"/>
            <c:showSerName val="0"/>
            <c:showPercent val="0"/>
            <c:showBubbleSize val="0"/>
            <c:showLeaderLines val="0"/>
          </c:dLbls>
          <c:cat>
            <c:multiLvlStrRef>
              <c:f>Sheet1!$A$2:$A$4</c:f>
              <c:multiLvlStrCache>
                <c:ptCount val="3"/>
                <c:lvl>
                  <c:pt idx="0">
                    <c:v>Recall@10</c:v>
                  </c:pt>
                  <c:pt idx="1">
                    <c:v>MRR</c:v>
                  </c:pt>
                  <c:pt idx="2">
                    <c:v>nDCG@10</c:v>
                  </c:pt>
                </c:lvl>
              </c:multiLvlStrCache>
            </c:multiLvlStrRef>
          </c:cat>
          <c:val>
            <c:numRef>
              <c:f>Sheet1!$C$2:$C$4</c:f>
              <c:numCache>
                <c:formatCode>General</c:formatCode>
                <c:ptCount val="3"/>
                <c:pt idx="0">
                  <c:v>0.613</c:v>
                </c:pt>
                <c:pt idx="1">
                  <c:v>0.663</c:v>
                </c:pt>
                <c:pt idx="2">
                  <c:v>0.598</c:v>
                </c:pt>
              </c:numCache>
            </c:numRef>
          </c:val>
        </c:ser>
        <c:ser>
          <c:idx val="2"/>
          <c:order val="2"/>
          <c:tx>
            <c:strRef>
              <c:f>Sheet1!$D$1</c:f>
              <c:strCache>
                <c:ptCount val="1"/>
                <c:pt idx="0">
                  <c:v>MatGraphRAG</c:v>
                </c:pt>
              </c:strCache>
            </c:strRef>
          </c:tx>
          <c:spPr>
            <a:solidFill>
              <a:srgbClr val="4C5FD5">
                <a:alpha val="100000"/>
              </a:srgbClr>
            </a:solidFill>
            <a:effectLst/>
          </c:spPr>
          <c:invertIfNegative val="0"/>
          <c:dLbls>
            <c:numFmt formatCode="0.00" sourceLinked="0"/>
            <c:txPr>
              <a:bodyPr/>
              <a:lstStyle/>
              <a:p>
                <a:pPr>
                  <a:defRPr b="0" i="0" strike="noStrike" sz="1100" u="none">
                    <a:solidFill>
                      <a:srgbClr val="0B0C11"/>
                    </a:solidFill>
                    <a:latin typeface="+mn-lt"/>
                  </a:defRPr>
                </a:pPr>
              </a:p>
            </c:txPr>
            <c:showLegendKey val="0"/>
            <c:showVal val="1"/>
            <c:showCatName val="0"/>
            <c:showSerName val="0"/>
            <c:showPercent val="0"/>
            <c:showBubbleSize val="0"/>
            <c:showLeaderLines val="0"/>
          </c:dLbls>
          <c:cat>
            <c:multiLvlStrRef>
              <c:f>Sheet1!$A$2:$A$4</c:f>
              <c:multiLvlStrCache>
                <c:ptCount val="3"/>
                <c:lvl>
                  <c:pt idx="0">
                    <c:v>Recall@10</c:v>
                  </c:pt>
                  <c:pt idx="1">
                    <c:v>MRR</c:v>
                  </c:pt>
                  <c:pt idx="2">
                    <c:v>nDCG@10</c:v>
                  </c:pt>
                </c:lvl>
              </c:multiLvlStrCache>
            </c:multiLvlStrRef>
          </c:cat>
          <c:val>
            <c:numRef>
              <c:f>Sheet1!$D$2:$D$4</c:f>
              <c:numCache>
                <c:formatCode>General</c:formatCode>
                <c:ptCount val="3"/>
                <c:pt idx="0">
                  <c:v>0.926</c:v>
                </c:pt>
                <c:pt idx="1">
                  <c:v>0.945</c:v>
                </c:pt>
                <c:pt idx="2">
                  <c:v>0.91</c:v>
                </c:pt>
              </c:numCache>
            </c:numRef>
          </c:val>
        </c:ser>
        <c:dLbls>
          <c:numFmt formatCode="0.00" sourceLinked="0"/>
          <c:txPr>
            <a:bodyPr/>
            <a:lstStyle/>
            <a:p>
              <a:pPr>
                <a:defRPr b="0" i="0" strike="noStrike" sz="1100" u="none">
                  <a:solidFill>
                    <a:srgbClr val="0B0C1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0C1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5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278"/>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0B0C1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MatGraphRAG: a knowledge graph built from Materials Project data, with graph-based retrieval and evidence-backed explanations on top. The image on the right is the live graph explorer showing all 794 materials and their shared hub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Materials databases are large but flat. Similarity search returns look-alikes rather than materials that satisfy numeric constraints (69.6% violations for vector RAG on our benchmark). Plain LLM answers are not traceable. And a new material cannot be placed in the context of known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construct the graph deterministically; retrieve by traversal with exact filtering; explain with citations that a checker verifies; and connect new materials — by Materials Project id, formula, or crystal structure — to the existing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common baselines. Vector RAG finds text that looks similar but cannot enforce 'band gap above 2 eV' or 'no cobalt'. Fixed-hop GraphRAG reaches the right entities but also cannot apply numeric ranges or exclusions. Neither verifies its claims or places new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all 154k materials would make pairwise similarity intractable and produce a sparse graph, so the dataset is assembled from eight chemistry-driven clusters defined in config/materials.yaml. Results are deduplicated by formula across clusters, keeping the most stable polymorph: about 2,000 candidates become 794 unique materials. Core properties cover all of them; elastic and dielectric data cover under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Data comes from the Materials Project API and is cached as raw JSON; users can also supply MP ids, formulas or crystal structures. The knowledge graph layer builds and stores the graph with Cognee over Kuzu and LanceDB, with BGE-M3 embeddings from a local Ollama. Reasoning services parse questions, retrieve and rank, build evidence, explain and ground; the ingestion service adds new materials, using a pretrained CGCNN when only a structure is given. Everything is exposed through FastAPI, a dashboard, a graph explorer and CLI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is the centre of the schema. Continuous values stay as attributes on the Material node so they can be filtered exactly. Anything used for grouping becomes a shared hub node with an identity key — element, oxidation state, chemical system, formula pattern, space group and crystal system, property class and application domain. Material-to-material similarity is a weighted edge, and suitable_for edges store the rule text that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Fetching is separate and cached, because it is the slow, rate-limited part. Enrichment applies deterministic rules: band-gap and stability buckets, application-domain rules that keep their rule text, and top-5 similarity on a z-scored 10-dimensional property vector. Cognee writes graph and vectors in one pass, deduplicating hubs by identity key. Verification checks counts and structure on every build. No LLM is involved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hubs are shared, the graph connects far more than the material count suggests. Oxygen links 95% of materials; the O2- oxidation state links 87%. Formula patterns group by stoichiometric shape, so BaTiO3 and CaHfO3 are neighbours via ABC3 without sharing an element. On top of that, similar_to edges add weighted shortcuts between materials with similar property profiles. No material is an isolated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The LLM only parses the question into typed constraints and phrases the explanation. Retrieval seeds the constraint nodes, traverses back to materials and enforces every numeric limit and exclusion exactly; ranking combines constraint margin, anchor proximity, BGE-M3 semantic similarity and stability. Evidence becomes numbered atomic facts, the explanation cites them, and a deterministic checker verifies every citation and every number. For this query 69 of 69 claims were grounded.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material can arrive as a Materials Project id, a formula or a crystal structure. The property source depends on the input: the MP record, only what the formula determines, or a pretrained CGCNN for a bare structure, each labelled with its provenance. Deduplication resolves formulas to existing MP nodes and uses StructureMatcher for structures. The same NodeFactory as the full build creates the nodes, so identity keys attach the material to existing hubs. Relating ranks the shared hubs, finds similar_to and compositional neighbours and evaluates the application rules. The report can be explained and grounded, and the material is either previewed in memory or persisted and replayed on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from the live system: LiTaO3 is not in the graph, so it is fetched from Materials Project and related. It attaches to existing element, oxidation-state, space-group and formula-pattern hubs; the only new node is its chemical system Li-O-Ta. Hubs are ranked by selectivity: R3c is shared with only 2 materials, oxygen with 758. Its dielectric rule fires (band gap 3.7 eV, non-magnetic). Related materials come from two sources: similar_to edges using the frozen build-time property scale, and compositional neighbours.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Evaluated on 55 questions in five tiers, with relevance computed by an independent oracle over the raw Materials Project JSON. With correct constraints, graph retrieval matches the oracle exactly on four of five tiers. nDCG@10 is 0.910 against 0.308 for vector RAG and 0.598 for fixed-hop GraphRAG, and none of our top-10 results violates a constraint, against 69.6% and 41.8% for the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answering the cathode question. The parsed constraints are shown as chips, candidates are ranked with their score components, and the evidence path for the selected material is drawn as a small graph. The explanation lists each claim with a tick when the checker grounds it. This capture used the rule-based parser and templated explanation (LLM switched off), which take the same path through retrieval and grounding.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Add material tab with LiTaO3. The left panel draws how the material connects: elements, oxidation states, space group, formula pattern, classes, the dielectric domain and its five most similar materials. The tables list the shared nodes ranked by selectivity and the related materials with their scores. Nothing is saved unless 'save to graph' is ticked.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explorer animates the same ingestion. Here NaFePO4, which is not in the graph, is looked up in Materials Project and compared with same-formula materials. No polymorph matches, so a new node spawns and is wired to each shared hub in turn, most selective first, with similar_to neighbours last; the force layout then pulls it into place. Ticking 'save to graph' persists it through Cognee.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knowledge graph is built deterministically, retrieval is exact and explanations are verifiable, and new materials are connected through shared hubs and similarity edges. The main open problem is structural similarity, which property-based similar_to does not capture; structural embeddings are the next step, followed by element substitution, Neo4j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76072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560320"/>
            <a:ext cx="5486400" cy="11887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4" name="Text 0"/>
          <p:cNvSpPr/>
          <p:nvPr>
            <p:ph idx="102" type="body" hasCustomPrompt="1"/>
          </p:nvPr>
        </p:nvSpPr>
        <p:spPr>
          <a:xfrm>
            <a:off x="548640" y="4206240"/>
            <a:ext cx="5486400" cy="1737360"/>
          </a:xfrm>
          <a:prstGeom prst="rect">
            <a:avLst/>
          </a:prstGeom>
          <a:noFill/>
          <a:ln/>
        </p:spPr>
        <p:txBody>
          <a:bodyPr wrap="square" rtlCol="0"/>
          <a:lstStyle>
            <a:lvl1pPr indent="0" marL="0">
              <a:buNone/>
              <a:defRPr lang="en-US" sz="1500" dirty="0">
                <a:solidFill>
                  <a:schemeClr val="bg2"/>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tx2"/>
                </a:solidFill>
              </a:rPr>
              <a:t>MatGraphRAG</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graph" descr="/Users/sharveshsivagnanam/development/meta_graph/presentation/assets/graph_hero.jpg">    </p:cNvPr>
          <p:cNvPicPr>
            <a:picLocks noChangeAspect="1"/>
          </p:cNvPicPr>
          <p:nvPr/>
        </p:nvPicPr>
        <p:blipFill>
          <a:blip r:embed="rId1"/>
          <a:stretch>
            <a:fillRect/>
          </a:stretch>
        </p:blipFill>
        <p:spPr>
          <a:xfrm>
            <a:off x="6446520" y="685800"/>
            <a:ext cx="5349240" cy="5129784"/>
          </a:xfrm>
          <a:prstGeom prst="rect">
            <a:avLst/>
          </a:prstGeom>
        </p:spPr>
      </p:pic>
      <p:sp>
        <p:nvSpPr>
          <p:cNvPr id="3" name="Text 0"/>
          <p:cNvSpPr/>
          <p:nvPr>
            <p:ph idx="100" type="title" hasCustomPrompt="1"/>
          </p:nvPr>
        </p:nvSpPr>
        <p:spPr>
          <a:xfrm>
            <a:off x="548640" y="1417320"/>
            <a:ext cx="5760720" cy="1005840"/>
          </a:xfrm>
          <a:prstGeom prst="rect">
            <a:avLst/>
          </a:prstGeom>
          <a:noFill/>
          <a:ln/>
        </p:spPr>
        <p:txBody>
          <a:bodyPr wrap="square" lIns="0" tIns="0" rIns="0" bIns="0" rtlCol="0" anchor="b"/>
          <a:lstStyle/>
          <a:p>
            <a:pPr algn="l" indent="0" marL="0">
              <a:buNone/>
            </a:pPr>
            <a:r>
              <a:rPr lang="en-US" sz="5400" b="1" dirty="0">
                <a:solidFill>
                  <a:schemeClr val="bg1"/>
                </a:solidFill>
              </a:rPr>
              <a:t>MatGraphRAG</a:t>
            </a:r>
            <a:endParaRPr lang="en-US" sz="5400" dirty="0"/>
          </a:p>
        </p:txBody>
      </p:sp>
      <p:sp>
        <p:nvSpPr>
          <p:cNvPr id="4" name="Text 0"/>
          <p:cNvSpPr/>
          <p:nvPr>
            <p:ph idx="101" type="body" hasCustomPrompt="1"/>
          </p:nvPr>
        </p:nvSpPr>
        <p:spPr>
          <a:xfrm>
            <a:off x="548640" y="2560320"/>
            <a:ext cx="5486400" cy="1188720"/>
          </a:xfrm>
          <a:prstGeom prst="rect">
            <a:avLst/>
          </a:prstGeom>
          <a:noFill/>
          <a:ln/>
        </p:spPr>
        <p:txBody>
          <a:bodyPr wrap="square" lIns="0" tIns="0" rIns="0" bIns="0" rtlCol="0" anchor="t"/>
          <a:lstStyle/>
          <a:p>
            <a:pPr indent="0" marL="0">
              <a:buNone/>
            </a:pPr>
            <a:r>
              <a:rPr lang="en-US" sz="2000" dirty="0">
                <a:solidFill>
                  <a:schemeClr val="bg2"/>
                </a:solidFill>
              </a:rPr>
              <a:t>An explainable graph-based retrieval-augmented reasoning system for intelligent materials discovery</a:t>
            </a:r>
            <a:endParaRPr lang="en-US" sz="2000" dirty="0"/>
          </a:p>
        </p:txBody>
      </p:sp>
      <p:sp>
        <p:nvSpPr>
          <p:cNvPr id="5" name="Text 0"/>
          <p:cNvSpPr/>
          <p:nvPr>
            <p:ph idx="102" type="body" hasCustomPrompt="1"/>
          </p:nvPr>
        </p:nvSpPr>
        <p:spPr>
          <a:xfrm>
            <a:off x="548640" y="4206240"/>
            <a:ext cx="5486400" cy="1737360"/>
          </a:xfrm>
          <a:prstGeom prst="rect">
            <a:avLst/>
          </a:prstGeom>
          <a:noFill/>
          <a:ln/>
        </p:spPr>
        <p:txBody>
          <a:bodyPr wrap="square" lIns="0" tIns="0" rIns="0" bIns="0" rtlCol="0" anchor="t"/>
          <a:lstStyle/>
          <a:p>
            <a:pPr indent="0" marL="0">
              <a:spcAft>
                <a:spcPts val="400"/>
              </a:spcAft>
              <a:buNone/>
            </a:pPr>
            <a:r>
              <a:rPr lang="en-US" sz="1500" b="1" dirty="0">
                <a:solidFill>
                  <a:schemeClr val="bg2"/>
                </a:solidFill>
              </a:rPr>
              <a:t>[Your name] · [Register / roll number]</a:t>
            </a:r>
            <a:endParaRPr lang="en-US" sz="1500" dirty="0"/>
          </a:p>
          <a:p>
            <a:pPr indent="0" marL="0">
              <a:spcAft>
                <a:spcPts val="400"/>
              </a:spcAft>
              <a:buNone/>
            </a:pPr>
            <a:r>
              <a:rPr lang="en-US" sz="1500" dirty="0">
                <a:solidFill>
                  <a:schemeClr val="bg2"/>
                </a:solidFill>
              </a:rPr>
              <a:t>Guide: [Name, designation]</a:t>
            </a:r>
            <a:endParaRPr lang="en-US" sz="1500" dirty="0"/>
          </a:p>
          <a:p>
            <a:pPr indent="0" marL="0">
              <a:spcAft>
                <a:spcPts val="400"/>
              </a:spcAft>
              <a:buNone/>
            </a:pPr>
            <a:r>
              <a:rPr lang="en-US" sz="1500" dirty="0">
                <a:solidFill>
                  <a:schemeClr val="bg2"/>
                </a:solidFill>
              </a:rPr>
              <a:t>[Department, institution]</a:t>
            </a:r>
            <a:endParaRPr lang="en-US" sz="1500" dirty="0"/>
          </a:p>
          <a:p>
            <a:pPr indent="0" marL="0">
              <a:spcAft>
                <a:spcPts val="400"/>
              </a:spcAft>
              <a:buNone/>
            </a:pPr>
            <a:r>
              <a:rPr lang="en-US" sz="1500" dirty="0">
                <a:solidFill>
                  <a:schemeClr val="bg2"/>
                </a:solidFill>
              </a:rPr>
              <a:t>[Review / event] · [Date]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PROBLEM STATEMENT</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Materials data is searchable, not reasoned over</a:t>
            </a:r>
            <a:endParaRPr lang="en-US" sz="3200" dirty="0"/>
          </a:p>
        </p:txBody>
      </p:sp>
      <p:sp>
        <p:nvSpPr>
          <p:cNvPr id="4" name="question-callout-1"/>
          <p:cNvSpPr/>
          <p:nvPr/>
        </p:nvSpPr>
        <p:spPr>
          <a:xfrm>
            <a:off x="548640" y="1463040"/>
            <a:ext cx="11064240" cy="960120"/>
          </a:xfrm>
          <a:prstGeom prst="roundRect">
            <a:avLst>
              <a:gd name="adj" fmla="val 11429"/>
            </a:avLst>
          </a:prstGeom>
          <a:solidFill>
            <a:schemeClr val="bg2"/>
          </a:solidFill>
          <a:ln/>
        </p:spPr>
      </p:sp>
      <p:sp>
        <p:nvSpPr>
          <p:cNvPr id="5" name="icon-bg-2"/>
          <p:cNvSpPr/>
          <p:nvPr/>
        </p:nvSpPr>
        <p:spPr>
          <a:xfrm>
            <a:off x="777240" y="1645920"/>
            <a:ext cx="594360" cy="594360"/>
          </a:xfrm>
          <a:prstGeom prst="ellipse">
            <a:avLst/>
          </a:prstGeom>
          <a:solidFill>
            <a:schemeClr val="accent1"/>
          </a:solidFill>
          <a:ln/>
        </p:spPr>
      </p:sp>
      <p:pic>
        <p:nvPicPr>
          <p:cNvPr id="6" name="icon-3" descr="preencoded.png">    </p:cNvPr>
          <p:cNvPicPr>
            <a:picLocks noChangeAspect="1"/>
          </p:cNvPicPr>
          <p:nvPr/>
        </p:nvPicPr>
        <p:blipFill>
          <a:blip r:embed="rId1"/>
          <a:stretch>
            <a:fillRect/>
          </a:stretch>
        </p:blipFill>
        <p:spPr>
          <a:xfrm>
            <a:off x="919886" y="1788566"/>
            <a:ext cx="309067" cy="309067"/>
          </a:xfrm>
          <a:prstGeom prst="rect">
            <a:avLst/>
          </a:prstGeom>
        </p:spPr>
      </p:pic>
      <p:sp>
        <p:nvSpPr>
          <p:cNvPr id="7" name="text-4"/>
          <p:cNvSpPr txBox="1"/>
          <p:nvPr/>
        </p:nvSpPr>
        <p:spPr>
          <a:xfrm>
            <a:off x="1600200" y="1572768"/>
            <a:ext cx="9829800" cy="777240"/>
          </a:xfrm>
          <a:prstGeom prst="rect">
            <a:avLst/>
          </a:prstGeom>
          <a:noFill/>
          <a:ln/>
        </p:spPr>
        <p:txBody>
          <a:bodyPr wrap="square" lIns="0" tIns="0" rIns="0" bIns="0" rtlCol="0" anchor="ctr"/>
          <a:lstStyle/>
          <a:p>
            <a:pPr indent="0" marL="0">
              <a:buNone/>
            </a:pPr>
            <a:r>
              <a:rPr lang="en-US" sz="1700" b="1" i="1" dirty="0">
                <a:solidFill>
                  <a:schemeClr val="tx1"/>
                </a:solidFill>
              </a:rPr>
              <a:t>“Find stable, cobalt-free Li cathode materials with a band gap above 2 eV”</a:t>
            </a:r>
            <a:endParaRPr lang="en-US" sz="1700" dirty="0"/>
          </a:p>
          <a:p>
            <a:pPr indent="0" marL="0">
              <a:buNone/>
            </a:pPr>
            <a:r>
              <a:rPr lang="en-US" sz="1700" dirty="0">
                <a:solidFill>
                  <a:schemeClr val="tx2"/>
                </a:solidFill>
              </a:rPr>
              <a:t>…and show exactly why each one qualifies. Today no tool answers this exactly, explains it, and lets you verify it.</a:t>
            </a:r>
            <a:endParaRPr lang="en-US" sz="1700" dirty="0"/>
          </a:p>
        </p:txBody>
      </p:sp>
      <p:sp>
        <p:nvSpPr>
          <p:cNvPr id="8" name="problem-card-5"/>
          <p:cNvSpPr/>
          <p:nvPr/>
        </p:nvSpPr>
        <p:spPr>
          <a:xfrm>
            <a:off x="548640" y="2743200"/>
            <a:ext cx="2560320" cy="3383280"/>
          </a:xfrm>
          <a:prstGeom prst="roundRect">
            <a:avLst>
              <a:gd name="adj" fmla="val 4286"/>
            </a:avLst>
          </a:prstGeom>
          <a:solidFill>
            <a:schemeClr val="bg2"/>
          </a:solidFill>
          <a:ln/>
        </p:spPr>
      </p:sp>
      <p:sp>
        <p:nvSpPr>
          <p:cNvPr id="9" name="icon-bg-6"/>
          <p:cNvSpPr/>
          <p:nvPr/>
        </p:nvSpPr>
        <p:spPr>
          <a:xfrm>
            <a:off x="777240" y="3017520"/>
            <a:ext cx="640080" cy="640080"/>
          </a:xfrm>
          <a:prstGeom prst="ellipse">
            <a:avLst/>
          </a:prstGeom>
          <a:solidFill>
            <a:schemeClr val="accent2"/>
          </a:solidFill>
          <a:ln/>
        </p:spPr>
      </p:sp>
      <p:pic>
        <p:nvPicPr>
          <p:cNvPr id="10" name="icon-7" descr="preencoded.png">    </p:cNvPr>
          <p:cNvPicPr>
            <a:picLocks noChangeAspect="1"/>
          </p:cNvPicPr>
          <p:nvPr/>
        </p:nvPicPr>
        <p:blipFill>
          <a:blip r:embed="rId2"/>
          <a:stretch>
            <a:fillRect/>
          </a:stretch>
        </p:blipFill>
        <p:spPr>
          <a:xfrm>
            <a:off x="930859" y="3171139"/>
            <a:ext cx="332842" cy="332842"/>
          </a:xfrm>
          <a:prstGeom prst="rect">
            <a:avLst/>
          </a:prstGeom>
        </p:spPr>
      </p:pic>
      <p:sp>
        <p:nvSpPr>
          <p:cNvPr id="11" name="text-8"/>
          <p:cNvSpPr txBox="1"/>
          <p:nvPr/>
        </p:nvSpPr>
        <p:spPr>
          <a:xfrm>
            <a:off x="777240" y="3840480"/>
            <a:ext cx="2103120" cy="594360"/>
          </a:xfrm>
          <a:prstGeom prst="rect">
            <a:avLst/>
          </a:prstGeom>
          <a:noFill/>
          <a:ln/>
        </p:spPr>
        <p:txBody>
          <a:bodyPr wrap="square" lIns="0" tIns="0" rIns="0" bIns="0" rtlCol="0" anchor="t"/>
          <a:lstStyle/>
          <a:p>
            <a:pPr indent="0" marL="0">
              <a:buNone/>
            </a:pPr>
            <a:r>
              <a:rPr lang="en-US" sz="1800" b="1" dirty="0">
                <a:solidFill>
                  <a:schemeClr val="tx1"/>
                </a:solidFill>
              </a:rPr>
              <a:t>Flat records</a:t>
            </a:r>
            <a:endParaRPr lang="en-US" sz="1800" dirty="0"/>
          </a:p>
        </p:txBody>
      </p:sp>
      <p:sp>
        <p:nvSpPr>
          <p:cNvPr id="12" name="text-9"/>
          <p:cNvSpPr txBox="1"/>
          <p:nvPr/>
        </p:nvSpPr>
        <p:spPr>
          <a:xfrm>
            <a:off x="777240" y="4480560"/>
            <a:ext cx="2103120" cy="1508760"/>
          </a:xfrm>
          <a:prstGeom prst="rect">
            <a:avLst/>
          </a:prstGeom>
          <a:noFill/>
          <a:ln/>
        </p:spPr>
        <p:txBody>
          <a:bodyPr wrap="square" lIns="0" tIns="0" rIns="0" bIns="0" rtlCol="0" anchor="t"/>
          <a:lstStyle/>
          <a:p>
            <a:pPr indent="0" marL="0">
              <a:buNone/>
            </a:pPr>
            <a:r>
              <a:rPr lang="en-US" sz="1400" dirty="0">
                <a:solidFill>
                  <a:schemeClr val="tx2"/>
                </a:solidFill>
              </a:rPr>
              <a:t>Materials Project indexes 154,377 materials as isolated rows. Shared elements, structure families and ionic chemistry stay implicit.</a:t>
            </a:r>
            <a:endParaRPr lang="en-US" sz="1400" dirty="0"/>
          </a:p>
        </p:txBody>
      </p:sp>
      <p:sp>
        <p:nvSpPr>
          <p:cNvPr id="13" name="problem-card-10"/>
          <p:cNvSpPr/>
          <p:nvPr/>
        </p:nvSpPr>
        <p:spPr>
          <a:xfrm>
            <a:off x="3383280" y="2743200"/>
            <a:ext cx="2560320" cy="3383280"/>
          </a:xfrm>
          <a:prstGeom prst="roundRect">
            <a:avLst>
              <a:gd name="adj" fmla="val 4286"/>
            </a:avLst>
          </a:prstGeom>
          <a:solidFill>
            <a:schemeClr val="bg2"/>
          </a:solidFill>
          <a:ln/>
        </p:spPr>
      </p:sp>
      <p:sp>
        <p:nvSpPr>
          <p:cNvPr id="14" name="icon-bg-11"/>
          <p:cNvSpPr/>
          <p:nvPr/>
        </p:nvSpPr>
        <p:spPr>
          <a:xfrm>
            <a:off x="3611880" y="3017520"/>
            <a:ext cx="640080" cy="640080"/>
          </a:xfrm>
          <a:prstGeom prst="ellipse">
            <a:avLst/>
          </a:prstGeom>
          <a:solidFill>
            <a:schemeClr val="accent5"/>
          </a:solidFill>
          <a:ln/>
        </p:spPr>
      </p:sp>
      <p:pic>
        <p:nvPicPr>
          <p:cNvPr id="15" name="icon-12" descr="preencoded.png">    </p:cNvPr>
          <p:cNvPicPr>
            <a:picLocks noChangeAspect="1"/>
          </p:cNvPicPr>
          <p:nvPr/>
        </p:nvPicPr>
        <p:blipFill>
          <a:blip r:embed="rId3"/>
          <a:stretch>
            <a:fillRect/>
          </a:stretch>
        </p:blipFill>
        <p:spPr>
          <a:xfrm>
            <a:off x="3765499" y="3171139"/>
            <a:ext cx="332842" cy="332842"/>
          </a:xfrm>
          <a:prstGeom prst="rect">
            <a:avLst/>
          </a:prstGeom>
        </p:spPr>
      </p:pic>
      <p:sp>
        <p:nvSpPr>
          <p:cNvPr id="16" name="text-13"/>
          <p:cNvSpPr txBox="1"/>
          <p:nvPr/>
        </p:nvSpPr>
        <p:spPr>
          <a:xfrm>
            <a:off x="3611880" y="3840480"/>
            <a:ext cx="2103120" cy="594360"/>
          </a:xfrm>
          <a:prstGeom prst="rect">
            <a:avLst/>
          </a:prstGeom>
          <a:noFill/>
          <a:ln/>
        </p:spPr>
        <p:txBody>
          <a:bodyPr wrap="square" lIns="0" tIns="0" rIns="0" bIns="0" rtlCol="0" anchor="t"/>
          <a:lstStyle/>
          <a:p>
            <a:pPr indent="0" marL="0">
              <a:buNone/>
            </a:pPr>
            <a:r>
              <a:rPr lang="en-US" sz="1800" b="1" dirty="0">
                <a:solidFill>
                  <a:schemeClr val="tx1"/>
                </a:solidFill>
              </a:rPr>
              <a:t>Look-alikes, not answers</a:t>
            </a:r>
            <a:endParaRPr lang="en-US" sz="1800" dirty="0"/>
          </a:p>
        </p:txBody>
      </p:sp>
      <p:sp>
        <p:nvSpPr>
          <p:cNvPr id="17" name="text-14"/>
          <p:cNvSpPr txBox="1"/>
          <p:nvPr/>
        </p:nvSpPr>
        <p:spPr>
          <a:xfrm>
            <a:off x="3611880" y="4480560"/>
            <a:ext cx="2103120" cy="1508760"/>
          </a:xfrm>
          <a:prstGeom prst="rect">
            <a:avLst/>
          </a:prstGeom>
          <a:noFill/>
          <a:ln/>
        </p:spPr>
        <p:txBody>
          <a:bodyPr wrap="square" lIns="0" tIns="0" rIns="0" bIns="0" rtlCol="0" anchor="t"/>
          <a:lstStyle/>
          <a:p>
            <a:pPr indent="0" marL="0">
              <a:buNone/>
            </a:pPr>
            <a:r>
              <a:rPr lang="en-US" sz="1400" dirty="0">
                <a:solidFill>
                  <a:schemeClr val="tx2"/>
                </a:solidFill>
              </a:rPr>
              <a:t>Vector RAG ranks by text similarity: 69.6% of its top-10 results violate the query’s hard constraints.</a:t>
            </a:r>
            <a:endParaRPr lang="en-US" sz="1400" dirty="0"/>
          </a:p>
        </p:txBody>
      </p:sp>
      <p:sp>
        <p:nvSpPr>
          <p:cNvPr id="18" name="problem-card-15"/>
          <p:cNvSpPr/>
          <p:nvPr/>
        </p:nvSpPr>
        <p:spPr>
          <a:xfrm>
            <a:off x="6217920" y="2743200"/>
            <a:ext cx="2560320" cy="3383280"/>
          </a:xfrm>
          <a:prstGeom prst="roundRect">
            <a:avLst>
              <a:gd name="adj" fmla="val 4286"/>
            </a:avLst>
          </a:prstGeom>
          <a:solidFill>
            <a:schemeClr val="bg2"/>
          </a:solidFill>
          <a:ln/>
        </p:spPr>
      </p:sp>
      <p:sp>
        <p:nvSpPr>
          <p:cNvPr id="19" name="icon-bg-16"/>
          <p:cNvSpPr/>
          <p:nvPr/>
        </p:nvSpPr>
        <p:spPr>
          <a:xfrm>
            <a:off x="6446520" y="3017520"/>
            <a:ext cx="640080" cy="640080"/>
          </a:xfrm>
          <a:prstGeom prst="ellipse">
            <a:avLst/>
          </a:prstGeom>
          <a:solidFill>
            <a:schemeClr val="accent6"/>
          </a:solidFill>
          <a:ln/>
        </p:spPr>
      </p:sp>
      <p:pic>
        <p:nvPicPr>
          <p:cNvPr id="20" name="icon-17" descr="preencoded.png">    </p:cNvPr>
          <p:cNvPicPr>
            <a:picLocks noChangeAspect="1"/>
          </p:cNvPicPr>
          <p:nvPr/>
        </p:nvPicPr>
        <p:blipFill>
          <a:blip r:embed="rId4"/>
          <a:stretch>
            <a:fillRect/>
          </a:stretch>
        </p:blipFill>
        <p:spPr>
          <a:xfrm>
            <a:off x="6600139" y="3171139"/>
            <a:ext cx="332842" cy="332842"/>
          </a:xfrm>
          <a:prstGeom prst="rect">
            <a:avLst/>
          </a:prstGeom>
        </p:spPr>
      </p:pic>
      <p:sp>
        <p:nvSpPr>
          <p:cNvPr id="21" name="text-18"/>
          <p:cNvSpPr txBox="1"/>
          <p:nvPr/>
        </p:nvSpPr>
        <p:spPr>
          <a:xfrm>
            <a:off x="6446520" y="3840480"/>
            <a:ext cx="2103120" cy="594360"/>
          </a:xfrm>
          <a:prstGeom prst="rect">
            <a:avLst/>
          </a:prstGeom>
          <a:noFill/>
          <a:ln/>
        </p:spPr>
        <p:txBody>
          <a:bodyPr wrap="square" lIns="0" tIns="0" rIns="0" bIns="0" rtlCol="0" anchor="t"/>
          <a:lstStyle/>
          <a:p>
            <a:pPr indent="0" marL="0">
              <a:buNone/>
            </a:pPr>
            <a:r>
              <a:rPr lang="en-US" sz="1800" b="1" dirty="0">
                <a:solidFill>
                  <a:schemeClr val="tx1"/>
                </a:solidFill>
              </a:rPr>
              <a:t>Untraceable LLM answers</a:t>
            </a:r>
            <a:endParaRPr lang="en-US" sz="1800" dirty="0"/>
          </a:p>
        </p:txBody>
      </p:sp>
      <p:sp>
        <p:nvSpPr>
          <p:cNvPr id="22" name="text-19"/>
          <p:cNvSpPr txBox="1"/>
          <p:nvPr/>
        </p:nvSpPr>
        <p:spPr>
          <a:xfrm>
            <a:off x="6446520" y="4480560"/>
            <a:ext cx="2103120" cy="1508760"/>
          </a:xfrm>
          <a:prstGeom prst="rect">
            <a:avLst/>
          </a:prstGeom>
          <a:noFill/>
          <a:ln/>
        </p:spPr>
        <p:txBody>
          <a:bodyPr wrap="square" lIns="0" tIns="0" rIns="0" bIns="0" rtlCol="0" anchor="t"/>
          <a:lstStyle/>
          <a:p>
            <a:pPr indent="0" marL="0">
              <a:buNone/>
            </a:pPr>
            <a:r>
              <a:rPr lang="en-US" sz="1400" dirty="0">
                <a:solidFill>
                  <a:schemeClr val="tx2"/>
                </a:solidFill>
              </a:rPr>
              <a:t>Generated recommendations can invent values, and a researcher cannot tell which claim came from where.</a:t>
            </a:r>
            <a:endParaRPr lang="en-US" sz="1400" dirty="0"/>
          </a:p>
        </p:txBody>
      </p:sp>
      <p:sp>
        <p:nvSpPr>
          <p:cNvPr id="23" name="problem-card-20"/>
          <p:cNvSpPr/>
          <p:nvPr/>
        </p:nvSpPr>
        <p:spPr>
          <a:xfrm>
            <a:off x="9052560" y="2743200"/>
            <a:ext cx="2560320" cy="3383280"/>
          </a:xfrm>
          <a:prstGeom prst="roundRect">
            <a:avLst>
              <a:gd name="adj" fmla="val 4286"/>
            </a:avLst>
          </a:prstGeom>
          <a:solidFill>
            <a:schemeClr val="bg2"/>
          </a:solidFill>
          <a:ln/>
        </p:spPr>
      </p:sp>
      <p:sp>
        <p:nvSpPr>
          <p:cNvPr id="24" name="icon-bg-21"/>
          <p:cNvSpPr/>
          <p:nvPr/>
        </p:nvSpPr>
        <p:spPr>
          <a:xfrm>
            <a:off x="9281160" y="3017520"/>
            <a:ext cx="640080" cy="640080"/>
          </a:xfrm>
          <a:prstGeom prst="ellipse">
            <a:avLst/>
          </a:prstGeom>
          <a:solidFill>
            <a:schemeClr val="accent3"/>
          </a:solidFill>
          <a:ln/>
        </p:spPr>
      </p:sp>
      <p:pic>
        <p:nvPicPr>
          <p:cNvPr id="25" name="icon-22" descr="preencoded.png">    </p:cNvPr>
          <p:cNvPicPr>
            <a:picLocks noChangeAspect="1"/>
          </p:cNvPicPr>
          <p:nvPr/>
        </p:nvPicPr>
        <p:blipFill>
          <a:blip r:embed="rId5"/>
          <a:stretch>
            <a:fillRect/>
          </a:stretch>
        </p:blipFill>
        <p:spPr>
          <a:xfrm>
            <a:off x="9434779" y="3171139"/>
            <a:ext cx="332842" cy="332842"/>
          </a:xfrm>
          <a:prstGeom prst="rect">
            <a:avLst/>
          </a:prstGeom>
        </p:spPr>
      </p:pic>
      <p:sp>
        <p:nvSpPr>
          <p:cNvPr id="26" name="text-23"/>
          <p:cNvSpPr txBox="1"/>
          <p:nvPr/>
        </p:nvSpPr>
        <p:spPr>
          <a:xfrm>
            <a:off x="9281160" y="3840480"/>
            <a:ext cx="2103120" cy="594360"/>
          </a:xfrm>
          <a:prstGeom prst="rect">
            <a:avLst/>
          </a:prstGeom>
          <a:noFill/>
          <a:ln/>
        </p:spPr>
        <p:txBody>
          <a:bodyPr wrap="square" lIns="0" tIns="0" rIns="0" bIns="0" rtlCol="0" anchor="t"/>
          <a:lstStyle/>
          <a:p>
            <a:pPr indent="0" marL="0">
              <a:buNone/>
            </a:pPr>
            <a:r>
              <a:rPr lang="en-US" sz="1800" b="1" dirty="0">
                <a:solidFill>
                  <a:schemeClr val="tx1"/>
                </a:solidFill>
              </a:rPr>
              <a:t>New materials in isolation</a:t>
            </a:r>
            <a:endParaRPr lang="en-US" sz="1800" dirty="0"/>
          </a:p>
        </p:txBody>
      </p:sp>
      <p:sp>
        <p:nvSpPr>
          <p:cNvPr id="27" name="text-24"/>
          <p:cNvSpPr txBox="1"/>
          <p:nvPr/>
        </p:nvSpPr>
        <p:spPr>
          <a:xfrm>
            <a:off x="9281160" y="4480560"/>
            <a:ext cx="2103120" cy="1508760"/>
          </a:xfrm>
          <a:prstGeom prst="rect">
            <a:avLst/>
          </a:prstGeom>
          <a:noFill/>
          <a:ln/>
        </p:spPr>
        <p:txBody>
          <a:bodyPr wrap="square" lIns="0" tIns="0" rIns="0" bIns="0" rtlCol="0" anchor="t"/>
          <a:lstStyle/>
          <a:p>
            <a:pPr indent="0" marL="0">
              <a:buNone/>
            </a:pPr>
            <a:r>
              <a:rPr lang="en-US" sz="1400" dirty="0">
                <a:solidFill>
                  <a:schemeClr val="tx2"/>
                </a:solidFill>
              </a:rPr>
              <a:t>A new formula or crystal structure has no context: what is it related to, and why?</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OBJECTIVES</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Four objectives</a:t>
            </a:r>
            <a:endParaRPr lang="en-US" sz="3200" dirty="0"/>
          </a:p>
        </p:txBody>
      </p:sp>
      <p:sp>
        <p:nvSpPr>
          <p:cNvPr id="4" name="objective-25"/>
          <p:cNvSpPr/>
          <p:nvPr/>
        </p:nvSpPr>
        <p:spPr>
          <a:xfrm>
            <a:off x="548640" y="1508760"/>
            <a:ext cx="5394960" cy="2194560"/>
          </a:xfrm>
          <a:prstGeom prst="roundRect">
            <a:avLst>
              <a:gd name="adj" fmla="val 5000"/>
            </a:avLst>
          </a:prstGeom>
          <a:solidFill>
            <a:schemeClr val="bg2"/>
          </a:solidFill>
          <a:ln/>
        </p:spPr>
      </p:sp>
      <p:sp>
        <p:nvSpPr>
          <p:cNvPr id="5" name="num-26"/>
          <p:cNvSpPr/>
          <p:nvPr/>
        </p:nvSpPr>
        <p:spPr>
          <a:xfrm>
            <a:off x="868680" y="1874520"/>
            <a:ext cx="685800" cy="685800"/>
          </a:xfrm>
          <a:prstGeom prst="ellipse">
            <a:avLst/>
          </a:prstGeom>
          <a:solidFill>
            <a:schemeClr val="accent2"/>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27"/>
          <p:cNvSpPr txBox="1"/>
          <p:nvPr/>
        </p:nvSpPr>
        <p:spPr>
          <a:xfrm>
            <a:off x="1783080" y="1874520"/>
            <a:ext cx="3886200" cy="685800"/>
          </a:xfrm>
          <a:prstGeom prst="rect">
            <a:avLst/>
          </a:prstGeom>
          <a:noFill/>
          <a:ln/>
        </p:spPr>
        <p:txBody>
          <a:bodyPr wrap="square" lIns="0" tIns="0" rIns="0" bIns="0" rtlCol="0" anchor="ctr"/>
          <a:lstStyle/>
          <a:p>
            <a:pPr indent="0" marL="0">
              <a:buNone/>
            </a:pPr>
            <a:r>
              <a:rPr lang="en-US" sz="2000" b="1" dirty="0">
                <a:solidFill>
                  <a:schemeClr val="tx1"/>
                </a:solidFill>
              </a:rPr>
              <a:t>Build a materials knowledge graph</a:t>
            </a:r>
            <a:endParaRPr lang="en-US" sz="2000" dirty="0"/>
          </a:p>
        </p:txBody>
      </p:sp>
      <p:sp>
        <p:nvSpPr>
          <p:cNvPr id="7" name="text-28"/>
          <p:cNvSpPr txBox="1"/>
          <p:nvPr/>
        </p:nvSpPr>
        <p:spPr>
          <a:xfrm>
            <a:off x="1783080" y="2606040"/>
            <a:ext cx="3886200" cy="914400"/>
          </a:xfrm>
          <a:prstGeom prst="rect">
            <a:avLst/>
          </a:prstGeom>
          <a:noFill/>
          <a:ln/>
        </p:spPr>
        <p:txBody>
          <a:bodyPr wrap="square" lIns="0" tIns="0" rIns="0" bIns="0" rtlCol="0" anchor="t"/>
          <a:lstStyle/>
          <a:p>
            <a:pPr indent="0" marL="0">
              <a:buNone/>
            </a:pPr>
            <a:r>
              <a:rPr lang="en-US" sz="1500" dirty="0">
                <a:solidFill>
                  <a:schemeClr val="tx2"/>
                </a:solidFill>
              </a:rPr>
              <a:t>From Materials Project data, with deterministic rules and no LLM, reproducible from a local cache.</a:t>
            </a:r>
            <a:endParaRPr lang="en-US" sz="1500" dirty="0"/>
          </a:p>
        </p:txBody>
      </p:sp>
      <p:sp>
        <p:nvSpPr>
          <p:cNvPr id="8" name="objective-29"/>
          <p:cNvSpPr/>
          <p:nvPr/>
        </p:nvSpPr>
        <p:spPr>
          <a:xfrm>
            <a:off x="6217920" y="1508760"/>
            <a:ext cx="5394960" cy="2194560"/>
          </a:xfrm>
          <a:prstGeom prst="roundRect">
            <a:avLst>
              <a:gd name="adj" fmla="val 5000"/>
            </a:avLst>
          </a:prstGeom>
          <a:solidFill>
            <a:schemeClr val="bg2"/>
          </a:solidFill>
          <a:ln/>
        </p:spPr>
      </p:sp>
      <p:sp>
        <p:nvSpPr>
          <p:cNvPr id="9" name="num-30"/>
          <p:cNvSpPr/>
          <p:nvPr/>
        </p:nvSpPr>
        <p:spPr>
          <a:xfrm>
            <a:off x="6537960" y="1874520"/>
            <a:ext cx="685800" cy="68580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text-31"/>
          <p:cNvSpPr txBox="1"/>
          <p:nvPr/>
        </p:nvSpPr>
        <p:spPr>
          <a:xfrm>
            <a:off x="7452360" y="1874520"/>
            <a:ext cx="3886200" cy="685800"/>
          </a:xfrm>
          <a:prstGeom prst="rect">
            <a:avLst/>
          </a:prstGeom>
          <a:noFill/>
          <a:ln/>
        </p:spPr>
        <p:txBody>
          <a:bodyPr wrap="square" lIns="0" tIns="0" rIns="0" bIns="0" rtlCol="0" anchor="ctr"/>
          <a:lstStyle/>
          <a:p>
            <a:pPr indent="0" marL="0">
              <a:buNone/>
            </a:pPr>
            <a:r>
              <a:rPr lang="en-US" sz="2000" b="1" dirty="0">
                <a:solidFill>
                  <a:schemeClr val="tx1"/>
                </a:solidFill>
              </a:rPr>
              <a:t>Answer questions by graph retrieval</a:t>
            </a:r>
            <a:endParaRPr lang="en-US" sz="2000" dirty="0"/>
          </a:p>
        </p:txBody>
      </p:sp>
      <p:sp>
        <p:nvSpPr>
          <p:cNvPr id="11" name="text-32"/>
          <p:cNvSpPr txBox="1"/>
          <p:nvPr/>
        </p:nvSpPr>
        <p:spPr>
          <a:xfrm>
            <a:off x="7452360" y="2606040"/>
            <a:ext cx="3886200" cy="914400"/>
          </a:xfrm>
          <a:prstGeom prst="rect">
            <a:avLst/>
          </a:prstGeom>
          <a:noFill/>
          <a:ln/>
        </p:spPr>
        <p:txBody>
          <a:bodyPr wrap="square" lIns="0" tIns="0" rIns="0" bIns="0" rtlCol="0" anchor="t"/>
          <a:lstStyle/>
          <a:p>
            <a:pPr indent="0" marL="0">
              <a:buNone/>
            </a:pPr>
            <a:r>
              <a:rPr lang="en-US" sz="1500" dirty="0">
                <a:solidFill>
                  <a:schemeClr val="tx2"/>
                </a:solidFill>
              </a:rPr>
              <a:t>Turn natural language into typed constraints, then enforce numeric ranges and exclusions exactly on the graph.</a:t>
            </a:r>
            <a:endParaRPr lang="en-US" sz="1500" dirty="0"/>
          </a:p>
        </p:txBody>
      </p:sp>
      <p:sp>
        <p:nvSpPr>
          <p:cNvPr id="12" name="objective-33"/>
          <p:cNvSpPr/>
          <p:nvPr/>
        </p:nvSpPr>
        <p:spPr>
          <a:xfrm>
            <a:off x="548640" y="3977640"/>
            <a:ext cx="5394960" cy="2194560"/>
          </a:xfrm>
          <a:prstGeom prst="roundRect">
            <a:avLst>
              <a:gd name="adj" fmla="val 5000"/>
            </a:avLst>
          </a:prstGeom>
          <a:solidFill>
            <a:schemeClr val="bg2"/>
          </a:solidFill>
          <a:ln/>
        </p:spPr>
      </p:sp>
      <p:sp>
        <p:nvSpPr>
          <p:cNvPr id="13" name="num-34"/>
          <p:cNvSpPr/>
          <p:nvPr/>
        </p:nvSpPr>
        <p:spPr>
          <a:xfrm>
            <a:off x="868680" y="4343400"/>
            <a:ext cx="685800" cy="685800"/>
          </a:xfrm>
          <a:prstGeom prst="ellipse">
            <a:avLst/>
          </a:prstGeom>
          <a:solidFill>
            <a:schemeClr val="accent4"/>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4" name="text-35"/>
          <p:cNvSpPr txBox="1"/>
          <p:nvPr/>
        </p:nvSpPr>
        <p:spPr>
          <a:xfrm>
            <a:off x="1783080" y="4343400"/>
            <a:ext cx="3886200" cy="685800"/>
          </a:xfrm>
          <a:prstGeom prst="rect">
            <a:avLst/>
          </a:prstGeom>
          <a:noFill/>
          <a:ln/>
        </p:spPr>
        <p:txBody>
          <a:bodyPr wrap="square" lIns="0" tIns="0" rIns="0" bIns="0" rtlCol="0" anchor="ctr"/>
          <a:lstStyle/>
          <a:p>
            <a:pPr indent="0" marL="0">
              <a:buNone/>
            </a:pPr>
            <a:r>
              <a:rPr lang="en-US" sz="2000" b="1" dirty="0">
                <a:solidFill>
                  <a:schemeClr val="tx1"/>
                </a:solidFill>
              </a:rPr>
              <a:t>Explain with verified evidence</a:t>
            </a:r>
            <a:endParaRPr lang="en-US" sz="2000" dirty="0"/>
          </a:p>
        </p:txBody>
      </p:sp>
      <p:sp>
        <p:nvSpPr>
          <p:cNvPr id="15" name="text-36"/>
          <p:cNvSpPr txBox="1"/>
          <p:nvPr/>
        </p:nvSpPr>
        <p:spPr>
          <a:xfrm>
            <a:off x="1783080" y="5074920"/>
            <a:ext cx="3886200" cy="914400"/>
          </a:xfrm>
          <a:prstGeom prst="rect">
            <a:avLst/>
          </a:prstGeom>
          <a:noFill/>
          <a:ln/>
        </p:spPr>
        <p:txBody>
          <a:bodyPr wrap="square" lIns="0" tIns="0" rIns="0" bIns="0" rtlCol="0" anchor="t"/>
          <a:lstStyle/>
          <a:p>
            <a:pPr indent="0" marL="0">
              <a:buNone/>
            </a:pPr>
            <a:r>
              <a:rPr lang="en-US" sz="1500" dirty="0">
                <a:solidFill>
                  <a:schemeClr val="tx2"/>
                </a:solidFill>
              </a:rPr>
              <a:t>Every claim cites a graph edge or a Materials Project record, and a deterministic checker verifies each citation.</a:t>
            </a:r>
            <a:endParaRPr lang="en-US" sz="1500" dirty="0"/>
          </a:p>
        </p:txBody>
      </p:sp>
      <p:sp>
        <p:nvSpPr>
          <p:cNvPr id="16" name="objective-37"/>
          <p:cNvSpPr/>
          <p:nvPr/>
        </p:nvSpPr>
        <p:spPr>
          <a:xfrm>
            <a:off x="6217920" y="3977640"/>
            <a:ext cx="5394960" cy="2194560"/>
          </a:xfrm>
          <a:prstGeom prst="roundRect">
            <a:avLst>
              <a:gd name="adj" fmla="val 5000"/>
            </a:avLst>
          </a:prstGeom>
          <a:solidFill>
            <a:schemeClr val="bg2"/>
          </a:solidFill>
          <a:ln/>
        </p:spPr>
      </p:sp>
      <p:sp>
        <p:nvSpPr>
          <p:cNvPr id="17" name="num-38"/>
          <p:cNvSpPr/>
          <p:nvPr/>
        </p:nvSpPr>
        <p:spPr>
          <a:xfrm>
            <a:off x="6537960" y="4343400"/>
            <a:ext cx="685800" cy="685800"/>
          </a:xfrm>
          <a:prstGeom prst="ellipse">
            <a:avLst/>
          </a:prstGeom>
          <a:solidFill>
            <a:schemeClr val="accent3"/>
          </a:solid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8" name="text-39"/>
          <p:cNvSpPr txBox="1"/>
          <p:nvPr/>
        </p:nvSpPr>
        <p:spPr>
          <a:xfrm>
            <a:off x="7452360" y="4343400"/>
            <a:ext cx="3886200" cy="685800"/>
          </a:xfrm>
          <a:prstGeom prst="rect">
            <a:avLst/>
          </a:prstGeom>
          <a:noFill/>
          <a:ln/>
        </p:spPr>
        <p:txBody>
          <a:bodyPr wrap="square" lIns="0" tIns="0" rIns="0" bIns="0" rtlCol="0" anchor="ctr"/>
          <a:lstStyle/>
          <a:p>
            <a:pPr indent="0" marL="0">
              <a:buNone/>
            </a:pPr>
            <a:r>
              <a:rPr lang="en-US" sz="2000" b="1" dirty="0">
                <a:solidFill>
                  <a:schemeClr val="tx1"/>
                </a:solidFill>
              </a:rPr>
              <a:t>Connect new materials</a:t>
            </a:r>
            <a:endParaRPr lang="en-US" sz="2000" dirty="0"/>
          </a:p>
        </p:txBody>
      </p:sp>
      <p:sp>
        <p:nvSpPr>
          <p:cNvPr id="19" name="text-40"/>
          <p:cNvSpPr txBox="1"/>
          <p:nvPr/>
        </p:nvSpPr>
        <p:spPr>
          <a:xfrm>
            <a:off x="7452360" y="5074920"/>
            <a:ext cx="3886200" cy="914400"/>
          </a:xfrm>
          <a:prstGeom prst="rect">
            <a:avLst/>
          </a:prstGeom>
          <a:noFill/>
          <a:ln/>
        </p:spPr>
        <p:txBody>
          <a:bodyPr wrap="square" lIns="0" tIns="0" rIns="0" bIns="0" rtlCol="0" anchor="t"/>
          <a:lstStyle/>
          <a:p>
            <a:pPr indent="0" marL="0">
              <a:buNone/>
            </a:pPr>
            <a:r>
              <a:rPr lang="en-US" sz="1500" dirty="0">
                <a:solidFill>
                  <a:schemeClr val="tx2"/>
                </a:solidFill>
              </a:rPr>
              <a:t>Add a material by MP id, formula or crystal structure and link it to its related materials and elements.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BACKGROUND</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Why existing retrieval falls short</a:t>
            </a:r>
            <a:endParaRPr lang="en-US" sz="3200" dirty="0"/>
          </a:p>
        </p:txBody>
      </p:sp>
      <p:graphicFrame>
        <p:nvGraphicFramePr>
          <p:cNvPr id="5" name="comparison-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5029200"/>
                <a:gridCol w="2011680"/>
                <a:gridCol w="2011680"/>
                <a:gridCol w="2011680"/>
              </a:tblGrid>
              <a:tr h="566928">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Capability</a:t>
                      </a:r>
                      <a:endParaRPr lang="en-US" sz="15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Vector RAG</a:t>
                      </a:r>
                      <a:endParaRPr lang="en-US" sz="15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latin typeface="Calibri" pitchFamily="34" charset="0"/>
                          <a:ea typeface="Calibri" pitchFamily="34" charset="-122"/>
                          <a:cs typeface="Calibri" pitchFamily="34" charset="-120"/>
                        </a:rPr>
                        <a:t>Fixed-hop GraphRAG</a:t>
                      </a:r>
                      <a:endParaRPr lang="en-US" sz="15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MatGraphRAG</a:t>
                      </a:r>
                      <a:endParaRPr lang="en-US" sz="15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chemeClr val="accent1"/>
                    </a:solidFill>
                  </a:tcPr>
                </a:tc>
              </a:tr>
              <a:tr h="56692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Exact numeric constraints (band gap ≥ 2 eV)</a:t>
                      </a:r>
                      <a:endParaRPr lang="en-US" sz="15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6"/>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6"/>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2"/>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chemeClr val="accent1">
                        <a:alpha val="10000"/>
                      </a:schemeClr>
                    </a:solidFill>
                  </a:tcPr>
                </a:tc>
              </a:tr>
              <a:tr h="56692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Exclusions (no cobalt)</a:t>
                      </a:r>
                      <a:endParaRPr lang="en-US" sz="15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6"/>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6"/>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2"/>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chemeClr val="accent1">
                        <a:alpha val="10000"/>
                      </a:schemeClr>
                    </a:solidFill>
                  </a:tcPr>
                </a:tc>
              </a:tr>
              <a:tr h="56692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Multi-hop relations through shared entities</a:t>
                      </a:r>
                      <a:endParaRPr lang="en-US" sz="15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6"/>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2"/>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2"/>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chemeClr val="accent1">
                        <a:alpha val="10000"/>
                      </a:schemeClr>
                    </a:solidFill>
                  </a:tcPr>
                </a:tc>
              </a:tr>
              <a:tr h="56692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Claims cited and checked against the data</a:t>
                      </a:r>
                      <a:endParaRPr lang="en-US" sz="15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6"/>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6"/>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2"/>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chemeClr val="accent1">
                        <a:alpha val="10000"/>
                      </a:schemeClr>
                    </a:solidFill>
                  </a:tcPr>
                </a:tc>
              </a:tr>
              <a:tr h="56692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New materials placed in the graph</a:t>
                      </a:r>
                      <a:endParaRPr lang="en-US" sz="15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6"/>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6"/>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2"/>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chemeClr val="accent1">
                        <a:alpha val="10000"/>
                      </a:schemeClr>
                    </a:solidFill>
                  </a:tcPr>
                </a:tc>
              </a:tr>
              <a:tr h="56692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Crystal-structure input</a:t>
                      </a:r>
                      <a:endParaRPr lang="en-US" sz="15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6"/>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6"/>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tcPr>
                </a:tc>
                <a:tc>
                  <a:txBody>
                    <a:bodyPr/>
                    <a:lstStyle/>
                    <a:p>
                      <a:pPr algn="ctr" indent="0" marL="0">
                        <a:buNone/>
                      </a:pPr>
                      <a:r>
                        <a:rPr lang="en-US" sz="2200" b="1" dirty="0">
                          <a:solidFill>
                            <a:schemeClr val="accent2"/>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137160" marR="137160" marT="0" marB="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chemeClr val="accent1">
                        <a:alpha val="10000"/>
                      </a:schemeClr>
                    </a:solidFill>
                  </a:tcPr>
                </a:tc>
              </a:tr>
            </a:tbl>
          </a:graphicData>
        </a:graphic>
      </p:graphicFrame>
      <p:sp>
        <p:nvSpPr>
          <p:cNvPr id="5" name="text-41"/>
          <p:cNvSpPr txBox="1"/>
          <p:nvPr/>
        </p:nvSpPr>
        <p:spPr>
          <a:xfrm>
            <a:off x="548640" y="5715000"/>
            <a:ext cx="11064240" cy="502920"/>
          </a:xfrm>
          <a:prstGeom prst="rect">
            <a:avLst/>
          </a:prstGeom>
          <a:noFill/>
          <a:ln/>
        </p:spPr>
        <p:txBody>
          <a:bodyPr wrap="square" lIns="0" tIns="0" rIns="0" bIns="0" rtlCol="0" anchor="t"/>
          <a:lstStyle/>
          <a:p>
            <a:pPr indent="0" marL="0">
              <a:buNone/>
            </a:pPr>
            <a:r>
              <a:rPr lang="en-US" sz="1200" dirty="0">
                <a:solidFill>
                  <a:schemeClr val="tx2"/>
                </a:solidFill>
              </a:rPr>
              <a:t>Vector RAG: embeddings over material profiles. Fixed-hop GraphRAG: entity seeds plus one-hop expansion, no attribute filtering. Results on slide 13.</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DATASET</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794 materials from eight chemistry-driven clusters</a:t>
            </a:r>
            <a:endParaRPr lang="en-US" sz="3200" dirty="0"/>
          </a:p>
        </p:txBody>
      </p:sp>
      <p:sp>
        <p:nvSpPr>
          <p:cNvPr id="4" name="funnel-step-42"/>
          <p:cNvSpPr/>
          <p:nvPr/>
        </p:nvSpPr>
        <p:spPr>
          <a:xfrm>
            <a:off x="548640" y="1508760"/>
            <a:ext cx="4206240" cy="804672"/>
          </a:xfrm>
          <a:prstGeom prst="roundRect">
            <a:avLst>
              <a:gd name="adj" fmla="val 13636"/>
            </a:avLst>
          </a:prstGeom>
          <a:solidFill>
            <a:schemeClr val="bg2"/>
          </a:solidFill>
          <a:ln/>
        </p:spPr>
      </p:sp>
      <p:sp>
        <p:nvSpPr>
          <p:cNvPr id="5" name="text-43"/>
          <p:cNvSpPr txBox="1"/>
          <p:nvPr/>
        </p:nvSpPr>
        <p:spPr>
          <a:xfrm>
            <a:off x="640080" y="1563624"/>
            <a:ext cx="4023360" cy="694944"/>
          </a:xfrm>
          <a:prstGeom prst="rect">
            <a:avLst/>
          </a:prstGeom>
          <a:noFill/>
          <a:ln/>
        </p:spPr>
        <p:txBody>
          <a:bodyPr wrap="square" lIns="0" tIns="0" rIns="0" bIns="0" rtlCol="0" anchor="ctr"/>
          <a:lstStyle/>
          <a:p>
            <a:pPr algn="ctr" indent="0" marL="0">
              <a:buNone/>
            </a:pPr>
            <a:r>
              <a:rPr lang="en-US" sz="2200" b="1" dirty="0">
                <a:solidFill>
                  <a:schemeClr val="tx1"/>
                </a:solidFill>
              </a:rPr>
              <a:t>154,377</a:t>
            </a:r>
            <a:endParaRPr lang="en-US" sz="1400" dirty="0"/>
          </a:p>
          <a:p>
            <a:pPr algn="ctr" indent="0" marL="0">
              <a:buNone/>
            </a:pPr>
            <a:r>
              <a:rPr lang="en-US" sz="1200" dirty="0">
                <a:solidFill>
                  <a:schemeClr val="tx1"/>
                </a:solidFill>
              </a:rPr>
              <a:t>materials in Materials Project</a:t>
            </a:r>
            <a:endParaRPr lang="en-US" sz="1400" dirty="0"/>
          </a:p>
        </p:txBody>
      </p:sp>
      <p:sp>
        <p:nvSpPr>
          <p:cNvPr id="6" name="funnel-step-44"/>
          <p:cNvSpPr/>
          <p:nvPr/>
        </p:nvSpPr>
        <p:spPr>
          <a:xfrm>
            <a:off x="777240" y="2468880"/>
            <a:ext cx="3749040" cy="804672"/>
          </a:xfrm>
          <a:prstGeom prst="roundRect">
            <a:avLst>
              <a:gd name="adj" fmla="val 13636"/>
            </a:avLst>
          </a:prstGeom>
          <a:solidFill>
            <a:schemeClr val="bg2"/>
          </a:solidFill>
          <a:ln/>
        </p:spPr>
      </p:sp>
      <p:sp>
        <p:nvSpPr>
          <p:cNvPr id="7" name="text-45"/>
          <p:cNvSpPr txBox="1"/>
          <p:nvPr/>
        </p:nvSpPr>
        <p:spPr>
          <a:xfrm>
            <a:off x="868680" y="2523744"/>
            <a:ext cx="3566160" cy="694944"/>
          </a:xfrm>
          <a:prstGeom prst="rect">
            <a:avLst/>
          </a:prstGeom>
          <a:noFill/>
          <a:ln/>
        </p:spPr>
        <p:txBody>
          <a:bodyPr wrap="square" lIns="0" tIns="0" rIns="0" bIns="0" rtlCol="0" anchor="ctr"/>
          <a:lstStyle/>
          <a:p>
            <a:pPr algn="ctr" indent="0" marL="0">
              <a:buNone/>
            </a:pPr>
            <a:r>
              <a:rPr lang="en-US" sz="2200" b="1" dirty="0">
                <a:solidFill>
                  <a:schemeClr val="tx1"/>
                </a:solidFill>
              </a:rPr>
              <a:t>8 clusters</a:t>
            </a:r>
            <a:endParaRPr lang="en-US" sz="1400" dirty="0"/>
          </a:p>
          <a:p>
            <a:pPr algn="ctr" indent="0" marL="0">
              <a:buNone/>
            </a:pPr>
            <a:r>
              <a:rPr lang="en-US" sz="1200" dirty="0">
                <a:solidFill>
                  <a:schemeClr val="tx1"/>
                </a:solidFill>
              </a:rPr>
              <a:t>declarative queries in materials.yaml</a:t>
            </a:r>
            <a:endParaRPr lang="en-US" sz="1400" dirty="0"/>
          </a:p>
        </p:txBody>
      </p:sp>
      <p:sp>
        <p:nvSpPr>
          <p:cNvPr id="8" name="funnel-step-46"/>
          <p:cNvSpPr/>
          <p:nvPr/>
        </p:nvSpPr>
        <p:spPr>
          <a:xfrm>
            <a:off x="1005840" y="3429000"/>
            <a:ext cx="3291840" cy="804672"/>
          </a:xfrm>
          <a:prstGeom prst="roundRect">
            <a:avLst>
              <a:gd name="adj" fmla="val 13636"/>
            </a:avLst>
          </a:prstGeom>
          <a:solidFill>
            <a:schemeClr val="bg2"/>
          </a:solidFill>
          <a:ln/>
        </p:spPr>
      </p:sp>
      <p:sp>
        <p:nvSpPr>
          <p:cNvPr id="9" name="text-47"/>
          <p:cNvSpPr txBox="1"/>
          <p:nvPr/>
        </p:nvSpPr>
        <p:spPr>
          <a:xfrm>
            <a:off x="1097280" y="3483864"/>
            <a:ext cx="3108960" cy="694944"/>
          </a:xfrm>
          <a:prstGeom prst="rect">
            <a:avLst/>
          </a:prstGeom>
          <a:noFill/>
          <a:ln/>
        </p:spPr>
        <p:txBody>
          <a:bodyPr wrap="square" lIns="0" tIns="0" rIns="0" bIns="0" rtlCol="0" anchor="ctr"/>
          <a:lstStyle/>
          <a:p>
            <a:pPr algn="ctr" indent="0" marL="0">
              <a:buNone/>
            </a:pPr>
            <a:r>
              <a:rPr lang="en-US" sz="2200" b="1" dirty="0">
                <a:solidFill>
                  <a:schemeClr val="tx1"/>
                </a:solidFill>
              </a:rPr>
              <a:t>~2,000</a:t>
            </a:r>
            <a:endParaRPr lang="en-US" sz="1400" dirty="0"/>
          </a:p>
          <a:p>
            <a:pPr algn="ctr" indent="0" marL="0">
              <a:buNone/>
            </a:pPr>
            <a:r>
              <a:rPr lang="en-US" sz="1200" dirty="0">
                <a:solidFill>
                  <a:schemeClr val="tx1"/>
                </a:solidFill>
              </a:rPr>
              <a:t>raw candidates, sorted by stability</a:t>
            </a:r>
            <a:endParaRPr lang="en-US" sz="1400" dirty="0"/>
          </a:p>
        </p:txBody>
      </p:sp>
      <p:sp>
        <p:nvSpPr>
          <p:cNvPr id="10" name="funnel-step-48"/>
          <p:cNvSpPr/>
          <p:nvPr/>
        </p:nvSpPr>
        <p:spPr>
          <a:xfrm>
            <a:off x="1234440" y="4389120"/>
            <a:ext cx="2834640" cy="804672"/>
          </a:xfrm>
          <a:prstGeom prst="roundRect">
            <a:avLst>
              <a:gd name="adj" fmla="val 13636"/>
            </a:avLst>
          </a:prstGeom>
          <a:solidFill>
            <a:schemeClr val="accent1"/>
          </a:solidFill>
          <a:ln/>
        </p:spPr>
      </p:sp>
      <p:sp>
        <p:nvSpPr>
          <p:cNvPr id="11" name="text-49"/>
          <p:cNvSpPr txBox="1"/>
          <p:nvPr/>
        </p:nvSpPr>
        <p:spPr>
          <a:xfrm>
            <a:off x="1325880" y="4443984"/>
            <a:ext cx="2651760" cy="694944"/>
          </a:xfrm>
          <a:prstGeom prst="rect">
            <a:avLst/>
          </a:prstGeom>
          <a:noFill/>
          <a:ln/>
        </p:spPr>
        <p:txBody>
          <a:bodyPr wrap="square" lIns="0" tIns="0" rIns="0" bIns="0" rtlCol="0" anchor="ctr"/>
          <a:lstStyle/>
          <a:p>
            <a:pPr algn="ctr" indent="0" marL="0">
              <a:buNone/>
            </a:pPr>
            <a:r>
              <a:rPr lang="en-US" sz="2200" b="1" dirty="0">
                <a:solidFill>
                  <a:schemeClr val="bg1"/>
                </a:solidFill>
              </a:rPr>
              <a:t>794</a:t>
            </a:r>
            <a:endParaRPr lang="en-US" sz="1400" dirty="0"/>
          </a:p>
          <a:p>
            <a:pPr algn="ctr" indent="0" marL="0">
              <a:buNone/>
            </a:pPr>
            <a:r>
              <a:rPr lang="en-US" sz="1200" dirty="0">
                <a:solidFill>
                  <a:schemeClr val="bg1"/>
                </a:solidFill>
              </a:rPr>
              <a:t>unique materials after deduplication</a:t>
            </a:r>
            <a:endParaRPr lang="en-US" sz="1400" dirty="0"/>
          </a:p>
        </p:txBody>
      </p:sp>
      <p:sp>
        <p:nvSpPr>
          <p:cNvPr id="12" name="text-50"/>
          <p:cNvSpPr txBox="1"/>
          <p:nvPr/>
        </p:nvSpPr>
        <p:spPr>
          <a:xfrm>
            <a:off x="5120640" y="1463040"/>
            <a:ext cx="6492240" cy="320040"/>
          </a:xfrm>
          <a:prstGeom prst="rect">
            <a:avLst/>
          </a:prstGeom>
          <a:noFill/>
          <a:ln/>
        </p:spPr>
        <p:txBody>
          <a:bodyPr wrap="square" lIns="0" tIns="0" rIns="0" bIns="0" rtlCol="0" anchor="t"/>
          <a:lstStyle/>
          <a:p>
            <a:pPr indent="0" marL="0">
              <a:buNone/>
            </a:pPr>
            <a:r>
              <a:rPr lang="en-US" sz="1600" b="1" dirty="0">
                <a:solidFill>
                  <a:schemeClr val="tx1"/>
                </a:solidFill>
              </a:rPr>
              <a:t>Clusters</a:t>
            </a:r>
            <a:endParaRPr lang="en-US" sz="1600" dirty="0"/>
          </a:p>
        </p:txBody>
      </p:sp>
      <p:sp>
        <p:nvSpPr>
          <p:cNvPr id="13" name="cluster-51"/>
          <p:cNvSpPr/>
          <p:nvPr/>
        </p:nvSpPr>
        <p:spPr>
          <a:xfrm>
            <a:off x="5120640" y="1874520"/>
            <a:ext cx="3108960" cy="676656"/>
          </a:xfrm>
          <a:prstGeom prst="roundRect">
            <a:avLst>
              <a:gd name="adj" fmla="val 16216"/>
            </a:avLst>
          </a:prstGeom>
          <a:solidFill>
            <a:schemeClr val="bg2"/>
          </a:solidFill>
          <a:ln/>
        </p:spPr>
      </p:sp>
      <p:sp>
        <p:nvSpPr>
          <p:cNvPr id="14" name="node-52"/>
          <p:cNvSpPr/>
          <p:nvPr/>
        </p:nvSpPr>
        <p:spPr>
          <a:xfrm>
            <a:off x="5303520" y="2103120"/>
            <a:ext cx="219456" cy="219456"/>
          </a:xfrm>
          <a:prstGeom prst="ellipse">
            <a:avLst/>
          </a:prstGeom>
          <a:solidFill>
            <a:schemeClr val="accent1"/>
          </a:solidFill>
          <a:ln/>
        </p:spPr>
      </p:sp>
      <p:sp>
        <p:nvSpPr>
          <p:cNvPr id="15" name="text-53"/>
          <p:cNvSpPr txBox="1"/>
          <p:nvPr/>
        </p:nvSpPr>
        <p:spPr>
          <a:xfrm>
            <a:off x="5669280" y="1929384"/>
            <a:ext cx="2468880" cy="566928"/>
          </a:xfrm>
          <a:prstGeom prst="rect">
            <a:avLst/>
          </a:prstGeom>
          <a:noFill/>
          <a:ln/>
        </p:spPr>
        <p:txBody>
          <a:bodyPr wrap="square" lIns="0" tIns="0" rIns="0" bIns="0" rtlCol="0" anchor="ctr"/>
          <a:lstStyle/>
          <a:p>
            <a:pPr indent="0" marL="0">
              <a:buNone/>
            </a:pPr>
            <a:r>
              <a:rPr lang="en-US" sz="1400" b="1" dirty="0">
                <a:solidFill>
                  <a:schemeClr val="tx1"/>
                </a:solidFill>
              </a:rPr>
              <a:t>Li–TM oxides</a:t>
            </a:r>
            <a:endParaRPr lang="en-US" sz="1400" dirty="0"/>
          </a:p>
          <a:p>
            <a:pPr indent="0" marL="0">
              <a:buNone/>
            </a:pPr>
            <a:r>
              <a:rPr lang="en-US" sz="1200" dirty="0">
                <a:solidFill>
                  <a:schemeClr val="tx2"/>
                </a:solidFill>
              </a:rPr>
              <a:t>layered / spinel battery cathodes</a:t>
            </a:r>
            <a:endParaRPr lang="en-US" sz="1400" dirty="0"/>
          </a:p>
        </p:txBody>
      </p:sp>
      <p:sp>
        <p:nvSpPr>
          <p:cNvPr id="16" name="cluster-54"/>
          <p:cNvSpPr/>
          <p:nvPr/>
        </p:nvSpPr>
        <p:spPr>
          <a:xfrm>
            <a:off x="8503920" y="1874520"/>
            <a:ext cx="3108960" cy="676656"/>
          </a:xfrm>
          <a:prstGeom prst="roundRect">
            <a:avLst>
              <a:gd name="adj" fmla="val 16216"/>
            </a:avLst>
          </a:prstGeom>
          <a:solidFill>
            <a:schemeClr val="bg2"/>
          </a:solidFill>
          <a:ln/>
        </p:spPr>
      </p:sp>
      <p:sp>
        <p:nvSpPr>
          <p:cNvPr id="17" name="node-55"/>
          <p:cNvSpPr/>
          <p:nvPr/>
        </p:nvSpPr>
        <p:spPr>
          <a:xfrm>
            <a:off x="8686800" y="2103120"/>
            <a:ext cx="219456" cy="219456"/>
          </a:xfrm>
          <a:prstGeom prst="ellipse">
            <a:avLst/>
          </a:prstGeom>
          <a:solidFill>
            <a:schemeClr val="accent1"/>
          </a:solidFill>
          <a:ln/>
        </p:spPr>
      </p:sp>
      <p:sp>
        <p:nvSpPr>
          <p:cNvPr id="18" name="text-56"/>
          <p:cNvSpPr txBox="1"/>
          <p:nvPr/>
        </p:nvSpPr>
        <p:spPr>
          <a:xfrm>
            <a:off x="9052560" y="1929384"/>
            <a:ext cx="2468880" cy="566928"/>
          </a:xfrm>
          <a:prstGeom prst="rect">
            <a:avLst/>
          </a:prstGeom>
          <a:noFill/>
          <a:ln/>
        </p:spPr>
        <p:txBody>
          <a:bodyPr wrap="square" lIns="0" tIns="0" rIns="0" bIns="0" rtlCol="0" anchor="ctr"/>
          <a:lstStyle/>
          <a:p>
            <a:pPr indent="0" marL="0">
              <a:buNone/>
            </a:pPr>
            <a:r>
              <a:rPr lang="en-US" sz="1400" b="1" dirty="0">
                <a:solidFill>
                  <a:schemeClr val="tx1"/>
                </a:solidFill>
              </a:rPr>
              <a:t>Li–TM phosphates</a:t>
            </a:r>
            <a:endParaRPr lang="en-US" sz="1400" dirty="0"/>
          </a:p>
          <a:p>
            <a:pPr indent="0" marL="0">
              <a:buNone/>
            </a:pPr>
            <a:r>
              <a:rPr lang="en-US" sz="1200" dirty="0">
                <a:solidFill>
                  <a:schemeClr val="tx2"/>
                </a:solidFill>
              </a:rPr>
              <a:t>olivine battery cathodes</a:t>
            </a:r>
            <a:endParaRPr lang="en-US" sz="1400" dirty="0"/>
          </a:p>
        </p:txBody>
      </p:sp>
      <p:sp>
        <p:nvSpPr>
          <p:cNvPr id="19" name="cluster-57"/>
          <p:cNvSpPr/>
          <p:nvPr/>
        </p:nvSpPr>
        <p:spPr>
          <a:xfrm>
            <a:off x="5120640" y="2679192"/>
            <a:ext cx="3108960" cy="676656"/>
          </a:xfrm>
          <a:prstGeom prst="roundRect">
            <a:avLst>
              <a:gd name="adj" fmla="val 16216"/>
            </a:avLst>
          </a:prstGeom>
          <a:solidFill>
            <a:schemeClr val="bg2"/>
          </a:solidFill>
          <a:ln/>
        </p:spPr>
      </p:sp>
      <p:sp>
        <p:nvSpPr>
          <p:cNvPr id="20" name="node-58"/>
          <p:cNvSpPr/>
          <p:nvPr/>
        </p:nvSpPr>
        <p:spPr>
          <a:xfrm>
            <a:off x="5303520" y="2907792"/>
            <a:ext cx="219456" cy="219456"/>
          </a:xfrm>
          <a:prstGeom prst="ellipse">
            <a:avLst/>
          </a:prstGeom>
          <a:solidFill>
            <a:schemeClr val="accent4"/>
          </a:solidFill>
          <a:ln/>
        </p:spPr>
      </p:sp>
      <p:sp>
        <p:nvSpPr>
          <p:cNvPr id="21" name="text-59"/>
          <p:cNvSpPr txBox="1"/>
          <p:nvPr/>
        </p:nvSpPr>
        <p:spPr>
          <a:xfrm>
            <a:off x="5669280" y="2734056"/>
            <a:ext cx="2468880" cy="566928"/>
          </a:xfrm>
          <a:prstGeom prst="rect">
            <a:avLst/>
          </a:prstGeom>
          <a:noFill/>
          <a:ln/>
        </p:spPr>
        <p:txBody>
          <a:bodyPr wrap="square" lIns="0" tIns="0" rIns="0" bIns="0" rtlCol="0" anchor="ctr"/>
          <a:lstStyle/>
          <a:p>
            <a:pPr indent="0" marL="0">
              <a:buNone/>
            </a:pPr>
            <a:r>
              <a:rPr lang="en-US" sz="1400" b="1" dirty="0">
                <a:solidFill>
                  <a:schemeClr val="tx1"/>
                </a:solidFill>
              </a:rPr>
              <a:t>III–V semiconductors</a:t>
            </a:r>
            <a:endParaRPr lang="en-US" sz="1400" dirty="0"/>
          </a:p>
          <a:p>
            <a:pPr indent="0" marL="0">
              <a:buNone/>
            </a:pPr>
            <a:r>
              <a:rPr lang="en-US" sz="1200" dirty="0">
                <a:solidFill>
                  <a:schemeClr val="tx2"/>
                </a:solidFill>
              </a:rPr>
              <a:t>{B, Al, Ga, In} × {N, P, As, Sb}</a:t>
            </a:r>
            <a:endParaRPr lang="en-US" sz="1400" dirty="0"/>
          </a:p>
        </p:txBody>
      </p:sp>
      <p:sp>
        <p:nvSpPr>
          <p:cNvPr id="22" name="cluster-60"/>
          <p:cNvSpPr/>
          <p:nvPr/>
        </p:nvSpPr>
        <p:spPr>
          <a:xfrm>
            <a:off x="8503920" y="2679192"/>
            <a:ext cx="3108960" cy="676656"/>
          </a:xfrm>
          <a:prstGeom prst="roundRect">
            <a:avLst>
              <a:gd name="adj" fmla="val 16216"/>
            </a:avLst>
          </a:prstGeom>
          <a:solidFill>
            <a:schemeClr val="bg2"/>
          </a:solidFill>
          <a:ln/>
        </p:spPr>
      </p:sp>
      <p:sp>
        <p:nvSpPr>
          <p:cNvPr id="23" name="node-61"/>
          <p:cNvSpPr/>
          <p:nvPr/>
        </p:nvSpPr>
        <p:spPr>
          <a:xfrm>
            <a:off x="8686800" y="2907792"/>
            <a:ext cx="219456" cy="219456"/>
          </a:xfrm>
          <a:prstGeom prst="ellipse">
            <a:avLst/>
          </a:prstGeom>
          <a:solidFill>
            <a:schemeClr val="accent4"/>
          </a:solidFill>
          <a:ln/>
        </p:spPr>
      </p:sp>
      <p:sp>
        <p:nvSpPr>
          <p:cNvPr id="24" name="text-62"/>
          <p:cNvSpPr txBox="1"/>
          <p:nvPr/>
        </p:nvSpPr>
        <p:spPr>
          <a:xfrm>
            <a:off x="9052560" y="2734056"/>
            <a:ext cx="2468880" cy="566928"/>
          </a:xfrm>
          <a:prstGeom prst="rect">
            <a:avLst/>
          </a:prstGeom>
          <a:noFill/>
          <a:ln/>
        </p:spPr>
        <p:txBody>
          <a:bodyPr wrap="square" lIns="0" tIns="0" rIns="0" bIns="0" rtlCol="0" anchor="ctr"/>
          <a:lstStyle/>
          <a:p>
            <a:pPr indent="0" marL="0">
              <a:buNone/>
            </a:pPr>
            <a:r>
              <a:rPr lang="en-US" sz="1400" b="1" dirty="0">
                <a:solidFill>
                  <a:schemeClr val="tx1"/>
                </a:solidFill>
              </a:rPr>
              <a:t>II–VI semiconductors</a:t>
            </a:r>
            <a:endParaRPr lang="en-US" sz="1400" dirty="0"/>
          </a:p>
          <a:p>
            <a:pPr indent="0" marL="0">
              <a:buNone/>
            </a:pPr>
            <a:r>
              <a:rPr lang="en-US" sz="1200" dirty="0">
                <a:solidFill>
                  <a:schemeClr val="tx2"/>
                </a:solidFill>
              </a:rPr>
              <a:t>{Zn, Cd, Hg} × {O, S, Se, Te}</a:t>
            </a:r>
            <a:endParaRPr lang="en-US" sz="1400" dirty="0"/>
          </a:p>
        </p:txBody>
      </p:sp>
      <p:sp>
        <p:nvSpPr>
          <p:cNvPr id="25" name="cluster-63"/>
          <p:cNvSpPr/>
          <p:nvPr/>
        </p:nvSpPr>
        <p:spPr>
          <a:xfrm>
            <a:off x="5120640" y="3483864"/>
            <a:ext cx="3108960" cy="676656"/>
          </a:xfrm>
          <a:prstGeom prst="roundRect">
            <a:avLst>
              <a:gd name="adj" fmla="val 16216"/>
            </a:avLst>
          </a:prstGeom>
          <a:solidFill>
            <a:schemeClr val="bg2"/>
          </a:solidFill>
          <a:ln/>
        </p:spPr>
      </p:sp>
      <p:sp>
        <p:nvSpPr>
          <p:cNvPr id="26" name="node-64"/>
          <p:cNvSpPr/>
          <p:nvPr/>
        </p:nvSpPr>
        <p:spPr>
          <a:xfrm>
            <a:off x="5303520" y="3712464"/>
            <a:ext cx="219456" cy="219456"/>
          </a:xfrm>
          <a:prstGeom prst="ellipse">
            <a:avLst/>
          </a:prstGeom>
          <a:solidFill>
            <a:schemeClr val="accent4"/>
          </a:solidFill>
          <a:ln/>
        </p:spPr>
      </p:sp>
      <p:sp>
        <p:nvSpPr>
          <p:cNvPr id="27" name="text-65"/>
          <p:cNvSpPr txBox="1"/>
          <p:nvPr/>
        </p:nvSpPr>
        <p:spPr>
          <a:xfrm>
            <a:off x="5669280" y="3538728"/>
            <a:ext cx="2468880" cy="566928"/>
          </a:xfrm>
          <a:prstGeom prst="rect">
            <a:avLst/>
          </a:prstGeom>
          <a:noFill/>
          <a:ln/>
        </p:spPr>
        <p:txBody>
          <a:bodyPr wrap="square" lIns="0" tIns="0" rIns="0" bIns="0" rtlCol="0" anchor="ctr"/>
          <a:lstStyle/>
          <a:p>
            <a:pPr indent="0" marL="0">
              <a:buNone/>
            </a:pPr>
            <a:r>
              <a:rPr lang="en-US" sz="1400" b="1" dirty="0">
                <a:solidFill>
                  <a:schemeClr val="tx1"/>
                </a:solidFill>
              </a:rPr>
              <a:t>Group IV semiconductors</a:t>
            </a:r>
            <a:endParaRPr lang="en-US" sz="1400" dirty="0"/>
          </a:p>
          <a:p>
            <a:pPr indent="0" marL="0">
              <a:buNone/>
            </a:pPr>
            <a:r>
              <a:rPr lang="en-US" sz="1200" dirty="0">
                <a:solidFill>
                  <a:schemeClr val="tx2"/>
                </a:solidFill>
              </a:rPr>
              <a:t>Si, Ge, C, Sn and binaries</a:t>
            </a:r>
            <a:endParaRPr lang="en-US" sz="1400" dirty="0"/>
          </a:p>
        </p:txBody>
      </p:sp>
      <p:sp>
        <p:nvSpPr>
          <p:cNvPr id="28" name="cluster-66"/>
          <p:cNvSpPr/>
          <p:nvPr/>
        </p:nvSpPr>
        <p:spPr>
          <a:xfrm>
            <a:off x="8503920" y="3483864"/>
            <a:ext cx="3108960" cy="676656"/>
          </a:xfrm>
          <a:prstGeom prst="roundRect">
            <a:avLst>
              <a:gd name="adj" fmla="val 16216"/>
            </a:avLst>
          </a:prstGeom>
          <a:solidFill>
            <a:schemeClr val="bg2"/>
          </a:solidFill>
          <a:ln/>
        </p:spPr>
      </p:sp>
      <p:sp>
        <p:nvSpPr>
          <p:cNvPr id="29" name="node-67"/>
          <p:cNvSpPr/>
          <p:nvPr/>
        </p:nvSpPr>
        <p:spPr>
          <a:xfrm>
            <a:off x="8686800" y="3712464"/>
            <a:ext cx="219456" cy="219456"/>
          </a:xfrm>
          <a:prstGeom prst="ellipse">
            <a:avLst/>
          </a:prstGeom>
          <a:solidFill>
            <a:schemeClr val="accent2"/>
          </a:solidFill>
          <a:ln/>
        </p:spPr>
      </p:sp>
      <p:sp>
        <p:nvSpPr>
          <p:cNvPr id="30" name="text-68"/>
          <p:cNvSpPr txBox="1"/>
          <p:nvPr/>
        </p:nvSpPr>
        <p:spPr>
          <a:xfrm>
            <a:off x="9052560" y="3538728"/>
            <a:ext cx="2468880" cy="566928"/>
          </a:xfrm>
          <a:prstGeom prst="rect">
            <a:avLst/>
          </a:prstGeom>
          <a:noFill/>
          <a:ln/>
        </p:spPr>
        <p:txBody>
          <a:bodyPr wrap="square" lIns="0" tIns="0" rIns="0" bIns="0" rtlCol="0" anchor="ctr"/>
          <a:lstStyle/>
          <a:p>
            <a:pPr indent="0" marL="0">
              <a:buNone/>
            </a:pPr>
            <a:r>
              <a:rPr lang="en-US" sz="1400" b="1" dirty="0">
                <a:solidFill>
                  <a:schemeClr val="tx1"/>
                </a:solidFill>
              </a:rPr>
              <a:t>Binary oxides</a:t>
            </a:r>
            <a:endParaRPr lang="en-US" sz="1400" dirty="0"/>
          </a:p>
          <a:p>
            <a:pPr indent="0" marL="0">
              <a:buNone/>
            </a:pPr>
            <a:r>
              <a:rPr lang="en-US" sz="1200" dirty="0">
                <a:solidFill>
                  <a:schemeClr val="tx2"/>
                </a:solidFill>
              </a:rPr>
              <a:t>wide-gap and functional oxides</a:t>
            </a:r>
            <a:endParaRPr lang="en-US" sz="1400" dirty="0"/>
          </a:p>
        </p:txBody>
      </p:sp>
      <p:sp>
        <p:nvSpPr>
          <p:cNvPr id="31" name="cluster-69"/>
          <p:cNvSpPr/>
          <p:nvPr/>
        </p:nvSpPr>
        <p:spPr>
          <a:xfrm>
            <a:off x="5120640" y="4288536"/>
            <a:ext cx="3108960" cy="676656"/>
          </a:xfrm>
          <a:prstGeom prst="roundRect">
            <a:avLst>
              <a:gd name="adj" fmla="val 16216"/>
            </a:avLst>
          </a:prstGeom>
          <a:solidFill>
            <a:schemeClr val="bg2"/>
          </a:solidFill>
          <a:ln/>
        </p:spPr>
      </p:sp>
      <p:sp>
        <p:nvSpPr>
          <p:cNvPr id="32" name="node-70"/>
          <p:cNvSpPr/>
          <p:nvPr/>
        </p:nvSpPr>
        <p:spPr>
          <a:xfrm>
            <a:off x="5303520" y="4517136"/>
            <a:ext cx="219456" cy="219456"/>
          </a:xfrm>
          <a:prstGeom prst="ellipse">
            <a:avLst/>
          </a:prstGeom>
          <a:solidFill>
            <a:schemeClr val="accent5"/>
          </a:solidFill>
          <a:ln/>
        </p:spPr>
      </p:sp>
      <p:sp>
        <p:nvSpPr>
          <p:cNvPr id="33" name="text-71"/>
          <p:cNvSpPr txBox="1"/>
          <p:nvPr/>
        </p:nvSpPr>
        <p:spPr>
          <a:xfrm>
            <a:off x="5669280" y="4343400"/>
            <a:ext cx="2468880" cy="566928"/>
          </a:xfrm>
          <a:prstGeom prst="rect">
            <a:avLst/>
          </a:prstGeom>
          <a:noFill/>
          <a:ln/>
        </p:spPr>
        <p:txBody>
          <a:bodyPr wrap="square" lIns="0" tIns="0" rIns="0" bIns="0" rtlCol="0" anchor="ctr"/>
          <a:lstStyle/>
          <a:p>
            <a:pPr indent="0" marL="0">
              <a:buNone/>
            </a:pPr>
            <a:r>
              <a:rPr lang="en-US" sz="1400" b="1" dirty="0">
                <a:solidFill>
                  <a:schemeClr val="tx1"/>
                </a:solidFill>
              </a:rPr>
              <a:t>ABO₃ perovskites</a:t>
            </a:r>
            <a:endParaRPr lang="en-US" sz="1400" dirty="0"/>
          </a:p>
          <a:p>
            <a:pPr indent="0" marL="0">
              <a:buNone/>
            </a:pPr>
            <a:r>
              <a:rPr lang="en-US" sz="1200" dirty="0">
                <a:solidFill>
                  <a:schemeClr val="tx2"/>
                </a:solidFill>
              </a:rPr>
              <a:t>dielectric / ferroelectric</a:t>
            </a:r>
            <a:endParaRPr lang="en-US" sz="1400" dirty="0"/>
          </a:p>
        </p:txBody>
      </p:sp>
      <p:sp>
        <p:nvSpPr>
          <p:cNvPr id="34" name="cluster-72"/>
          <p:cNvSpPr/>
          <p:nvPr/>
        </p:nvSpPr>
        <p:spPr>
          <a:xfrm>
            <a:off x="8503920" y="4288536"/>
            <a:ext cx="3108960" cy="676656"/>
          </a:xfrm>
          <a:prstGeom prst="roundRect">
            <a:avLst>
              <a:gd name="adj" fmla="val 16216"/>
            </a:avLst>
          </a:prstGeom>
          <a:solidFill>
            <a:schemeClr val="bg2"/>
          </a:solidFill>
          <a:ln/>
        </p:spPr>
      </p:sp>
      <p:sp>
        <p:nvSpPr>
          <p:cNvPr id="35" name="node-73"/>
          <p:cNvSpPr/>
          <p:nvPr/>
        </p:nvSpPr>
        <p:spPr>
          <a:xfrm>
            <a:off x="8686800" y="4517136"/>
            <a:ext cx="219456" cy="219456"/>
          </a:xfrm>
          <a:prstGeom prst="ellipse">
            <a:avLst/>
          </a:prstGeom>
          <a:solidFill>
            <a:schemeClr val="accent6"/>
          </a:solidFill>
          <a:ln/>
        </p:spPr>
      </p:sp>
      <p:sp>
        <p:nvSpPr>
          <p:cNvPr id="36" name="text-74"/>
          <p:cNvSpPr txBox="1"/>
          <p:nvPr/>
        </p:nvSpPr>
        <p:spPr>
          <a:xfrm>
            <a:off x="9052560" y="4343400"/>
            <a:ext cx="2468880" cy="566928"/>
          </a:xfrm>
          <a:prstGeom prst="rect">
            <a:avLst/>
          </a:prstGeom>
          <a:noFill/>
          <a:ln/>
        </p:spPr>
        <p:txBody>
          <a:bodyPr wrap="square" lIns="0" tIns="0" rIns="0" bIns="0" rtlCol="0" anchor="ctr"/>
          <a:lstStyle/>
          <a:p>
            <a:pPr indent="0" marL="0">
              <a:buNone/>
            </a:pPr>
            <a:r>
              <a:rPr lang="en-US" sz="1400" b="1" dirty="0">
                <a:solidFill>
                  <a:schemeClr val="tx1"/>
                </a:solidFill>
              </a:rPr>
              <a:t>AB₂O₄ spinels</a:t>
            </a:r>
            <a:endParaRPr lang="en-US" sz="1400" dirty="0"/>
          </a:p>
          <a:p>
            <a:pPr indent="0" marL="0">
              <a:buNone/>
            </a:pPr>
            <a:r>
              <a:rPr lang="en-US" sz="1200" dirty="0">
                <a:solidFill>
                  <a:schemeClr val="tx2"/>
                </a:solidFill>
              </a:rPr>
              <a:t>magnetic oxides</a:t>
            </a:r>
            <a:endParaRPr lang="en-US" sz="1400" dirty="0"/>
          </a:p>
        </p:txBody>
      </p:sp>
      <p:sp>
        <p:nvSpPr>
          <p:cNvPr id="37" name="text-75"/>
          <p:cNvSpPr txBox="1"/>
          <p:nvPr/>
        </p:nvSpPr>
        <p:spPr>
          <a:xfrm>
            <a:off x="5120640" y="5120640"/>
            <a:ext cx="6492240" cy="274320"/>
          </a:xfrm>
          <a:prstGeom prst="rect">
            <a:avLst/>
          </a:prstGeom>
          <a:noFill/>
          <a:ln/>
        </p:spPr>
        <p:txBody>
          <a:bodyPr wrap="square" lIns="0" tIns="0" rIns="0" bIns="0" rtlCol="0" anchor="t"/>
          <a:lstStyle/>
          <a:p>
            <a:pPr indent="0" marL="0">
              <a:buNone/>
            </a:pPr>
            <a:r>
              <a:rPr lang="en-US" sz="1300" b="1" dirty="0">
                <a:solidFill>
                  <a:schemeClr val="tx2"/>
                </a:solidFill>
              </a:rPr>
              <a:t>Property coverage</a:t>
            </a:r>
            <a:endParaRPr lang="en-US" sz="1300" dirty="0"/>
          </a:p>
        </p:txBody>
      </p:sp>
      <p:sp>
        <p:nvSpPr>
          <p:cNvPr id="38" name="text-76"/>
          <p:cNvSpPr txBox="1"/>
          <p:nvPr/>
        </p:nvSpPr>
        <p:spPr>
          <a:xfrm>
            <a:off x="5120640" y="5440680"/>
            <a:ext cx="1600200" cy="731520"/>
          </a:xfrm>
          <a:prstGeom prst="rect">
            <a:avLst/>
          </a:prstGeom>
          <a:noFill/>
          <a:ln/>
        </p:spPr>
        <p:txBody>
          <a:bodyPr wrap="square" lIns="0" tIns="0" rIns="0" bIns="0" rtlCol="0" anchor="t"/>
          <a:lstStyle/>
          <a:p>
            <a:pPr indent="0" marL="0">
              <a:buNone/>
            </a:pPr>
            <a:r>
              <a:rPr lang="en-US" sz="2200" b="1" dirty="0">
                <a:solidFill>
                  <a:schemeClr val="accent1"/>
                </a:solidFill>
              </a:rPr>
              <a:t>100%</a:t>
            </a:r>
            <a:endParaRPr lang="en-US" sz="1400" dirty="0"/>
          </a:p>
          <a:p>
            <a:pPr indent="0" marL="0">
              <a:buNone/>
            </a:pPr>
            <a:r>
              <a:rPr lang="en-US" sz="1200" dirty="0">
                <a:solidFill>
                  <a:schemeClr val="tx2"/>
                </a:solidFill>
              </a:rPr>
              <a:t>core properties</a:t>
            </a:r>
            <a:endParaRPr lang="en-US" sz="1400" dirty="0"/>
          </a:p>
        </p:txBody>
      </p:sp>
      <p:sp>
        <p:nvSpPr>
          <p:cNvPr id="39" name="text-77"/>
          <p:cNvSpPr txBox="1"/>
          <p:nvPr/>
        </p:nvSpPr>
        <p:spPr>
          <a:xfrm>
            <a:off x="6766560" y="5440680"/>
            <a:ext cx="1600200" cy="731520"/>
          </a:xfrm>
          <a:prstGeom prst="rect">
            <a:avLst/>
          </a:prstGeom>
          <a:noFill/>
          <a:ln/>
        </p:spPr>
        <p:txBody>
          <a:bodyPr wrap="square" lIns="0" tIns="0" rIns="0" bIns="0" rtlCol="0" anchor="t"/>
          <a:lstStyle/>
          <a:p>
            <a:pPr indent="0" marL="0">
              <a:buNone/>
            </a:pPr>
            <a:r>
              <a:rPr lang="en-US" sz="2200" b="1" dirty="0">
                <a:solidFill>
                  <a:schemeClr val="accent1"/>
                </a:solidFill>
              </a:rPr>
              <a:t>93.1%</a:t>
            </a:r>
            <a:endParaRPr lang="en-US" sz="1400" dirty="0"/>
          </a:p>
          <a:p>
            <a:pPr indent="0" marL="0">
              <a:buNone/>
            </a:pPr>
            <a:r>
              <a:rPr lang="en-US" sz="1200" dirty="0">
                <a:solidFill>
                  <a:schemeClr val="tx2"/>
                </a:solidFill>
              </a:rPr>
              <a:t>oxidation states</a:t>
            </a:r>
            <a:endParaRPr lang="en-US" sz="1400" dirty="0"/>
          </a:p>
        </p:txBody>
      </p:sp>
      <p:sp>
        <p:nvSpPr>
          <p:cNvPr id="40" name="text-78"/>
          <p:cNvSpPr txBox="1"/>
          <p:nvPr/>
        </p:nvSpPr>
        <p:spPr>
          <a:xfrm>
            <a:off x="8412480" y="5440680"/>
            <a:ext cx="1600200" cy="731520"/>
          </a:xfrm>
          <a:prstGeom prst="rect">
            <a:avLst/>
          </a:prstGeom>
          <a:noFill/>
          <a:ln/>
        </p:spPr>
        <p:txBody>
          <a:bodyPr wrap="square" lIns="0" tIns="0" rIns="0" bIns="0" rtlCol="0" anchor="t"/>
          <a:lstStyle/>
          <a:p>
            <a:pPr indent="0" marL="0">
              <a:buNone/>
            </a:pPr>
            <a:r>
              <a:rPr lang="en-US" sz="2200" b="1" dirty="0">
                <a:solidFill>
                  <a:schemeClr val="accent1"/>
                </a:solidFill>
              </a:rPr>
              <a:t>19.9%</a:t>
            </a:r>
            <a:endParaRPr lang="en-US" sz="1400" dirty="0"/>
          </a:p>
          <a:p>
            <a:pPr indent="0" marL="0">
              <a:buNone/>
            </a:pPr>
            <a:r>
              <a:rPr lang="en-US" sz="1200" dirty="0">
                <a:solidFill>
                  <a:schemeClr val="tx2"/>
                </a:solidFill>
              </a:rPr>
              <a:t>dielectric data</a:t>
            </a:r>
            <a:endParaRPr lang="en-US" sz="1400" dirty="0"/>
          </a:p>
        </p:txBody>
      </p:sp>
      <p:sp>
        <p:nvSpPr>
          <p:cNvPr id="41" name="text-79"/>
          <p:cNvSpPr txBox="1"/>
          <p:nvPr/>
        </p:nvSpPr>
        <p:spPr>
          <a:xfrm>
            <a:off x="10058400" y="5440680"/>
            <a:ext cx="1600200" cy="731520"/>
          </a:xfrm>
          <a:prstGeom prst="rect">
            <a:avLst/>
          </a:prstGeom>
          <a:noFill/>
          <a:ln/>
        </p:spPr>
        <p:txBody>
          <a:bodyPr wrap="square" lIns="0" tIns="0" rIns="0" bIns="0" rtlCol="0" anchor="t"/>
          <a:lstStyle/>
          <a:p>
            <a:pPr indent="0" marL="0">
              <a:buNone/>
            </a:pPr>
            <a:r>
              <a:rPr lang="en-US" sz="2200" b="1" dirty="0">
                <a:solidFill>
                  <a:schemeClr val="accent1"/>
                </a:solidFill>
              </a:rPr>
              <a:t>18.0%</a:t>
            </a:r>
            <a:endParaRPr lang="en-US" sz="1400" dirty="0"/>
          </a:p>
          <a:p>
            <a:pPr indent="0" marL="0">
              <a:buNone/>
            </a:pPr>
            <a:r>
              <a:rPr lang="en-US" sz="1200" dirty="0">
                <a:solidFill>
                  <a:schemeClr val="tx2"/>
                </a:solidFill>
              </a:rPr>
              <a:t>elastic data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ARCHITECTURE</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System architecture</a:t>
            </a:r>
            <a:endParaRPr lang="en-US" sz="3200" dirty="0"/>
          </a:p>
        </p:txBody>
      </p:sp>
      <p:sp>
        <p:nvSpPr>
          <p:cNvPr id="4" name="layer-header-80"/>
          <p:cNvSpPr/>
          <p:nvPr/>
        </p:nvSpPr>
        <p:spPr>
          <a:xfrm>
            <a:off x="548640" y="1463040"/>
            <a:ext cx="251460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Data sources</a:t>
            </a:r>
            <a:endParaRPr lang="en-US" sz="1500" dirty="0"/>
          </a:p>
        </p:txBody>
      </p:sp>
      <p:sp>
        <p:nvSpPr>
          <p:cNvPr id="5" name="component-81"/>
          <p:cNvSpPr/>
          <p:nvPr/>
        </p:nvSpPr>
        <p:spPr>
          <a:xfrm>
            <a:off x="548640" y="2103120"/>
            <a:ext cx="2514600" cy="896112"/>
          </a:xfrm>
          <a:prstGeom prst="roundRect">
            <a:avLst>
              <a:gd name="adj" fmla="val 12245"/>
            </a:avLst>
          </a:prstGeom>
          <a:solidFill>
            <a:schemeClr val="bg1"/>
          </a:solidFill>
          <a:ln w="12700">
            <a:solidFill>
              <a:schemeClr val="accent2"/>
            </a:solidFill>
            <a:prstDash val="solid"/>
          </a:ln>
        </p:spPr>
      </p:sp>
      <p:sp>
        <p:nvSpPr>
          <p:cNvPr id="6" name="text-82"/>
          <p:cNvSpPr txBox="1"/>
          <p:nvPr/>
        </p:nvSpPr>
        <p:spPr>
          <a:xfrm>
            <a:off x="685800" y="2176272"/>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Materials Project API</a:t>
            </a:r>
            <a:endParaRPr lang="en-US" sz="1400" dirty="0"/>
          </a:p>
          <a:p>
            <a:pPr indent="0" marL="0">
              <a:buNone/>
            </a:pPr>
            <a:r>
              <a:rPr lang="en-US" sz="1200" dirty="0">
                <a:solidFill>
                  <a:schemeClr val="tx2"/>
                </a:solidFill>
              </a:rPr>
              <a:t>summary + robocrys endpoints</a:t>
            </a:r>
            <a:endParaRPr lang="en-US" sz="1400" dirty="0"/>
          </a:p>
        </p:txBody>
      </p:sp>
      <p:sp>
        <p:nvSpPr>
          <p:cNvPr id="7" name="component-83"/>
          <p:cNvSpPr/>
          <p:nvPr/>
        </p:nvSpPr>
        <p:spPr>
          <a:xfrm>
            <a:off x="548640" y="3136392"/>
            <a:ext cx="2514600" cy="896112"/>
          </a:xfrm>
          <a:prstGeom prst="roundRect">
            <a:avLst>
              <a:gd name="adj" fmla="val 12245"/>
            </a:avLst>
          </a:prstGeom>
          <a:solidFill>
            <a:schemeClr val="bg1"/>
          </a:solidFill>
          <a:ln w="12700">
            <a:solidFill>
              <a:schemeClr val="accent2"/>
            </a:solidFill>
            <a:prstDash val="solid"/>
          </a:ln>
        </p:spPr>
      </p:sp>
      <p:sp>
        <p:nvSpPr>
          <p:cNvPr id="8" name="text-84"/>
          <p:cNvSpPr txBox="1"/>
          <p:nvPr/>
        </p:nvSpPr>
        <p:spPr>
          <a:xfrm>
            <a:off x="685800" y="3209544"/>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Cached raw JSON</a:t>
            </a:r>
            <a:endParaRPr lang="en-US" sz="1400" dirty="0"/>
          </a:p>
          <a:p>
            <a:pPr indent="0" marL="0">
              <a:buNone/>
            </a:pPr>
            <a:r>
              <a:rPr lang="en-US" sz="1200" dirty="0">
                <a:solidFill>
                  <a:schemeClr val="tx2"/>
                </a:solidFill>
              </a:rPr>
              <a:t>794 records, reproducible builds</a:t>
            </a:r>
            <a:endParaRPr lang="en-US" sz="1400" dirty="0"/>
          </a:p>
        </p:txBody>
      </p:sp>
      <p:sp>
        <p:nvSpPr>
          <p:cNvPr id="9" name="component-85"/>
          <p:cNvSpPr/>
          <p:nvPr/>
        </p:nvSpPr>
        <p:spPr>
          <a:xfrm>
            <a:off x="548640" y="4169664"/>
            <a:ext cx="2514600" cy="896112"/>
          </a:xfrm>
          <a:prstGeom prst="roundRect">
            <a:avLst>
              <a:gd name="adj" fmla="val 12245"/>
            </a:avLst>
          </a:prstGeom>
          <a:solidFill>
            <a:schemeClr val="bg1"/>
          </a:solidFill>
          <a:ln w="12700">
            <a:solidFill>
              <a:schemeClr val="accent2"/>
            </a:solidFill>
            <a:prstDash val="solid"/>
          </a:ln>
        </p:spPr>
      </p:sp>
      <p:sp>
        <p:nvSpPr>
          <p:cNvPr id="10" name="text-86"/>
          <p:cNvSpPr txBox="1"/>
          <p:nvPr/>
        </p:nvSpPr>
        <p:spPr>
          <a:xfrm>
            <a:off x="685800" y="4242816"/>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User input</a:t>
            </a:r>
            <a:endParaRPr lang="en-US" sz="1400" dirty="0"/>
          </a:p>
          <a:p>
            <a:pPr indent="0" marL="0">
              <a:buNone/>
            </a:pPr>
            <a:r>
              <a:rPr lang="en-US" sz="1200" dirty="0">
                <a:solidFill>
                  <a:schemeClr val="tx2"/>
                </a:solidFill>
              </a:rPr>
              <a:t>MP id · formula · CIF / POSCAR</a:t>
            </a:r>
            <a:endParaRPr lang="en-US" sz="1400" dirty="0"/>
          </a:p>
        </p:txBody>
      </p:sp>
      <p:sp>
        <p:nvSpPr>
          <p:cNvPr id="11" name="arrow-87"/>
          <p:cNvSpPr/>
          <p:nvPr/>
        </p:nvSpPr>
        <p:spPr>
          <a:xfrm>
            <a:off x="3136392" y="3703320"/>
            <a:ext cx="201168" cy="365760"/>
          </a:xfrm>
          <a:prstGeom prst="chevron">
            <a:avLst/>
          </a:prstGeom>
          <a:solidFill>
            <a:schemeClr val="tx2"/>
          </a:solidFill>
          <a:ln/>
        </p:spPr>
      </p:sp>
      <p:sp>
        <p:nvSpPr>
          <p:cNvPr id="12" name="layer-header-88"/>
          <p:cNvSpPr/>
          <p:nvPr/>
        </p:nvSpPr>
        <p:spPr>
          <a:xfrm>
            <a:off x="3401568" y="1463040"/>
            <a:ext cx="251460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Knowledge graph</a:t>
            </a:r>
            <a:endParaRPr lang="en-US" sz="1500" dirty="0"/>
          </a:p>
        </p:txBody>
      </p:sp>
      <p:sp>
        <p:nvSpPr>
          <p:cNvPr id="13" name="component-89"/>
          <p:cNvSpPr/>
          <p:nvPr/>
        </p:nvSpPr>
        <p:spPr>
          <a:xfrm>
            <a:off x="3401568" y="2103120"/>
            <a:ext cx="2514600" cy="896112"/>
          </a:xfrm>
          <a:prstGeom prst="roundRect">
            <a:avLst>
              <a:gd name="adj" fmla="val 12245"/>
            </a:avLst>
          </a:prstGeom>
          <a:solidFill>
            <a:schemeClr val="bg1"/>
          </a:solidFill>
          <a:ln w="12700">
            <a:solidFill>
              <a:schemeClr val="accent1"/>
            </a:solidFill>
            <a:prstDash val="solid"/>
          </a:ln>
        </p:spPr>
      </p:sp>
      <p:sp>
        <p:nvSpPr>
          <p:cNvPr id="14" name="text-90"/>
          <p:cNvSpPr txBox="1"/>
          <p:nvPr/>
        </p:nvSpPr>
        <p:spPr>
          <a:xfrm>
            <a:off x="3538728" y="2176272"/>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Build pipeline</a:t>
            </a:r>
            <a:endParaRPr lang="en-US" sz="1400" dirty="0"/>
          </a:p>
          <a:p>
            <a:pPr indent="0" marL="0">
              <a:buNone/>
            </a:pPr>
            <a:r>
              <a:rPr lang="en-US" sz="1200" dirty="0">
                <a:solidFill>
                  <a:schemeClr val="tx2"/>
                </a:solidFill>
              </a:rPr>
              <a:t>fetch → enrich (rules) → write → verify</a:t>
            </a:r>
            <a:endParaRPr lang="en-US" sz="1400" dirty="0"/>
          </a:p>
        </p:txBody>
      </p:sp>
      <p:sp>
        <p:nvSpPr>
          <p:cNvPr id="15" name="component-91"/>
          <p:cNvSpPr/>
          <p:nvPr/>
        </p:nvSpPr>
        <p:spPr>
          <a:xfrm>
            <a:off x="3401568" y="3136392"/>
            <a:ext cx="2514600" cy="896112"/>
          </a:xfrm>
          <a:prstGeom prst="roundRect">
            <a:avLst>
              <a:gd name="adj" fmla="val 12245"/>
            </a:avLst>
          </a:prstGeom>
          <a:solidFill>
            <a:schemeClr val="bg1"/>
          </a:solidFill>
          <a:ln w="12700">
            <a:solidFill>
              <a:schemeClr val="accent1"/>
            </a:solidFill>
            <a:prstDash val="solid"/>
          </a:ln>
        </p:spPr>
      </p:sp>
      <p:sp>
        <p:nvSpPr>
          <p:cNvPr id="16" name="text-92"/>
          <p:cNvSpPr txBox="1"/>
          <p:nvPr/>
        </p:nvSpPr>
        <p:spPr>
          <a:xfrm>
            <a:off x="3538728" y="3209544"/>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Cognee DataPoints</a:t>
            </a:r>
            <a:endParaRPr lang="en-US" sz="1400" dirty="0"/>
          </a:p>
          <a:p>
            <a:pPr indent="0" marL="0">
              <a:buNone/>
            </a:pPr>
            <a:r>
              <a:rPr lang="en-US" sz="1200" dirty="0">
                <a:solidFill>
                  <a:schemeClr val="tx2"/>
                </a:solidFill>
              </a:rPr>
              <a:t>identity-keyed nodes and edges</a:t>
            </a:r>
            <a:endParaRPr lang="en-US" sz="1400" dirty="0"/>
          </a:p>
        </p:txBody>
      </p:sp>
      <p:sp>
        <p:nvSpPr>
          <p:cNvPr id="17" name="component-93"/>
          <p:cNvSpPr/>
          <p:nvPr/>
        </p:nvSpPr>
        <p:spPr>
          <a:xfrm>
            <a:off x="3401568" y="4169664"/>
            <a:ext cx="2514600" cy="896112"/>
          </a:xfrm>
          <a:prstGeom prst="roundRect">
            <a:avLst>
              <a:gd name="adj" fmla="val 12245"/>
            </a:avLst>
          </a:prstGeom>
          <a:solidFill>
            <a:schemeClr val="bg1"/>
          </a:solidFill>
          <a:ln w="12700">
            <a:solidFill>
              <a:schemeClr val="accent1"/>
            </a:solidFill>
            <a:prstDash val="solid"/>
          </a:ln>
        </p:spPr>
      </p:sp>
      <p:sp>
        <p:nvSpPr>
          <p:cNvPr id="18" name="text-94"/>
          <p:cNvSpPr txBox="1"/>
          <p:nvPr/>
        </p:nvSpPr>
        <p:spPr>
          <a:xfrm>
            <a:off x="3538728" y="4242816"/>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Kuzu + LanceDB</a:t>
            </a:r>
            <a:endParaRPr lang="en-US" sz="1400" dirty="0"/>
          </a:p>
          <a:p>
            <a:pPr indent="0" marL="0">
              <a:buNone/>
            </a:pPr>
            <a:r>
              <a:rPr lang="en-US" sz="1200" dirty="0">
                <a:solidFill>
                  <a:schemeClr val="tx2"/>
                </a:solidFill>
              </a:rPr>
              <a:t>graph store and vector store</a:t>
            </a:r>
            <a:endParaRPr lang="en-US" sz="1400" dirty="0"/>
          </a:p>
        </p:txBody>
      </p:sp>
      <p:sp>
        <p:nvSpPr>
          <p:cNvPr id="19" name="component-95"/>
          <p:cNvSpPr/>
          <p:nvPr/>
        </p:nvSpPr>
        <p:spPr>
          <a:xfrm>
            <a:off x="3401568" y="5202936"/>
            <a:ext cx="2514600" cy="896112"/>
          </a:xfrm>
          <a:prstGeom prst="roundRect">
            <a:avLst>
              <a:gd name="adj" fmla="val 12245"/>
            </a:avLst>
          </a:prstGeom>
          <a:solidFill>
            <a:schemeClr val="bg1"/>
          </a:solidFill>
          <a:ln w="12700">
            <a:solidFill>
              <a:schemeClr val="accent1"/>
            </a:solidFill>
            <a:prstDash val="solid"/>
          </a:ln>
        </p:spPr>
      </p:sp>
      <p:sp>
        <p:nvSpPr>
          <p:cNvPr id="20" name="text-96"/>
          <p:cNvSpPr txBox="1"/>
          <p:nvPr/>
        </p:nvSpPr>
        <p:spPr>
          <a:xfrm>
            <a:off x="3538728" y="5276088"/>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BGE-M3 embeddings</a:t>
            </a:r>
            <a:endParaRPr lang="en-US" sz="1400" dirty="0"/>
          </a:p>
          <a:p>
            <a:pPr indent="0" marL="0">
              <a:buNone/>
            </a:pPr>
            <a:r>
              <a:rPr lang="en-US" sz="1200" dirty="0">
                <a:solidFill>
                  <a:schemeClr val="tx2"/>
                </a:solidFill>
              </a:rPr>
              <a:t>local Ollama, 1024-d</a:t>
            </a:r>
            <a:endParaRPr lang="en-US" sz="1400" dirty="0"/>
          </a:p>
        </p:txBody>
      </p:sp>
      <p:sp>
        <p:nvSpPr>
          <p:cNvPr id="21" name="arrow-97"/>
          <p:cNvSpPr/>
          <p:nvPr/>
        </p:nvSpPr>
        <p:spPr>
          <a:xfrm>
            <a:off x="5989320" y="3703320"/>
            <a:ext cx="201168" cy="365760"/>
          </a:xfrm>
          <a:prstGeom prst="chevron">
            <a:avLst/>
          </a:prstGeom>
          <a:solidFill>
            <a:schemeClr val="tx2"/>
          </a:solidFill>
          <a:ln/>
        </p:spPr>
      </p:sp>
      <p:sp>
        <p:nvSpPr>
          <p:cNvPr id="22" name="layer-header-98"/>
          <p:cNvSpPr/>
          <p:nvPr/>
        </p:nvSpPr>
        <p:spPr>
          <a:xfrm>
            <a:off x="6254496" y="1463040"/>
            <a:ext cx="2514600" cy="457200"/>
          </a:xfrm>
          <a:prstGeom prst="roundRect">
            <a:avLst>
              <a:gd name="adj" fmla="val 50000"/>
            </a:avLst>
          </a:prstGeom>
          <a:solidFill>
            <a:schemeClr val="accent4"/>
          </a:solidFill>
          <a:ln/>
        </p:spPr>
        <p:txBody>
          <a:bodyPr wrap="square" lIns="0" tIns="0" rIns="0" bIns="0" rtlCol="0" anchor="ctr"/>
          <a:lstStyle/>
          <a:p>
            <a:pPr algn="ctr" indent="0" marL="0">
              <a:buNone/>
            </a:pPr>
            <a:r>
              <a:rPr lang="en-US" sz="1500" b="1" dirty="0">
                <a:solidFill>
                  <a:schemeClr val="bg1"/>
                </a:solidFill>
              </a:rPr>
              <a:t>Reasoning services</a:t>
            </a:r>
            <a:endParaRPr lang="en-US" sz="1500" dirty="0"/>
          </a:p>
        </p:txBody>
      </p:sp>
      <p:sp>
        <p:nvSpPr>
          <p:cNvPr id="23" name="component-99"/>
          <p:cNvSpPr/>
          <p:nvPr/>
        </p:nvSpPr>
        <p:spPr>
          <a:xfrm>
            <a:off x="6254496" y="2103120"/>
            <a:ext cx="2514600" cy="896112"/>
          </a:xfrm>
          <a:prstGeom prst="roundRect">
            <a:avLst>
              <a:gd name="adj" fmla="val 12245"/>
            </a:avLst>
          </a:prstGeom>
          <a:solidFill>
            <a:schemeClr val="bg1"/>
          </a:solidFill>
          <a:ln w="12700">
            <a:solidFill>
              <a:schemeClr val="accent4"/>
            </a:solidFill>
            <a:prstDash val="solid"/>
          </a:ln>
        </p:spPr>
      </p:sp>
      <p:sp>
        <p:nvSpPr>
          <p:cNvPr id="24" name="text-100"/>
          <p:cNvSpPr txBox="1"/>
          <p:nvPr/>
        </p:nvSpPr>
        <p:spPr>
          <a:xfrm>
            <a:off x="6391656" y="2176272"/>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Query parser</a:t>
            </a:r>
            <a:endParaRPr lang="en-US" sz="1400" dirty="0"/>
          </a:p>
          <a:p>
            <a:pPr indent="0" marL="0">
              <a:buNone/>
            </a:pPr>
            <a:r>
              <a:rPr lang="en-US" sz="1200" dirty="0">
                <a:solidFill>
                  <a:schemeClr val="tx2"/>
                </a:solidFill>
              </a:rPr>
              <a:t>LLM (OpenRouter) + rule fallback</a:t>
            </a:r>
            <a:endParaRPr lang="en-US" sz="1400" dirty="0"/>
          </a:p>
        </p:txBody>
      </p:sp>
      <p:sp>
        <p:nvSpPr>
          <p:cNvPr id="25" name="component-101"/>
          <p:cNvSpPr/>
          <p:nvPr/>
        </p:nvSpPr>
        <p:spPr>
          <a:xfrm>
            <a:off x="6254496" y="3136392"/>
            <a:ext cx="2514600" cy="896112"/>
          </a:xfrm>
          <a:prstGeom prst="roundRect">
            <a:avLst>
              <a:gd name="adj" fmla="val 12245"/>
            </a:avLst>
          </a:prstGeom>
          <a:solidFill>
            <a:schemeClr val="bg1"/>
          </a:solidFill>
          <a:ln w="12700">
            <a:solidFill>
              <a:schemeClr val="accent4"/>
            </a:solidFill>
            <a:prstDash val="solid"/>
          </a:ln>
        </p:spPr>
      </p:sp>
      <p:sp>
        <p:nvSpPr>
          <p:cNvPr id="26" name="text-102"/>
          <p:cNvSpPr txBox="1"/>
          <p:nvPr/>
        </p:nvSpPr>
        <p:spPr>
          <a:xfrm>
            <a:off x="6391656" y="3209544"/>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Graph retriever</a:t>
            </a:r>
            <a:endParaRPr lang="en-US" sz="1400" dirty="0"/>
          </a:p>
          <a:p>
            <a:pPr indent="0" marL="0">
              <a:buNone/>
            </a:pPr>
            <a:r>
              <a:rPr lang="en-US" sz="1200" dirty="0">
                <a:solidFill>
                  <a:schemeClr val="tx2"/>
                </a:solidFill>
              </a:rPr>
              <a:t>traverse, filter exactly, rank</a:t>
            </a:r>
            <a:endParaRPr lang="en-US" sz="1400" dirty="0"/>
          </a:p>
        </p:txBody>
      </p:sp>
      <p:sp>
        <p:nvSpPr>
          <p:cNvPr id="27" name="component-103"/>
          <p:cNvSpPr/>
          <p:nvPr/>
        </p:nvSpPr>
        <p:spPr>
          <a:xfrm>
            <a:off x="6254496" y="4169664"/>
            <a:ext cx="2514600" cy="896112"/>
          </a:xfrm>
          <a:prstGeom prst="roundRect">
            <a:avLst>
              <a:gd name="adj" fmla="val 12245"/>
            </a:avLst>
          </a:prstGeom>
          <a:solidFill>
            <a:schemeClr val="bg1"/>
          </a:solidFill>
          <a:ln w="12700">
            <a:solidFill>
              <a:schemeClr val="accent4"/>
            </a:solidFill>
            <a:prstDash val="solid"/>
          </a:ln>
        </p:spPr>
      </p:sp>
      <p:sp>
        <p:nvSpPr>
          <p:cNvPr id="28" name="text-104"/>
          <p:cNvSpPr txBox="1"/>
          <p:nvPr/>
        </p:nvSpPr>
        <p:spPr>
          <a:xfrm>
            <a:off x="6391656" y="4242816"/>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Evidence → explain → ground</a:t>
            </a:r>
            <a:endParaRPr lang="en-US" sz="1400" dirty="0"/>
          </a:p>
          <a:p>
            <a:pPr indent="0" marL="0">
              <a:buNone/>
            </a:pPr>
            <a:r>
              <a:rPr lang="en-US" sz="1200" dirty="0">
                <a:solidFill>
                  <a:schemeClr val="tx2"/>
                </a:solidFill>
              </a:rPr>
              <a:t>cited claims, checked</a:t>
            </a:r>
            <a:endParaRPr lang="en-US" sz="1400" dirty="0"/>
          </a:p>
        </p:txBody>
      </p:sp>
      <p:sp>
        <p:nvSpPr>
          <p:cNvPr id="29" name="component-105"/>
          <p:cNvSpPr/>
          <p:nvPr/>
        </p:nvSpPr>
        <p:spPr>
          <a:xfrm>
            <a:off x="6254496" y="5202936"/>
            <a:ext cx="2514600" cy="896112"/>
          </a:xfrm>
          <a:prstGeom prst="roundRect">
            <a:avLst>
              <a:gd name="adj" fmla="val 12245"/>
            </a:avLst>
          </a:prstGeom>
          <a:solidFill>
            <a:schemeClr val="bg1"/>
          </a:solidFill>
          <a:ln w="12700">
            <a:solidFill>
              <a:schemeClr val="accent4"/>
            </a:solidFill>
            <a:prstDash val="solid"/>
          </a:ln>
        </p:spPr>
      </p:sp>
      <p:sp>
        <p:nvSpPr>
          <p:cNvPr id="30" name="text-106"/>
          <p:cNvSpPr txBox="1"/>
          <p:nvPr/>
        </p:nvSpPr>
        <p:spPr>
          <a:xfrm>
            <a:off x="6391656" y="5276088"/>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Material ingestion</a:t>
            </a:r>
            <a:endParaRPr lang="en-US" sz="1400" dirty="0"/>
          </a:p>
          <a:p>
            <a:pPr indent="0" marL="0">
              <a:buNone/>
            </a:pPr>
            <a:r>
              <a:rPr lang="en-US" sz="1200" dirty="0">
                <a:solidFill>
                  <a:schemeClr val="tx2"/>
                </a:solidFill>
              </a:rPr>
              <a:t>MP · composition · pretrained CGCNN</a:t>
            </a:r>
            <a:endParaRPr lang="en-US" sz="1400" dirty="0"/>
          </a:p>
        </p:txBody>
      </p:sp>
      <p:sp>
        <p:nvSpPr>
          <p:cNvPr id="31" name="arrow-107"/>
          <p:cNvSpPr/>
          <p:nvPr/>
        </p:nvSpPr>
        <p:spPr>
          <a:xfrm>
            <a:off x="8842248" y="3703320"/>
            <a:ext cx="201168" cy="365760"/>
          </a:xfrm>
          <a:prstGeom prst="chevron">
            <a:avLst/>
          </a:prstGeom>
          <a:solidFill>
            <a:schemeClr val="tx2"/>
          </a:solidFill>
          <a:ln/>
        </p:spPr>
      </p:sp>
      <p:sp>
        <p:nvSpPr>
          <p:cNvPr id="32" name="layer-header-108"/>
          <p:cNvSpPr/>
          <p:nvPr/>
        </p:nvSpPr>
        <p:spPr>
          <a:xfrm>
            <a:off x="9107424" y="1463040"/>
            <a:ext cx="2514600" cy="457200"/>
          </a:xfrm>
          <a:prstGeom prst="roundRect">
            <a:avLst>
              <a:gd name="adj" fmla="val 50000"/>
            </a:avLst>
          </a:prstGeom>
          <a:solidFill>
            <a:schemeClr val="accent5"/>
          </a:solidFill>
          <a:ln/>
        </p:spPr>
        <p:txBody>
          <a:bodyPr wrap="square" lIns="0" tIns="0" rIns="0" bIns="0" rtlCol="0" anchor="ctr"/>
          <a:lstStyle/>
          <a:p>
            <a:pPr algn="ctr" indent="0" marL="0">
              <a:buNone/>
            </a:pPr>
            <a:r>
              <a:rPr lang="en-US" sz="1500" b="1" dirty="0">
                <a:solidFill>
                  <a:schemeClr val="bg1"/>
                </a:solidFill>
              </a:rPr>
              <a:t>Interfaces</a:t>
            </a:r>
            <a:endParaRPr lang="en-US" sz="1500" dirty="0"/>
          </a:p>
        </p:txBody>
      </p:sp>
      <p:sp>
        <p:nvSpPr>
          <p:cNvPr id="33" name="component-109"/>
          <p:cNvSpPr/>
          <p:nvPr/>
        </p:nvSpPr>
        <p:spPr>
          <a:xfrm>
            <a:off x="9107424" y="2103120"/>
            <a:ext cx="2514600" cy="896112"/>
          </a:xfrm>
          <a:prstGeom prst="roundRect">
            <a:avLst>
              <a:gd name="adj" fmla="val 12245"/>
            </a:avLst>
          </a:prstGeom>
          <a:solidFill>
            <a:schemeClr val="bg1"/>
          </a:solidFill>
          <a:ln w="12700">
            <a:solidFill>
              <a:schemeClr val="accent5"/>
            </a:solidFill>
            <a:prstDash val="solid"/>
          </a:ln>
        </p:spPr>
      </p:sp>
      <p:sp>
        <p:nvSpPr>
          <p:cNvPr id="34" name="text-110"/>
          <p:cNvSpPr txBox="1"/>
          <p:nvPr/>
        </p:nvSpPr>
        <p:spPr>
          <a:xfrm>
            <a:off x="9244584" y="2176272"/>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FastAPI service</a:t>
            </a:r>
            <a:endParaRPr lang="en-US" sz="1400" dirty="0"/>
          </a:p>
          <a:p>
            <a:pPr indent="0" marL="0">
              <a:buNone/>
            </a:pPr>
            <a:r>
              <a:rPr lang="en-US" sz="1200" dirty="0">
                <a:solidFill>
                  <a:schemeClr val="tx2"/>
                </a:solidFill>
              </a:rPr>
              <a:t>/query · /materials/ingest · /graph</a:t>
            </a:r>
            <a:endParaRPr lang="en-US" sz="1400" dirty="0"/>
          </a:p>
        </p:txBody>
      </p:sp>
      <p:sp>
        <p:nvSpPr>
          <p:cNvPr id="35" name="component-111"/>
          <p:cNvSpPr/>
          <p:nvPr/>
        </p:nvSpPr>
        <p:spPr>
          <a:xfrm>
            <a:off x="9107424" y="3136392"/>
            <a:ext cx="2514600" cy="896112"/>
          </a:xfrm>
          <a:prstGeom prst="roundRect">
            <a:avLst>
              <a:gd name="adj" fmla="val 12245"/>
            </a:avLst>
          </a:prstGeom>
          <a:solidFill>
            <a:schemeClr val="bg1"/>
          </a:solidFill>
          <a:ln w="12700">
            <a:solidFill>
              <a:schemeClr val="accent5"/>
            </a:solidFill>
            <a:prstDash val="solid"/>
          </a:ln>
        </p:spPr>
      </p:sp>
      <p:sp>
        <p:nvSpPr>
          <p:cNvPr id="36" name="text-112"/>
          <p:cNvSpPr txBox="1"/>
          <p:nvPr/>
        </p:nvSpPr>
        <p:spPr>
          <a:xfrm>
            <a:off x="9244584" y="3209544"/>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Dashboard</a:t>
            </a:r>
            <a:endParaRPr lang="en-US" sz="1400" dirty="0"/>
          </a:p>
          <a:p>
            <a:pPr indent="0" marL="0">
              <a:buNone/>
            </a:pPr>
            <a:r>
              <a:rPr lang="en-US" sz="1200" dirty="0">
                <a:solidFill>
                  <a:schemeClr val="tx2"/>
                </a:solidFill>
              </a:rPr>
              <a:t>ask, add material, from structure</a:t>
            </a:r>
            <a:endParaRPr lang="en-US" sz="1400" dirty="0"/>
          </a:p>
        </p:txBody>
      </p:sp>
      <p:sp>
        <p:nvSpPr>
          <p:cNvPr id="37" name="component-113"/>
          <p:cNvSpPr/>
          <p:nvPr/>
        </p:nvSpPr>
        <p:spPr>
          <a:xfrm>
            <a:off x="9107424" y="4169664"/>
            <a:ext cx="2514600" cy="896112"/>
          </a:xfrm>
          <a:prstGeom prst="roundRect">
            <a:avLst>
              <a:gd name="adj" fmla="val 12245"/>
            </a:avLst>
          </a:prstGeom>
          <a:solidFill>
            <a:schemeClr val="bg1"/>
          </a:solidFill>
          <a:ln w="12700">
            <a:solidFill>
              <a:schemeClr val="accent5"/>
            </a:solidFill>
            <a:prstDash val="solid"/>
          </a:ln>
        </p:spPr>
      </p:sp>
      <p:sp>
        <p:nvSpPr>
          <p:cNvPr id="38" name="text-114"/>
          <p:cNvSpPr txBox="1"/>
          <p:nvPr/>
        </p:nvSpPr>
        <p:spPr>
          <a:xfrm>
            <a:off x="9244584" y="4242816"/>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Graph explorer</a:t>
            </a:r>
            <a:endParaRPr lang="en-US" sz="1400" dirty="0"/>
          </a:p>
          <a:p>
            <a:pPr indent="0" marL="0">
              <a:buNone/>
            </a:pPr>
            <a:r>
              <a:rPr lang="en-US" sz="1200" dirty="0">
                <a:solidFill>
                  <a:schemeClr val="tx2"/>
                </a:solidFill>
              </a:rPr>
              <a:t>animated import &amp; match</a:t>
            </a:r>
            <a:endParaRPr lang="en-US" sz="1400" dirty="0"/>
          </a:p>
        </p:txBody>
      </p:sp>
      <p:sp>
        <p:nvSpPr>
          <p:cNvPr id="39" name="component-115"/>
          <p:cNvSpPr/>
          <p:nvPr/>
        </p:nvSpPr>
        <p:spPr>
          <a:xfrm>
            <a:off x="9107424" y="5202936"/>
            <a:ext cx="2514600" cy="896112"/>
          </a:xfrm>
          <a:prstGeom prst="roundRect">
            <a:avLst>
              <a:gd name="adj" fmla="val 12245"/>
            </a:avLst>
          </a:prstGeom>
          <a:solidFill>
            <a:schemeClr val="bg1"/>
          </a:solidFill>
          <a:ln w="12700">
            <a:solidFill>
              <a:schemeClr val="accent5"/>
            </a:solidFill>
            <a:prstDash val="solid"/>
          </a:ln>
        </p:spPr>
      </p:sp>
      <p:sp>
        <p:nvSpPr>
          <p:cNvPr id="40" name="text-116"/>
          <p:cNvSpPr txBox="1"/>
          <p:nvPr/>
        </p:nvSpPr>
        <p:spPr>
          <a:xfrm>
            <a:off x="9244584" y="5276088"/>
            <a:ext cx="2240280" cy="749808"/>
          </a:xfrm>
          <a:prstGeom prst="rect">
            <a:avLst/>
          </a:prstGeom>
          <a:noFill/>
          <a:ln/>
        </p:spPr>
        <p:txBody>
          <a:bodyPr wrap="square" lIns="0" tIns="0" rIns="0" bIns="0" rtlCol="0" anchor="ctr"/>
          <a:lstStyle/>
          <a:p>
            <a:pPr indent="0" marL="0">
              <a:buNone/>
            </a:pPr>
            <a:r>
              <a:rPr lang="en-US" sz="1400" b="1" dirty="0">
                <a:solidFill>
                  <a:schemeClr val="tx1"/>
                </a:solidFill>
              </a:rPr>
              <a:t>CLI scripts</a:t>
            </a:r>
            <a:endParaRPr lang="en-US" sz="1400" dirty="0"/>
          </a:p>
          <a:p>
            <a:pPr indent="0" marL="0">
              <a:buNone/>
            </a:pPr>
            <a:r>
              <a:rPr lang="en-US" sz="1200" dirty="0">
                <a:solidFill>
                  <a:schemeClr val="tx2"/>
                </a:solidFill>
              </a:rPr>
              <a:t>build, ask, add, evaluate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KNOWLEDGE GRAPH</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Graph schema: 9 node types, 9 edge types</a:t>
            </a:r>
            <a:endParaRPr lang="en-US" sz="3200" dirty="0"/>
          </a:p>
        </p:txBody>
      </p:sp>
      <p:sp>
        <p:nvSpPr>
          <p:cNvPr id="4" name="edge-117"/>
          <p:cNvSpPr/>
          <p:nvPr/>
        </p:nvSpPr>
        <p:spPr>
          <a:xfrm flipH="1" flipV="1">
            <a:off x="1463040" y="2011680"/>
            <a:ext cx="2468880" cy="1828800"/>
          </a:xfrm>
          <a:prstGeom prst="line">
            <a:avLst/>
          </a:prstGeom>
          <a:noFill/>
          <a:ln w="15875">
            <a:solidFill>
              <a:schemeClr val="tx2"/>
            </a:solidFill>
            <a:prstDash val="solid"/>
          </a:ln>
        </p:spPr>
      </p:sp>
      <p:sp>
        <p:nvSpPr>
          <p:cNvPr id="5" name="edge-118"/>
          <p:cNvSpPr/>
          <p:nvPr/>
        </p:nvSpPr>
        <p:spPr>
          <a:xfrm flipV="1">
            <a:off x="3931920" y="1691640"/>
            <a:ext cx="0" cy="2148840"/>
          </a:xfrm>
          <a:prstGeom prst="line">
            <a:avLst/>
          </a:prstGeom>
          <a:noFill/>
          <a:ln w="15875">
            <a:solidFill>
              <a:schemeClr val="tx2"/>
            </a:solidFill>
            <a:prstDash val="solid"/>
          </a:ln>
        </p:spPr>
      </p:sp>
      <p:sp>
        <p:nvSpPr>
          <p:cNvPr id="6" name="edge-119"/>
          <p:cNvSpPr/>
          <p:nvPr/>
        </p:nvSpPr>
        <p:spPr>
          <a:xfrm flipV="1">
            <a:off x="3931920" y="2011680"/>
            <a:ext cx="2468880" cy="1828800"/>
          </a:xfrm>
          <a:prstGeom prst="line">
            <a:avLst/>
          </a:prstGeom>
          <a:noFill/>
          <a:ln w="15875">
            <a:solidFill>
              <a:schemeClr val="tx2"/>
            </a:solidFill>
            <a:prstDash val="solid"/>
          </a:ln>
        </p:spPr>
      </p:sp>
      <p:sp>
        <p:nvSpPr>
          <p:cNvPr id="7" name="edge-120"/>
          <p:cNvSpPr/>
          <p:nvPr/>
        </p:nvSpPr>
        <p:spPr>
          <a:xfrm flipH="1">
            <a:off x="1188720" y="3840480"/>
            <a:ext cx="2743200" cy="0"/>
          </a:xfrm>
          <a:prstGeom prst="line">
            <a:avLst/>
          </a:prstGeom>
          <a:noFill/>
          <a:ln w="15875">
            <a:solidFill>
              <a:schemeClr val="tx2"/>
            </a:solidFill>
            <a:prstDash val="solid"/>
          </a:ln>
        </p:spPr>
      </p:sp>
      <p:sp>
        <p:nvSpPr>
          <p:cNvPr id="8" name="edge-121"/>
          <p:cNvSpPr/>
          <p:nvPr/>
        </p:nvSpPr>
        <p:spPr>
          <a:xfrm>
            <a:off x="3931920" y="3840480"/>
            <a:ext cx="3017520" cy="0"/>
          </a:xfrm>
          <a:prstGeom prst="line">
            <a:avLst/>
          </a:prstGeom>
          <a:noFill/>
          <a:ln w="15875">
            <a:solidFill>
              <a:schemeClr val="tx2"/>
            </a:solidFill>
            <a:prstDash val="solid"/>
          </a:ln>
        </p:spPr>
      </p:sp>
      <p:sp>
        <p:nvSpPr>
          <p:cNvPr id="9" name="edge-122"/>
          <p:cNvSpPr/>
          <p:nvPr/>
        </p:nvSpPr>
        <p:spPr>
          <a:xfrm flipH="1">
            <a:off x="1463040" y="3840480"/>
            <a:ext cx="2468880" cy="1874520"/>
          </a:xfrm>
          <a:prstGeom prst="line">
            <a:avLst/>
          </a:prstGeom>
          <a:noFill/>
          <a:ln w="15875">
            <a:solidFill>
              <a:schemeClr val="tx2"/>
            </a:solidFill>
            <a:prstDash val="solid"/>
          </a:ln>
        </p:spPr>
      </p:sp>
      <p:sp>
        <p:nvSpPr>
          <p:cNvPr id="10" name="edge-123"/>
          <p:cNvSpPr/>
          <p:nvPr/>
        </p:nvSpPr>
        <p:spPr>
          <a:xfrm>
            <a:off x="3931920" y="3840480"/>
            <a:ext cx="0" cy="2011680"/>
          </a:xfrm>
          <a:prstGeom prst="line">
            <a:avLst/>
          </a:prstGeom>
          <a:noFill/>
          <a:ln w="15875">
            <a:solidFill>
              <a:schemeClr val="tx2"/>
            </a:solidFill>
            <a:prstDash val="solid"/>
          </a:ln>
        </p:spPr>
      </p:sp>
      <p:sp>
        <p:nvSpPr>
          <p:cNvPr id="11" name="edge-124"/>
          <p:cNvSpPr/>
          <p:nvPr/>
        </p:nvSpPr>
        <p:spPr>
          <a:xfrm>
            <a:off x="3931920" y="3840480"/>
            <a:ext cx="2468880" cy="2011680"/>
          </a:xfrm>
          <a:prstGeom prst="line">
            <a:avLst/>
          </a:prstGeom>
          <a:noFill/>
          <a:ln w="15875">
            <a:solidFill>
              <a:schemeClr val="tx2"/>
            </a:solidFill>
            <a:prstDash val="solid"/>
          </a:ln>
        </p:spPr>
      </p:sp>
      <p:sp>
        <p:nvSpPr>
          <p:cNvPr id="12" name="edge-125"/>
          <p:cNvSpPr/>
          <p:nvPr/>
        </p:nvSpPr>
        <p:spPr>
          <a:xfrm>
            <a:off x="6949440" y="3840480"/>
            <a:ext cx="0" cy="1005840"/>
          </a:xfrm>
          <a:prstGeom prst="line">
            <a:avLst/>
          </a:prstGeom>
          <a:noFill/>
          <a:ln w="15875">
            <a:solidFill>
              <a:schemeClr val="tx2"/>
            </a:solidFill>
            <a:prstDash val="solid"/>
          </a:ln>
        </p:spPr>
      </p:sp>
      <p:sp>
        <p:nvSpPr>
          <p:cNvPr id="13" name="node-type-126"/>
          <p:cNvSpPr/>
          <p:nvPr/>
        </p:nvSpPr>
        <p:spPr>
          <a:xfrm>
            <a:off x="480060" y="1783080"/>
            <a:ext cx="1965960" cy="457200"/>
          </a:xfrm>
          <a:prstGeom prst="roundRect">
            <a:avLst>
              <a:gd name="adj" fmla="val 50000"/>
            </a:avLst>
          </a:prstGeom>
          <a:solidFill>
            <a:schemeClr val="accent4"/>
          </a:solidFill>
          <a:ln/>
        </p:spPr>
        <p:txBody>
          <a:bodyPr wrap="square" lIns="0" tIns="0" rIns="0" bIns="0" rtlCol="0" anchor="ctr"/>
          <a:lstStyle/>
          <a:p>
            <a:pPr algn="ctr" indent="0" marL="0">
              <a:buNone/>
            </a:pPr>
            <a:r>
              <a:rPr lang="en-US" sz="1300" b="1" dirty="0">
                <a:solidFill>
                  <a:schemeClr val="bg1"/>
                </a:solidFill>
              </a:rPr>
              <a:t>Oxidation state · 131</a:t>
            </a:r>
            <a:endParaRPr lang="en-US" sz="1300" dirty="0"/>
          </a:p>
        </p:txBody>
      </p:sp>
      <p:sp>
        <p:nvSpPr>
          <p:cNvPr id="14" name="text-127"/>
          <p:cNvSpPr txBox="1"/>
          <p:nvPr/>
        </p:nvSpPr>
        <p:spPr>
          <a:xfrm>
            <a:off x="548640" y="2651760"/>
            <a:ext cx="1783080" cy="256032"/>
          </a:xfrm>
          <a:prstGeom prst="rect">
            <a:avLst/>
          </a:prstGeom>
          <a:noFill/>
          <a:ln/>
        </p:spPr>
        <p:txBody>
          <a:bodyPr wrap="square" lIns="0" tIns="0" rIns="0" bIns="0" rtlCol="0" anchor="ctr"/>
          <a:lstStyle/>
          <a:p>
            <a:pPr algn="r" indent="0" marL="0">
              <a:buNone/>
            </a:pPr>
            <a:r>
              <a:rPr lang="en-US" sz="1100" dirty="0">
                <a:solidFill>
                  <a:schemeClr val="tx2"/>
                </a:solidFill>
              </a:rPr>
              <a:t>has_oxidation_state</a:t>
            </a:r>
            <a:endParaRPr lang="en-US" sz="1100" dirty="0"/>
          </a:p>
        </p:txBody>
      </p:sp>
      <p:sp>
        <p:nvSpPr>
          <p:cNvPr id="15" name="node-type-128"/>
          <p:cNvSpPr/>
          <p:nvPr/>
        </p:nvSpPr>
        <p:spPr>
          <a:xfrm>
            <a:off x="2948940" y="1463040"/>
            <a:ext cx="196596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Chemical system · 143</a:t>
            </a:r>
            <a:endParaRPr lang="en-US" sz="1300" dirty="0"/>
          </a:p>
        </p:txBody>
      </p:sp>
      <p:sp>
        <p:nvSpPr>
          <p:cNvPr id="16" name="text-129"/>
          <p:cNvSpPr txBox="1"/>
          <p:nvPr/>
        </p:nvSpPr>
        <p:spPr>
          <a:xfrm>
            <a:off x="4041648" y="2423160"/>
            <a:ext cx="1097280" cy="256032"/>
          </a:xfrm>
          <a:prstGeom prst="rect">
            <a:avLst/>
          </a:prstGeom>
          <a:noFill/>
          <a:ln/>
        </p:spPr>
        <p:txBody>
          <a:bodyPr wrap="square" lIns="0" tIns="0" rIns="0" bIns="0" rtlCol="0" anchor="ctr"/>
          <a:lstStyle/>
          <a:p>
            <a:pPr algn="l" indent="0" marL="0">
              <a:buNone/>
            </a:pPr>
            <a:r>
              <a:rPr lang="en-US" sz="1100" dirty="0">
                <a:solidFill>
                  <a:schemeClr val="tx2"/>
                </a:solidFill>
              </a:rPr>
              <a:t>member_of</a:t>
            </a:r>
            <a:endParaRPr lang="en-US" sz="1100" dirty="0"/>
          </a:p>
        </p:txBody>
      </p:sp>
      <p:sp>
        <p:nvSpPr>
          <p:cNvPr id="17" name="node-type-130"/>
          <p:cNvSpPr/>
          <p:nvPr/>
        </p:nvSpPr>
        <p:spPr>
          <a:xfrm>
            <a:off x="5417820" y="1783080"/>
            <a:ext cx="1965960" cy="457200"/>
          </a:xfrm>
          <a:prstGeom prst="roundRect">
            <a:avLst>
              <a:gd name="adj" fmla="val 50000"/>
            </a:avLst>
          </a:prstGeom>
          <a:solidFill>
            <a:schemeClr val="accent5"/>
          </a:solidFill>
          <a:ln/>
        </p:spPr>
        <p:txBody>
          <a:bodyPr wrap="square" lIns="0" tIns="0" rIns="0" bIns="0" rtlCol="0" anchor="ctr"/>
          <a:lstStyle/>
          <a:p>
            <a:pPr algn="ctr" indent="0" marL="0">
              <a:buNone/>
            </a:pPr>
            <a:r>
              <a:rPr lang="en-US" sz="1300" b="1" dirty="0">
                <a:solidFill>
                  <a:schemeClr val="bg1"/>
                </a:solidFill>
              </a:rPr>
              <a:t>Formula pattern · 261</a:t>
            </a:r>
            <a:endParaRPr lang="en-US" sz="1300" dirty="0"/>
          </a:p>
        </p:txBody>
      </p:sp>
      <p:sp>
        <p:nvSpPr>
          <p:cNvPr id="18" name="text-131"/>
          <p:cNvSpPr txBox="1"/>
          <p:nvPr/>
        </p:nvSpPr>
        <p:spPr>
          <a:xfrm>
            <a:off x="5559552" y="2651760"/>
            <a:ext cx="1737360" cy="256032"/>
          </a:xfrm>
          <a:prstGeom prst="rect">
            <a:avLst/>
          </a:prstGeom>
          <a:noFill/>
          <a:ln/>
        </p:spPr>
        <p:txBody>
          <a:bodyPr wrap="square" lIns="0" tIns="0" rIns="0" bIns="0" rtlCol="0" anchor="ctr"/>
          <a:lstStyle/>
          <a:p>
            <a:pPr algn="l" indent="0" marL="0">
              <a:buNone/>
            </a:pPr>
            <a:r>
              <a:rPr lang="en-US" sz="1100" dirty="0">
                <a:solidFill>
                  <a:schemeClr val="tx2"/>
                </a:solidFill>
              </a:rPr>
              <a:t>has_formula_pattern</a:t>
            </a:r>
            <a:endParaRPr lang="en-US" sz="1100" dirty="0"/>
          </a:p>
        </p:txBody>
      </p:sp>
      <p:sp>
        <p:nvSpPr>
          <p:cNvPr id="19" name="node-type-132"/>
          <p:cNvSpPr/>
          <p:nvPr/>
        </p:nvSpPr>
        <p:spPr>
          <a:xfrm>
            <a:off x="411480" y="3611880"/>
            <a:ext cx="155448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bg1"/>
                </a:solidFill>
              </a:rPr>
              <a:t>Element · 46</a:t>
            </a:r>
            <a:endParaRPr lang="en-US" sz="1300" dirty="0"/>
          </a:p>
        </p:txBody>
      </p:sp>
      <p:sp>
        <p:nvSpPr>
          <p:cNvPr id="20" name="text-133"/>
          <p:cNvSpPr txBox="1"/>
          <p:nvPr/>
        </p:nvSpPr>
        <p:spPr>
          <a:xfrm>
            <a:off x="1965960" y="3520440"/>
            <a:ext cx="1051560" cy="256032"/>
          </a:xfrm>
          <a:prstGeom prst="rect">
            <a:avLst/>
          </a:prstGeom>
          <a:noFill/>
          <a:ln/>
        </p:spPr>
        <p:txBody>
          <a:bodyPr wrap="square" lIns="0" tIns="0" rIns="0" bIns="0" rtlCol="0" anchor="ctr"/>
          <a:lstStyle/>
          <a:p>
            <a:pPr algn="ctr" indent="0" marL="0">
              <a:buNone/>
            </a:pPr>
            <a:r>
              <a:rPr lang="en-US" sz="1100" dirty="0">
                <a:solidFill>
                  <a:schemeClr val="tx2"/>
                </a:solidFill>
              </a:rPr>
              <a:t>contains</a:t>
            </a:r>
            <a:endParaRPr lang="en-US" sz="1100" dirty="0"/>
          </a:p>
        </p:txBody>
      </p:sp>
      <p:sp>
        <p:nvSpPr>
          <p:cNvPr id="21" name="node-type-134"/>
          <p:cNvSpPr/>
          <p:nvPr/>
        </p:nvSpPr>
        <p:spPr>
          <a:xfrm>
            <a:off x="5966460" y="3611880"/>
            <a:ext cx="1965960" cy="457200"/>
          </a:xfrm>
          <a:prstGeom prst="roundRect">
            <a:avLst>
              <a:gd name="adj" fmla="val 50000"/>
            </a:avLst>
          </a:prstGeom>
          <a:solidFill>
            <a:schemeClr val="accent5"/>
          </a:solidFill>
          <a:ln/>
        </p:spPr>
        <p:txBody>
          <a:bodyPr wrap="square" lIns="0" tIns="0" rIns="0" bIns="0" rtlCol="0" anchor="ctr"/>
          <a:lstStyle/>
          <a:p>
            <a:pPr algn="ctr" indent="0" marL="0">
              <a:buNone/>
            </a:pPr>
            <a:r>
              <a:rPr lang="en-US" sz="1300" b="1" dirty="0">
                <a:solidFill>
                  <a:schemeClr val="bg1"/>
                </a:solidFill>
              </a:rPr>
              <a:t>Space group · 106</a:t>
            </a:r>
            <a:endParaRPr lang="en-US" sz="1300" dirty="0"/>
          </a:p>
        </p:txBody>
      </p:sp>
      <p:sp>
        <p:nvSpPr>
          <p:cNvPr id="22" name="text-135"/>
          <p:cNvSpPr txBox="1"/>
          <p:nvPr/>
        </p:nvSpPr>
        <p:spPr>
          <a:xfrm>
            <a:off x="4846320" y="3520440"/>
            <a:ext cx="1115568" cy="256032"/>
          </a:xfrm>
          <a:prstGeom prst="rect">
            <a:avLst/>
          </a:prstGeom>
          <a:noFill/>
          <a:ln/>
        </p:spPr>
        <p:txBody>
          <a:bodyPr wrap="square" lIns="0" tIns="0" rIns="0" bIns="0" rtlCol="0" anchor="ctr"/>
          <a:lstStyle/>
          <a:p>
            <a:pPr algn="ctr" indent="0" marL="0">
              <a:buNone/>
            </a:pPr>
            <a:r>
              <a:rPr lang="en-US" sz="1100" dirty="0">
                <a:solidFill>
                  <a:schemeClr val="tx2"/>
                </a:solidFill>
              </a:rPr>
              <a:t>has_space_group</a:t>
            </a:r>
            <a:endParaRPr lang="en-US" sz="1100" dirty="0"/>
          </a:p>
        </p:txBody>
      </p:sp>
      <p:sp>
        <p:nvSpPr>
          <p:cNvPr id="23" name="node-type-136"/>
          <p:cNvSpPr/>
          <p:nvPr/>
        </p:nvSpPr>
        <p:spPr>
          <a:xfrm>
            <a:off x="480060" y="5486400"/>
            <a:ext cx="1965960" cy="457200"/>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Property class · 11</a:t>
            </a:r>
            <a:endParaRPr lang="en-US" sz="1300" dirty="0"/>
          </a:p>
        </p:txBody>
      </p:sp>
      <p:sp>
        <p:nvSpPr>
          <p:cNvPr id="24" name="text-137"/>
          <p:cNvSpPr txBox="1"/>
          <p:nvPr/>
        </p:nvSpPr>
        <p:spPr>
          <a:xfrm>
            <a:off x="548640" y="4828032"/>
            <a:ext cx="1783080" cy="256032"/>
          </a:xfrm>
          <a:prstGeom prst="rect">
            <a:avLst/>
          </a:prstGeom>
          <a:noFill/>
          <a:ln/>
        </p:spPr>
        <p:txBody>
          <a:bodyPr wrap="square" lIns="0" tIns="0" rIns="0" bIns="0" rtlCol="0" anchor="ctr"/>
          <a:lstStyle/>
          <a:p>
            <a:pPr algn="r" indent="0" marL="0">
              <a:buNone/>
            </a:pPr>
            <a:r>
              <a:rPr lang="en-US" sz="1100" dirty="0">
                <a:solidFill>
                  <a:schemeClr val="tx2"/>
                </a:solidFill>
              </a:rPr>
              <a:t>classified_as</a:t>
            </a:r>
            <a:endParaRPr lang="en-US" sz="1100" dirty="0"/>
          </a:p>
        </p:txBody>
      </p:sp>
      <p:sp>
        <p:nvSpPr>
          <p:cNvPr id="25" name="node-type-138"/>
          <p:cNvSpPr/>
          <p:nvPr/>
        </p:nvSpPr>
        <p:spPr>
          <a:xfrm>
            <a:off x="2903220" y="5623560"/>
            <a:ext cx="2057400" cy="457200"/>
          </a:xfrm>
          <a:prstGeom prst="roundRect">
            <a:avLst>
              <a:gd name="adj" fmla="val 50000"/>
            </a:avLst>
          </a:prstGeom>
          <a:solidFill>
            <a:schemeClr val="accent6"/>
          </a:solidFill>
          <a:ln/>
        </p:spPr>
        <p:txBody>
          <a:bodyPr wrap="square" lIns="0" tIns="0" rIns="0" bIns="0" rtlCol="0" anchor="ctr"/>
          <a:lstStyle/>
          <a:p>
            <a:pPr algn="ctr" indent="0" marL="0">
              <a:buNone/>
            </a:pPr>
            <a:r>
              <a:rPr lang="en-US" sz="1300" b="1" dirty="0">
                <a:solidFill>
                  <a:schemeClr val="bg1"/>
                </a:solidFill>
              </a:rPr>
              <a:t>Application domain · 5</a:t>
            </a:r>
            <a:endParaRPr lang="en-US" sz="1300" dirty="0"/>
          </a:p>
        </p:txBody>
      </p:sp>
      <p:sp>
        <p:nvSpPr>
          <p:cNvPr id="26" name="text-139"/>
          <p:cNvSpPr txBox="1"/>
          <p:nvPr/>
        </p:nvSpPr>
        <p:spPr>
          <a:xfrm>
            <a:off x="4041648" y="4754880"/>
            <a:ext cx="1463040" cy="256032"/>
          </a:xfrm>
          <a:prstGeom prst="rect">
            <a:avLst/>
          </a:prstGeom>
          <a:noFill/>
          <a:ln/>
        </p:spPr>
        <p:txBody>
          <a:bodyPr wrap="square" lIns="0" tIns="0" rIns="0" bIns="0" rtlCol="0" anchor="ctr"/>
          <a:lstStyle/>
          <a:p>
            <a:pPr algn="l" indent="0" marL="0">
              <a:buNone/>
            </a:pPr>
            <a:r>
              <a:rPr lang="en-US" sz="1100" dirty="0">
                <a:solidFill>
                  <a:schemeClr val="tx2"/>
                </a:solidFill>
              </a:rPr>
              <a:t>suitable_for + rule</a:t>
            </a:r>
            <a:endParaRPr lang="en-US" sz="1100" dirty="0"/>
          </a:p>
        </p:txBody>
      </p:sp>
      <p:sp>
        <p:nvSpPr>
          <p:cNvPr id="27" name="node-type-140"/>
          <p:cNvSpPr/>
          <p:nvPr/>
        </p:nvSpPr>
        <p:spPr>
          <a:xfrm>
            <a:off x="5417820" y="5623560"/>
            <a:ext cx="196596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Material</a:t>
            </a:r>
            <a:endParaRPr lang="en-US" sz="1300" dirty="0"/>
          </a:p>
        </p:txBody>
      </p:sp>
      <p:sp>
        <p:nvSpPr>
          <p:cNvPr id="28" name="text-141"/>
          <p:cNvSpPr txBox="1"/>
          <p:nvPr/>
        </p:nvSpPr>
        <p:spPr>
          <a:xfrm>
            <a:off x="4069080" y="5230368"/>
            <a:ext cx="1554480" cy="256032"/>
          </a:xfrm>
          <a:prstGeom prst="rect">
            <a:avLst/>
          </a:prstGeom>
          <a:noFill/>
          <a:ln/>
        </p:spPr>
        <p:txBody>
          <a:bodyPr wrap="square" lIns="0" tIns="0" rIns="0" bIns="0" rtlCol="0" anchor="ctr"/>
          <a:lstStyle/>
          <a:p>
            <a:pPr algn="r" indent="0" marL="0">
              <a:buNone/>
            </a:pPr>
            <a:r>
              <a:rPr lang="en-US" sz="1100" dirty="0">
                <a:solidFill>
                  <a:schemeClr val="tx2"/>
                </a:solidFill>
              </a:rPr>
              <a:t>similar_to (weight)</a:t>
            </a:r>
            <a:endParaRPr lang="en-US" sz="1100" dirty="0"/>
          </a:p>
        </p:txBody>
      </p:sp>
      <p:sp>
        <p:nvSpPr>
          <p:cNvPr id="29" name="pill-142"/>
          <p:cNvSpPr/>
          <p:nvPr/>
        </p:nvSpPr>
        <p:spPr>
          <a:xfrm>
            <a:off x="5966460" y="4617720"/>
            <a:ext cx="1965960" cy="457200"/>
          </a:xfrm>
          <a:prstGeom prst="roundRect">
            <a:avLst>
              <a:gd name="adj" fmla="val 50000"/>
            </a:avLst>
          </a:prstGeom>
          <a:solidFill>
            <a:schemeClr val="accent5"/>
          </a:solidFill>
          <a:ln/>
        </p:spPr>
        <p:txBody>
          <a:bodyPr wrap="square" lIns="0" tIns="0" rIns="0" bIns="0" rtlCol="0" anchor="ctr"/>
          <a:lstStyle/>
          <a:p>
            <a:pPr algn="ctr" indent="0" marL="0">
              <a:buNone/>
            </a:pPr>
            <a:r>
              <a:rPr lang="en-US" sz="1300" b="1" dirty="0">
                <a:solidFill>
                  <a:schemeClr val="bg1"/>
                </a:solidFill>
              </a:rPr>
              <a:t>Crystal system · 7</a:t>
            </a:r>
            <a:endParaRPr lang="en-US" sz="1300" dirty="0"/>
          </a:p>
        </p:txBody>
      </p:sp>
      <p:sp>
        <p:nvSpPr>
          <p:cNvPr id="30" name="text-143"/>
          <p:cNvSpPr txBox="1"/>
          <p:nvPr/>
        </p:nvSpPr>
        <p:spPr>
          <a:xfrm>
            <a:off x="7040880" y="4206240"/>
            <a:ext cx="1005840" cy="256032"/>
          </a:xfrm>
          <a:prstGeom prst="rect">
            <a:avLst/>
          </a:prstGeom>
          <a:noFill/>
          <a:ln/>
        </p:spPr>
        <p:txBody>
          <a:bodyPr wrap="square" lIns="0" tIns="0" rIns="0" bIns="0" rtlCol="0" anchor="ctr"/>
          <a:lstStyle/>
          <a:p>
            <a:pPr indent="0" marL="0">
              <a:buNone/>
            </a:pPr>
            <a:r>
              <a:rPr lang="en-US" sz="1100" dirty="0">
                <a:solidFill>
                  <a:schemeClr val="tx2"/>
                </a:solidFill>
              </a:rPr>
              <a:t>crystal_system</a:t>
            </a:r>
            <a:endParaRPr lang="en-US" sz="1100" dirty="0"/>
          </a:p>
        </p:txBody>
      </p:sp>
      <p:sp>
        <p:nvSpPr>
          <p:cNvPr id="31" name="pill-144"/>
          <p:cNvSpPr/>
          <p:nvPr/>
        </p:nvSpPr>
        <p:spPr>
          <a:xfrm>
            <a:off x="3017520" y="3511296"/>
            <a:ext cx="1828800" cy="658368"/>
          </a:xfrm>
          <a:prstGeom prst="roundRect">
            <a:avLst>
              <a:gd name="adj" fmla="val 50000"/>
            </a:avLst>
          </a:prstGeom>
          <a:solidFill>
            <a:schemeClr val="accent1"/>
          </a:solidFill>
          <a:ln/>
        </p:spPr>
        <p:txBody>
          <a:bodyPr wrap="square" lIns="0" tIns="0" rIns="0" bIns="0" rtlCol="0" anchor="ctr"/>
          <a:lstStyle/>
          <a:p>
            <a:pPr algn="ctr" indent="0" marL="0">
              <a:buNone/>
            </a:pPr>
            <a:r>
              <a:rPr lang="en-US" sz="1700" b="1" dirty="0">
                <a:solidFill>
                  <a:schemeClr val="bg1"/>
                </a:solidFill>
              </a:rPr>
              <a:t>Material · 794</a:t>
            </a:r>
            <a:endParaRPr lang="en-US" sz="1700" dirty="0"/>
          </a:p>
        </p:txBody>
      </p:sp>
      <p:sp>
        <p:nvSpPr>
          <p:cNvPr id="32" name="principle-card-145"/>
          <p:cNvSpPr/>
          <p:nvPr/>
        </p:nvSpPr>
        <p:spPr>
          <a:xfrm>
            <a:off x="8229600" y="1463040"/>
            <a:ext cx="3383280" cy="4754880"/>
          </a:xfrm>
          <a:prstGeom prst="roundRect">
            <a:avLst>
              <a:gd name="adj" fmla="val 3243"/>
            </a:avLst>
          </a:prstGeom>
          <a:solidFill>
            <a:schemeClr val="bg2"/>
          </a:solidFill>
          <a:ln/>
        </p:spPr>
      </p:sp>
      <p:sp>
        <p:nvSpPr>
          <p:cNvPr id="33" name="text-146"/>
          <p:cNvSpPr txBox="1"/>
          <p:nvPr/>
        </p:nvSpPr>
        <p:spPr>
          <a:xfrm>
            <a:off x="8458200" y="1645920"/>
            <a:ext cx="2926080" cy="365760"/>
          </a:xfrm>
          <a:prstGeom prst="rect">
            <a:avLst/>
          </a:prstGeom>
          <a:noFill/>
          <a:ln/>
        </p:spPr>
        <p:txBody>
          <a:bodyPr wrap="square" lIns="0" tIns="0" rIns="0" bIns="0" rtlCol="0" anchor="t"/>
          <a:lstStyle/>
          <a:p>
            <a:pPr indent="0" marL="0">
              <a:buNone/>
            </a:pPr>
            <a:r>
              <a:rPr lang="en-US" sz="1800" b="1" dirty="0">
                <a:solidFill>
                  <a:schemeClr val="tx1"/>
                </a:solidFill>
              </a:rPr>
              <a:t>Design principle</a:t>
            </a:r>
            <a:endParaRPr lang="en-US" sz="1800" dirty="0"/>
          </a:p>
        </p:txBody>
      </p:sp>
      <p:sp>
        <p:nvSpPr>
          <p:cNvPr id="34" name="icon-bg-147"/>
          <p:cNvSpPr/>
          <p:nvPr/>
        </p:nvSpPr>
        <p:spPr>
          <a:xfrm>
            <a:off x="8458200" y="2194560"/>
            <a:ext cx="457200" cy="457200"/>
          </a:xfrm>
          <a:prstGeom prst="ellipse">
            <a:avLst/>
          </a:prstGeom>
          <a:solidFill>
            <a:schemeClr val="accent1"/>
          </a:solidFill>
          <a:ln/>
        </p:spPr>
      </p:sp>
      <p:pic>
        <p:nvPicPr>
          <p:cNvPr id="35" name="icon-148" descr="preencoded.png">    </p:cNvPr>
          <p:cNvPicPr>
            <a:picLocks noChangeAspect="1"/>
          </p:cNvPicPr>
          <p:nvPr/>
        </p:nvPicPr>
        <p:blipFill>
          <a:blip r:embed="rId1"/>
          <a:stretch>
            <a:fillRect/>
          </a:stretch>
        </p:blipFill>
        <p:spPr>
          <a:xfrm>
            <a:off x="8567928" y="2304288"/>
            <a:ext cx="237744" cy="237744"/>
          </a:xfrm>
          <a:prstGeom prst="rect">
            <a:avLst/>
          </a:prstGeom>
        </p:spPr>
      </p:pic>
      <p:sp>
        <p:nvSpPr>
          <p:cNvPr id="36" name="text-149"/>
          <p:cNvSpPr txBox="1"/>
          <p:nvPr/>
        </p:nvSpPr>
        <p:spPr>
          <a:xfrm>
            <a:off x="9052560" y="2194560"/>
            <a:ext cx="2423160" cy="365760"/>
          </a:xfrm>
          <a:prstGeom prst="rect">
            <a:avLst/>
          </a:prstGeom>
          <a:noFill/>
          <a:ln/>
        </p:spPr>
        <p:txBody>
          <a:bodyPr wrap="square" lIns="0" tIns="0" rIns="0" bIns="0" rtlCol="0" anchor="ctr"/>
          <a:lstStyle/>
          <a:p>
            <a:pPr indent="0" marL="0">
              <a:buNone/>
            </a:pPr>
            <a:r>
              <a:rPr lang="en-US" sz="1500" b="1" dirty="0">
                <a:solidFill>
                  <a:schemeClr val="tx1"/>
                </a:solidFill>
              </a:rPr>
              <a:t>Values stay attributes</a:t>
            </a:r>
            <a:endParaRPr lang="en-US" sz="1500" dirty="0"/>
          </a:p>
        </p:txBody>
      </p:sp>
      <p:sp>
        <p:nvSpPr>
          <p:cNvPr id="37" name="text-150"/>
          <p:cNvSpPr txBox="1"/>
          <p:nvPr/>
        </p:nvSpPr>
        <p:spPr>
          <a:xfrm>
            <a:off x="9052560" y="2578608"/>
            <a:ext cx="2423160" cy="868680"/>
          </a:xfrm>
          <a:prstGeom prst="rect">
            <a:avLst/>
          </a:prstGeom>
          <a:noFill/>
          <a:ln/>
        </p:spPr>
        <p:txBody>
          <a:bodyPr wrap="square" lIns="0" tIns="0" rIns="0" bIns="0" rtlCol="0" anchor="t"/>
          <a:lstStyle/>
          <a:p>
            <a:pPr indent="0" marL="0">
              <a:buNone/>
            </a:pPr>
            <a:r>
              <a:rPr lang="en-US" sz="1300" dirty="0">
                <a:solidFill>
                  <a:schemeClr val="tx2"/>
                </a:solidFill>
              </a:rPr>
              <a:t>Exact band gap, density and moduli live on the Material node, for filtering.</a:t>
            </a:r>
            <a:endParaRPr lang="en-US" sz="1300" dirty="0"/>
          </a:p>
        </p:txBody>
      </p:sp>
      <p:sp>
        <p:nvSpPr>
          <p:cNvPr id="38" name="icon-bg-151"/>
          <p:cNvSpPr/>
          <p:nvPr/>
        </p:nvSpPr>
        <p:spPr>
          <a:xfrm>
            <a:off x="8458200" y="3520440"/>
            <a:ext cx="457200" cy="457200"/>
          </a:xfrm>
          <a:prstGeom prst="ellipse">
            <a:avLst/>
          </a:prstGeom>
          <a:solidFill>
            <a:schemeClr val="accent2"/>
          </a:solidFill>
          <a:ln/>
        </p:spPr>
      </p:sp>
      <p:pic>
        <p:nvPicPr>
          <p:cNvPr id="39" name="icon-152" descr="preencoded.png">    </p:cNvPr>
          <p:cNvPicPr>
            <a:picLocks noChangeAspect="1"/>
          </p:cNvPicPr>
          <p:nvPr/>
        </p:nvPicPr>
        <p:blipFill>
          <a:blip r:embed="rId2"/>
          <a:stretch>
            <a:fillRect/>
          </a:stretch>
        </p:blipFill>
        <p:spPr>
          <a:xfrm>
            <a:off x="8567928" y="3630168"/>
            <a:ext cx="237744" cy="237744"/>
          </a:xfrm>
          <a:prstGeom prst="rect">
            <a:avLst/>
          </a:prstGeom>
        </p:spPr>
      </p:pic>
      <p:sp>
        <p:nvSpPr>
          <p:cNvPr id="40" name="text-153"/>
          <p:cNvSpPr txBox="1"/>
          <p:nvPr/>
        </p:nvSpPr>
        <p:spPr>
          <a:xfrm>
            <a:off x="9052560" y="3520440"/>
            <a:ext cx="2423160" cy="365760"/>
          </a:xfrm>
          <a:prstGeom prst="rect">
            <a:avLst/>
          </a:prstGeom>
          <a:noFill/>
          <a:ln/>
        </p:spPr>
        <p:txBody>
          <a:bodyPr wrap="square" lIns="0" tIns="0" rIns="0" bIns="0" rtlCol="0" anchor="ctr"/>
          <a:lstStyle/>
          <a:p>
            <a:pPr indent="0" marL="0">
              <a:buNone/>
            </a:pPr>
            <a:r>
              <a:rPr lang="en-US" sz="1500" b="1" dirty="0">
                <a:solidFill>
                  <a:schemeClr val="tx1"/>
                </a:solidFill>
              </a:rPr>
              <a:t>Groups become nodes</a:t>
            </a:r>
            <a:endParaRPr lang="en-US" sz="1500" dirty="0"/>
          </a:p>
        </p:txBody>
      </p:sp>
      <p:sp>
        <p:nvSpPr>
          <p:cNvPr id="41" name="text-154"/>
          <p:cNvSpPr txBox="1"/>
          <p:nvPr/>
        </p:nvSpPr>
        <p:spPr>
          <a:xfrm>
            <a:off x="9052560" y="3904488"/>
            <a:ext cx="2423160" cy="868680"/>
          </a:xfrm>
          <a:prstGeom prst="rect">
            <a:avLst/>
          </a:prstGeom>
          <a:noFill/>
          <a:ln/>
        </p:spPr>
        <p:txBody>
          <a:bodyPr wrap="square" lIns="0" tIns="0" rIns="0" bIns="0" rtlCol="0" anchor="t"/>
          <a:lstStyle/>
          <a:p>
            <a:pPr indent="0" marL="0">
              <a:buNone/>
            </a:pPr>
            <a:r>
              <a:rPr lang="en-US" sz="1300" dirty="0">
                <a:solidFill>
                  <a:schemeClr val="tx2"/>
                </a:solidFill>
              </a:rPr>
              <a:t>Anything used to group or traverse (element, space group, class…) is a shared hub.</a:t>
            </a:r>
            <a:endParaRPr lang="en-US" sz="1300" dirty="0"/>
          </a:p>
        </p:txBody>
      </p:sp>
      <p:sp>
        <p:nvSpPr>
          <p:cNvPr id="42" name="icon-bg-155"/>
          <p:cNvSpPr/>
          <p:nvPr/>
        </p:nvSpPr>
        <p:spPr>
          <a:xfrm>
            <a:off x="8458200" y="4846320"/>
            <a:ext cx="457200" cy="457200"/>
          </a:xfrm>
          <a:prstGeom prst="ellipse">
            <a:avLst/>
          </a:prstGeom>
          <a:solidFill>
            <a:schemeClr val="accent3"/>
          </a:solidFill>
          <a:ln/>
        </p:spPr>
      </p:sp>
      <p:pic>
        <p:nvPicPr>
          <p:cNvPr id="43" name="icon-156" descr="preencoded.png">    </p:cNvPr>
          <p:cNvPicPr>
            <a:picLocks noChangeAspect="1"/>
          </p:cNvPicPr>
          <p:nvPr/>
        </p:nvPicPr>
        <p:blipFill>
          <a:blip r:embed="rId3"/>
          <a:stretch>
            <a:fillRect/>
          </a:stretch>
        </p:blipFill>
        <p:spPr>
          <a:xfrm>
            <a:off x="8567928" y="4956048"/>
            <a:ext cx="237744" cy="237744"/>
          </a:xfrm>
          <a:prstGeom prst="rect">
            <a:avLst/>
          </a:prstGeom>
        </p:spPr>
      </p:pic>
      <p:sp>
        <p:nvSpPr>
          <p:cNvPr id="44" name="text-157"/>
          <p:cNvSpPr txBox="1"/>
          <p:nvPr/>
        </p:nvSpPr>
        <p:spPr>
          <a:xfrm>
            <a:off x="9052560" y="4846320"/>
            <a:ext cx="2423160" cy="365760"/>
          </a:xfrm>
          <a:prstGeom prst="rect">
            <a:avLst/>
          </a:prstGeom>
          <a:noFill/>
          <a:ln/>
        </p:spPr>
        <p:txBody>
          <a:bodyPr wrap="square" lIns="0" tIns="0" rIns="0" bIns="0" rtlCol="0" anchor="ctr"/>
          <a:lstStyle/>
          <a:p>
            <a:pPr indent="0" marL="0">
              <a:buNone/>
            </a:pPr>
            <a:r>
              <a:rPr lang="en-US" sz="1500" b="1" dirty="0">
                <a:solidFill>
                  <a:schemeClr val="tx1"/>
                </a:solidFill>
              </a:rPr>
              <a:t>Relations carry evidence</a:t>
            </a:r>
            <a:endParaRPr lang="en-US" sz="1500" dirty="0"/>
          </a:p>
        </p:txBody>
      </p:sp>
      <p:sp>
        <p:nvSpPr>
          <p:cNvPr id="45" name="text-158"/>
          <p:cNvSpPr txBox="1"/>
          <p:nvPr/>
        </p:nvSpPr>
        <p:spPr>
          <a:xfrm>
            <a:off x="9052560" y="5230368"/>
            <a:ext cx="2423160" cy="868680"/>
          </a:xfrm>
          <a:prstGeom prst="rect">
            <a:avLst/>
          </a:prstGeom>
          <a:noFill/>
          <a:ln/>
        </p:spPr>
        <p:txBody>
          <a:bodyPr wrap="square" lIns="0" tIns="0" rIns="0" bIns="0" rtlCol="0" anchor="t"/>
          <a:lstStyle/>
          <a:p>
            <a:pPr indent="0" marL="0">
              <a:buNone/>
            </a:pPr>
            <a:r>
              <a:rPr lang="en-US" sz="1300" dirty="0">
                <a:solidFill>
                  <a:schemeClr val="tx2"/>
                </a:solidFill>
              </a:rPr>
              <a:t>similar_to keeps its cosine weight; suitable_for keeps the rule text that fired.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CONSTRUCTION</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Construction pipeline: deterministic, no LLM</a:t>
            </a:r>
            <a:endParaRPr lang="en-US" sz="3200" dirty="0"/>
          </a:p>
        </p:txBody>
      </p:sp>
      <p:sp>
        <p:nvSpPr>
          <p:cNvPr id="4" name="pipeline-step-159"/>
          <p:cNvSpPr/>
          <p:nvPr/>
        </p:nvSpPr>
        <p:spPr>
          <a:xfrm>
            <a:off x="548640" y="1508760"/>
            <a:ext cx="2514600" cy="3657600"/>
          </a:xfrm>
          <a:prstGeom prst="roundRect">
            <a:avLst>
              <a:gd name="adj" fmla="val 4364"/>
            </a:avLst>
          </a:prstGeom>
          <a:solidFill>
            <a:schemeClr val="bg2"/>
          </a:solidFill>
          <a:ln/>
        </p:spPr>
      </p:sp>
      <p:sp>
        <p:nvSpPr>
          <p:cNvPr id="5" name="num-160"/>
          <p:cNvSpPr/>
          <p:nvPr/>
        </p:nvSpPr>
        <p:spPr>
          <a:xfrm>
            <a:off x="777240" y="178308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161"/>
          <p:cNvSpPr txBox="1"/>
          <p:nvPr/>
        </p:nvSpPr>
        <p:spPr>
          <a:xfrm>
            <a:off x="1463040" y="1764792"/>
            <a:ext cx="1417320" cy="365760"/>
          </a:xfrm>
          <a:prstGeom prst="rect">
            <a:avLst/>
          </a:prstGeom>
          <a:noFill/>
          <a:ln/>
        </p:spPr>
        <p:txBody>
          <a:bodyPr wrap="square" lIns="0" tIns="0" rIns="0" bIns="0" rtlCol="0" anchor="ctr"/>
          <a:lstStyle/>
          <a:p>
            <a:pPr indent="0" marL="0">
              <a:buNone/>
            </a:pPr>
            <a:r>
              <a:rPr lang="en-US" sz="2000" b="1" dirty="0">
                <a:solidFill>
                  <a:schemeClr val="tx1"/>
                </a:solidFill>
              </a:rPr>
              <a:t>Fetch</a:t>
            </a:r>
            <a:endParaRPr lang="en-US" sz="2000" dirty="0"/>
          </a:p>
        </p:txBody>
      </p:sp>
      <p:sp>
        <p:nvSpPr>
          <p:cNvPr id="7" name="text-162"/>
          <p:cNvSpPr txBox="1"/>
          <p:nvPr/>
        </p:nvSpPr>
        <p:spPr>
          <a:xfrm>
            <a:off x="1463040" y="2112264"/>
            <a:ext cx="1417320" cy="27432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mp_client.py</a:t>
            </a:r>
            <a:endParaRPr lang="en-US" sz="1200" dirty="0"/>
          </a:p>
        </p:txBody>
      </p:sp>
      <p:sp>
        <p:nvSpPr>
          <p:cNvPr id="8" name="text-163"/>
          <p:cNvSpPr txBox="1"/>
          <p:nvPr/>
        </p:nvSpPr>
        <p:spPr>
          <a:xfrm>
            <a:off x="777240" y="2606040"/>
            <a:ext cx="21031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One query per cluster sub-pattern</a:t>
            </a:r>
            <a:endParaRPr lang="en-US" sz="1400" dirty="0"/>
          </a:p>
          <a:p>
            <a:pPr marL="342900" indent="-342900">
              <a:spcAft>
                <a:spcPts val="800"/>
              </a:spcAft>
              <a:buSzPct val="100000"/>
              <a:buChar char="•"/>
            </a:pPr>
            <a:r>
              <a:rPr lang="en-US" sz="1400" dirty="0">
                <a:solidFill>
                  <a:schemeClr val="tx1"/>
                </a:solidFill>
              </a:rPr>
              <a:t>Dedupe by formula across clusters</a:t>
            </a:r>
            <a:endParaRPr lang="en-US" sz="1400" dirty="0"/>
          </a:p>
          <a:p>
            <a:pPr marL="342900" indent="-342900">
              <a:spcAft>
                <a:spcPts val="800"/>
              </a:spcAft>
              <a:buSzPct val="100000"/>
              <a:buChar char="•"/>
            </a:pPr>
            <a:r>
              <a:rPr lang="en-US" sz="1400" dirty="0">
                <a:solidFill>
                  <a:schemeClr val="tx1"/>
                </a:solidFill>
              </a:rPr>
              <a:t>Batch-fetch robocrys text</a:t>
            </a:r>
            <a:endParaRPr lang="en-US" sz="1400" dirty="0"/>
          </a:p>
        </p:txBody>
      </p:sp>
      <p:sp>
        <p:nvSpPr>
          <p:cNvPr id="9" name="arrow-164"/>
          <p:cNvSpPr/>
          <p:nvPr/>
        </p:nvSpPr>
        <p:spPr>
          <a:xfrm>
            <a:off x="3136392" y="3154680"/>
            <a:ext cx="201168" cy="365760"/>
          </a:xfrm>
          <a:prstGeom prst="chevron">
            <a:avLst/>
          </a:prstGeom>
          <a:solidFill>
            <a:schemeClr val="tx2"/>
          </a:solidFill>
          <a:ln/>
        </p:spPr>
      </p:sp>
      <p:sp>
        <p:nvSpPr>
          <p:cNvPr id="10" name="pipeline-step-165"/>
          <p:cNvSpPr/>
          <p:nvPr/>
        </p:nvSpPr>
        <p:spPr>
          <a:xfrm>
            <a:off x="3401568" y="1508760"/>
            <a:ext cx="2514600" cy="3657600"/>
          </a:xfrm>
          <a:prstGeom prst="roundRect">
            <a:avLst>
              <a:gd name="adj" fmla="val 4364"/>
            </a:avLst>
          </a:prstGeom>
          <a:solidFill>
            <a:schemeClr val="bg2"/>
          </a:solidFill>
          <a:ln/>
        </p:spPr>
      </p:sp>
      <p:sp>
        <p:nvSpPr>
          <p:cNvPr id="11" name="num-166"/>
          <p:cNvSpPr/>
          <p:nvPr/>
        </p:nvSpPr>
        <p:spPr>
          <a:xfrm>
            <a:off x="3630168" y="178308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167"/>
          <p:cNvSpPr txBox="1"/>
          <p:nvPr/>
        </p:nvSpPr>
        <p:spPr>
          <a:xfrm>
            <a:off x="4315968" y="1764792"/>
            <a:ext cx="1417320" cy="365760"/>
          </a:xfrm>
          <a:prstGeom prst="rect">
            <a:avLst/>
          </a:prstGeom>
          <a:noFill/>
          <a:ln/>
        </p:spPr>
        <p:txBody>
          <a:bodyPr wrap="square" lIns="0" tIns="0" rIns="0" bIns="0" rtlCol="0" anchor="ctr"/>
          <a:lstStyle/>
          <a:p>
            <a:pPr indent="0" marL="0">
              <a:buNone/>
            </a:pPr>
            <a:r>
              <a:rPr lang="en-US" sz="2000" b="1" dirty="0">
                <a:solidFill>
                  <a:schemeClr val="tx1"/>
                </a:solidFill>
              </a:rPr>
              <a:t>Enrich</a:t>
            </a:r>
            <a:endParaRPr lang="en-US" sz="2000" dirty="0"/>
          </a:p>
        </p:txBody>
      </p:sp>
      <p:sp>
        <p:nvSpPr>
          <p:cNvPr id="13" name="text-168"/>
          <p:cNvSpPr txBox="1"/>
          <p:nvPr/>
        </p:nvSpPr>
        <p:spPr>
          <a:xfrm>
            <a:off x="4315968" y="2112264"/>
            <a:ext cx="1417320" cy="27432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enrich.py</a:t>
            </a:r>
            <a:endParaRPr lang="en-US" sz="1200" dirty="0"/>
          </a:p>
        </p:txBody>
      </p:sp>
      <p:sp>
        <p:nvSpPr>
          <p:cNvPr id="14" name="text-169"/>
          <p:cNvSpPr txBox="1"/>
          <p:nvPr/>
        </p:nvSpPr>
        <p:spPr>
          <a:xfrm>
            <a:off x="3630168" y="2606040"/>
            <a:ext cx="21031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Bucket band gap, stability, magnetism</a:t>
            </a:r>
            <a:endParaRPr lang="en-US" sz="1400" dirty="0"/>
          </a:p>
          <a:p>
            <a:pPr marL="342900" indent="-342900">
              <a:spcAft>
                <a:spcPts val="800"/>
              </a:spcAft>
              <a:buSzPct val="100000"/>
              <a:buChar char="•"/>
            </a:pPr>
            <a:r>
              <a:rPr lang="en-US" sz="1400" dirty="0">
                <a:solidFill>
                  <a:schemeClr val="tx1"/>
                </a:solidFill>
              </a:rPr>
              <a:t>Fire domain rules, keep the rule text</a:t>
            </a:r>
            <a:endParaRPr lang="en-US" sz="1400" dirty="0"/>
          </a:p>
          <a:p>
            <a:pPr marL="342900" indent="-342900">
              <a:spcAft>
                <a:spcPts val="800"/>
              </a:spcAft>
              <a:buSzPct val="100000"/>
              <a:buChar char="•"/>
            </a:pPr>
            <a:r>
              <a:rPr lang="en-US" sz="1400" dirty="0">
                <a:solidFill>
                  <a:schemeClr val="tx1"/>
                </a:solidFill>
              </a:rPr>
              <a:t>Top-5 similar_to on a 10-d z-scored vector</a:t>
            </a:r>
            <a:endParaRPr lang="en-US" sz="1400" dirty="0"/>
          </a:p>
        </p:txBody>
      </p:sp>
      <p:sp>
        <p:nvSpPr>
          <p:cNvPr id="15" name="arrow-170"/>
          <p:cNvSpPr/>
          <p:nvPr/>
        </p:nvSpPr>
        <p:spPr>
          <a:xfrm>
            <a:off x="5989320" y="3154680"/>
            <a:ext cx="201168" cy="365760"/>
          </a:xfrm>
          <a:prstGeom prst="chevron">
            <a:avLst/>
          </a:prstGeom>
          <a:solidFill>
            <a:schemeClr val="tx2"/>
          </a:solidFill>
          <a:ln/>
        </p:spPr>
      </p:sp>
      <p:sp>
        <p:nvSpPr>
          <p:cNvPr id="16" name="pipeline-step-171"/>
          <p:cNvSpPr/>
          <p:nvPr/>
        </p:nvSpPr>
        <p:spPr>
          <a:xfrm>
            <a:off x="6254496" y="1508760"/>
            <a:ext cx="2514600" cy="3657600"/>
          </a:xfrm>
          <a:prstGeom prst="roundRect">
            <a:avLst>
              <a:gd name="adj" fmla="val 4364"/>
            </a:avLst>
          </a:prstGeom>
          <a:solidFill>
            <a:schemeClr val="bg2"/>
          </a:solidFill>
          <a:ln/>
        </p:spPr>
      </p:sp>
      <p:sp>
        <p:nvSpPr>
          <p:cNvPr id="17" name="num-172"/>
          <p:cNvSpPr/>
          <p:nvPr/>
        </p:nvSpPr>
        <p:spPr>
          <a:xfrm>
            <a:off x="6483096" y="1783080"/>
            <a:ext cx="548640" cy="54864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173"/>
          <p:cNvSpPr txBox="1"/>
          <p:nvPr/>
        </p:nvSpPr>
        <p:spPr>
          <a:xfrm>
            <a:off x="7168896" y="1764792"/>
            <a:ext cx="1417320" cy="365760"/>
          </a:xfrm>
          <a:prstGeom prst="rect">
            <a:avLst/>
          </a:prstGeom>
          <a:noFill/>
          <a:ln/>
        </p:spPr>
        <p:txBody>
          <a:bodyPr wrap="square" lIns="0" tIns="0" rIns="0" bIns="0" rtlCol="0" anchor="ctr"/>
          <a:lstStyle/>
          <a:p>
            <a:pPr indent="0" marL="0">
              <a:buNone/>
            </a:pPr>
            <a:r>
              <a:rPr lang="en-US" sz="2000" b="1" dirty="0">
                <a:solidFill>
                  <a:schemeClr val="tx1"/>
                </a:solidFill>
              </a:rPr>
              <a:t>Write</a:t>
            </a:r>
            <a:endParaRPr lang="en-US" sz="2000" dirty="0"/>
          </a:p>
        </p:txBody>
      </p:sp>
      <p:sp>
        <p:nvSpPr>
          <p:cNvPr id="19" name="text-174"/>
          <p:cNvSpPr txBox="1"/>
          <p:nvPr/>
        </p:nvSpPr>
        <p:spPr>
          <a:xfrm>
            <a:off x="7168896" y="2112264"/>
            <a:ext cx="1417320" cy="27432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pipeline.py</a:t>
            </a:r>
            <a:endParaRPr lang="en-US" sz="1200" dirty="0"/>
          </a:p>
        </p:txBody>
      </p:sp>
      <p:sp>
        <p:nvSpPr>
          <p:cNvPr id="20" name="text-175"/>
          <p:cNvSpPr txBox="1"/>
          <p:nvPr/>
        </p:nvSpPr>
        <p:spPr>
          <a:xfrm>
            <a:off x="6483096" y="2606040"/>
            <a:ext cx="21031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Cognee DataPoint pipeline</a:t>
            </a:r>
            <a:endParaRPr lang="en-US" sz="1400" dirty="0"/>
          </a:p>
          <a:p>
            <a:pPr marL="342900" indent="-342900">
              <a:spcAft>
                <a:spcPts val="800"/>
              </a:spcAft>
              <a:buSzPct val="100000"/>
              <a:buChar char="•"/>
            </a:pPr>
            <a:r>
              <a:rPr lang="en-US" sz="1400" dirty="0">
                <a:solidFill>
                  <a:schemeClr val="tx1"/>
                </a:solidFill>
              </a:rPr>
              <a:t>Identity keys dedupe shared hubs</a:t>
            </a:r>
            <a:endParaRPr lang="en-US" sz="1400" dirty="0"/>
          </a:p>
          <a:p>
            <a:pPr marL="342900" indent="-342900">
              <a:spcAft>
                <a:spcPts val="800"/>
              </a:spcAft>
              <a:buSzPct val="100000"/>
              <a:buChar char="•"/>
            </a:pPr>
            <a:r>
              <a:rPr lang="en-US" sz="1400" dirty="0">
                <a:solidFill>
                  <a:schemeClr val="tx1"/>
                </a:solidFill>
              </a:rPr>
              <a:t>Graph and vectors written together</a:t>
            </a:r>
            <a:endParaRPr lang="en-US" sz="1400" dirty="0"/>
          </a:p>
        </p:txBody>
      </p:sp>
      <p:sp>
        <p:nvSpPr>
          <p:cNvPr id="21" name="arrow-176"/>
          <p:cNvSpPr/>
          <p:nvPr/>
        </p:nvSpPr>
        <p:spPr>
          <a:xfrm>
            <a:off x="8842248" y="3154680"/>
            <a:ext cx="201168" cy="365760"/>
          </a:xfrm>
          <a:prstGeom prst="chevron">
            <a:avLst/>
          </a:prstGeom>
          <a:solidFill>
            <a:schemeClr val="tx2"/>
          </a:solidFill>
          <a:ln/>
        </p:spPr>
      </p:sp>
      <p:sp>
        <p:nvSpPr>
          <p:cNvPr id="22" name="pipeline-step-177"/>
          <p:cNvSpPr/>
          <p:nvPr/>
        </p:nvSpPr>
        <p:spPr>
          <a:xfrm>
            <a:off x="9107424" y="1508760"/>
            <a:ext cx="2514600" cy="3657600"/>
          </a:xfrm>
          <a:prstGeom prst="roundRect">
            <a:avLst>
              <a:gd name="adj" fmla="val 4364"/>
            </a:avLst>
          </a:prstGeom>
          <a:solidFill>
            <a:schemeClr val="bg2"/>
          </a:solidFill>
          <a:ln/>
        </p:spPr>
      </p:sp>
      <p:sp>
        <p:nvSpPr>
          <p:cNvPr id="23" name="num-178"/>
          <p:cNvSpPr/>
          <p:nvPr/>
        </p:nvSpPr>
        <p:spPr>
          <a:xfrm>
            <a:off x="9336024" y="1783080"/>
            <a:ext cx="548640" cy="54864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text-179"/>
          <p:cNvSpPr txBox="1"/>
          <p:nvPr/>
        </p:nvSpPr>
        <p:spPr>
          <a:xfrm>
            <a:off x="10021824" y="1764792"/>
            <a:ext cx="1417320" cy="365760"/>
          </a:xfrm>
          <a:prstGeom prst="rect">
            <a:avLst/>
          </a:prstGeom>
          <a:noFill/>
          <a:ln/>
        </p:spPr>
        <p:txBody>
          <a:bodyPr wrap="square" lIns="0" tIns="0" rIns="0" bIns="0" rtlCol="0" anchor="ctr"/>
          <a:lstStyle/>
          <a:p>
            <a:pPr indent="0" marL="0">
              <a:buNone/>
            </a:pPr>
            <a:r>
              <a:rPr lang="en-US" sz="2000" b="1" dirty="0">
                <a:solidFill>
                  <a:schemeClr val="tx1"/>
                </a:solidFill>
              </a:rPr>
              <a:t>Verify</a:t>
            </a:r>
            <a:endParaRPr lang="en-US" sz="2000" dirty="0"/>
          </a:p>
        </p:txBody>
      </p:sp>
      <p:sp>
        <p:nvSpPr>
          <p:cNvPr id="25" name="text-180"/>
          <p:cNvSpPr txBox="1"/>
          <p:nvPr/>
        </p:nvSpPr>
        <p:spPr>
          <a:xfrm>
            <a:off x="10021824" y="2112264"/>
            <a:ext cx="1417320" cy="27432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verify.py</a:t>
            </a:r>
            <a:endParaRPr lang="en-US" sz="1200" dirty="0"/>
          </a:p>
        </p:txBody>
      </p:sp>
      <p:sp>
        <p:nvSpPr>
          <p:cNvPr id="26" name="text-181"/>
          <p:cNvSpPr txBox="1"/>
          <p:nvPr/>
        </p:nvSpPr>
        <p:spPr>
          <a:xfrm>
            <a:off x="9336024" y="2606040"/>
            <a:ext cx="21031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Node and edge counts vs manifest</a:t>
            </a:r>
            <a:endParaRPr lang="en-US" sz="1400" dirty="0"/>
          </a:p>
          <a:p>
            <a:pPr marL="342900" indent="-342900">
              <a:spcAft>
                <a:spcPts val="800"/>
              </a:spcAft>
              <a:buSzPct val="100000"/>
              <a:buChar char="•"/>
            </a:pPr>
            <a:r>
              <a:rPr lang="en-US" sz="1400" dirty="0">
                <a:solidFill>
                  <a:schemeClr val="tx1"/>
                </a:solidFill>
              </a:rPr>
              <a:t>Every material has a contains edge</a:t>
            </a:r>
            <a:endParaRPr lang="en-US" sz="1400" dirty="0"/>
          </a:p>
          <a:p>
            <a:pPr marL="342900" indent="-342900">
              <a:spcAft>
                <a:spcPts val="800"/>
              </a:spcAft>
              <a:buSzPct val="100000"/>
              <a:buChar char="•"/>
            </a:pPr>
            <a:r>
              <a:rPr lang="en-US" sz="1400" dirty="0">
                <a:solidFill>
                  <a:schemeClr val="tx1"/>
                </a:solidFill>
              </a:rPr>
              <a:t>Distinct vector collections per field</a:t>
            </a:r>
            <a:endParaRPr lang="en-US" sz="1400" dirty="0"/>
          </a:p>
        </p:txBody>
      </p:sp>
      <p:sp>
        <p:nvSpPr>
          <p:cNvPr id="27" name="text-182"/>
          <p:cNvSpPr txBox="1"/>
          <p:nvPr/>
        </p:nvSpPr>
        <p:spPr>
          <a:xfrm>
            <a:off x="548640" y="5440680"/>
            <a:ext cx="2651760" cy="548640"/>
          </a:xfrm>
          <a:prstGeom prst="rect">
            <a:avLst/>
          </a:prstGeom>
          <a:noFill/>
          <a:ln/>
        </p:spPr>
        <p:txBody>
          <a:bodyPr wrap="square" lIns="0" tIns="0" rIns="0" bIns="0" rtlCol="0" anchor="ctr"/>
          <a:lstStyle/>
          <a:p>
            <a:pPr indent="0" marL="0">
              <a:buNone/>
            </a:pPr>
            <a:r>
              <a:rPr lang="en-US" sz="2400" b="1" dirty="0">
                <a:solidFill>
                  <a:schemeClr val="accent1"/>
                </a:solidFill>
              </a:rPr>
              <a:t>0  </a:t>
            </a:r>
            <a:r>
              <a:rPr lang="en-US" sz="1400" dirty="0">
                <a:solidFill>
                  <a:schemeClr val="tx2"/>
                </a:solidFill>
              </a:rPr>
              <a:t>LLM calls</a:t>
            </a:r>
            <a:endParaRPr lang="en-US" sz="1400" dirty="0"/>
          </a:p>
        </p:txBody>
      </p:sp>
      <p:sp>
        <p:nvSpPr>
          <p:cNvPr id="28" name="text-183"/>
          <p:cNvSpPr txBox="1"/>
          <p:nvPr/>
        </p:nvSpPr>
        <p:spPr>
          <a:xfrm>
            <a:off x="3401568" y="5440680"/>
            <a:ext cx="2651760" cy="548640"/>
          </a:xfrm>
          <a:prstGeom prst="rect">
            <a:avLst/>
          </a:prstGeom>
          <a:noFill/>
          <a:ln/>
        </p:spPr>
        <p:txBody>
          <a:bodyPr wrap="square" lIns="0" tIns="0" rIns="0" bIns="0" rtlCol="0" anchor="ctr"/>
          <a:lstStyle/>
          <a:p>
            <a:pPr indent="0" marL="0">
              <a:buNone/>
            </a:pPr>
            <a:r>
              <a:rPr lang="en-US" sz="2400" b="1" dirty="0">
                <a:solidFill>
                  <a:schemeClr val="accent1"/>
                </a:solidFill>
              </a:rPr>
              <a:t>1,504  </a:t>
            </a:r>
            <a:r>
              <a:rPr lang="en-US" sz="1400" dirty="0">
                <a:solidFill>
                  <a:schemeClr val="tx2"/>
                </a:solidFill>
              </a:rPr>
              <a:t>nodes</a:t>
            </a:r>
            <a:endParaRPr lang="en-US" sz="1400" dirty="0"/>
          </a:p>
        </p:txBody>
      </p:sp>
      <p:sp>
        <p:nvSpPr>
          <p:cNvPr id="29" name="text-184"/>
          <p:cNvSpPr txBox="1"/>
          <p:nvPr/>
        </p:nvSpPr>
        <p:spPr>
          <a:xfrm>
            <a:off x="6254496" y="5440680"/>
            <a:ext cx="2651760" cy="548640"/>
          </a:xfrm>
          <a:prstGeom prst="rect">
            <a:avLst/>
          </a:prstGeom>
          <a:noFill/>
          <a:ln/>
        </p:spPr>
        <p:txBody>
          <a:bodyPr wrap="square" lIns="0" tIns="0" rIns="0" bIns="0" rtlCol="0" anchor="ctr"/>
          <a:lstStyle/>
          <a:p>
            <a:pPr indent="0" marL="0">
              <a:buNone/>
            </a:pPr>
            <a:r>
              <a:rPr lang="en-US" sz="2400" b="1" dirty="0">
                <a:solidFill>
                  <a:schemeClr val="accent1"/>
                </a:solidFill>
              </a:rPr>
              <a:t>14,686  </a:t>
            </a:r>
            <a:r>
              <a:rPr lang="en-US" sz="1400" dirty="0">
                <a:solidFill>
                  <a:schemeClr val="tx2"/>
                </a:solidFill>
              </a:rPr>
              <a:t>edges</a:t>
            </a:r>
            <a:endParaRPr lang="en-US" sz="1400" dirty="0"/>
          </a:p>
        </p:txBody>
      </p:sp>
      <p:sp>
        <p:nvSpPr>
          <p:cNvPr id="30" name="text-185"/>
          <p:cNvSpPr txBox="1"/>
          <p:nvPr/>
        </p:nvSpPr>
        <p:spPr>
          <a:xfrm>
            <a:off x="9107424" y="5440680"/>
            <a:ext cx="2651760" cy="548640"/>
          </a:xfrm>
          <a:prstGeom prst="rect">
            <a:avLst/>
          </a:prstGeom>
          <a:noFill/>
          <a:ln/>
        </p:spPr>
        <p:txBody>
          <a:bodyPr wrap="square" lIns="0" tIns="0" rIns="0" bIns="0" rtlCol="0" anchor="ctr"/>
          <a:lstStyle/>
          <a:p>
            <a:pPr indent="0" marL="0">
              <a:buNone/>
            </a:pPr>
            <a:r>
              <a:rPr lang="en-US" sz="2400" b="1" dirty="0">
                <a:solidFill>
                  <a:schemeClr val="accent1"/>
                </a:solidFill>
              </a:rPr>
              <a:t>794  </a:t>
            </a:r>
            <a:r>
              <a:rPr lang="en-US" sz="1400" dirty="0">
                <a:solidFill>
                  <a:schemeClr val="tx2"/>
                </a:solidFill>
              </a:rPr>
              <a:t>cached JSON records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CONNECTIVITY</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Shared hubs make the graph dense</a:t>
            </a:r>
            <a:endParaRPr lang="en-US" sz="3200" dirty="0"/>
          </a:p>
        </p:txBody>
      </p:sp>
      <p:pic>
        <p:nvPicPr>
          <p:cNvPr id="4" name="explorer-screenshot" descr="/Users/sharveshsivagnanam/development/meta_graph/presentation/assets/explorer_full.jpg">    </p:cNvPr>
          <p:cNvPicPr>
            <a:picLocks noChangeAspect="1"/>
          </p:cNvPicPr>
          <p:nvPr/>
        </p:nvPicPr>
        <p:blipFill>
          <a:blip r:embed="rId1"/>
          <a:stretch>
            <a:fillRect/>
          </a:stretch>
        </p:blipFill>
        <p:spPr>
          <a:xfrm>
            <a:off x="548640" y="1463040"/>
            <a:ext cx="6766560" cy="4229100"/>
          </a:xfrm>
          <a:prstGeom prst="rect">
            <a:avLst/>
          </a:prstGeom>
        </p:spPr>
      </p:pic>
      <p:sp>
        <p:nvSpPr>
          <p:cNvPr id="5" name="text-186"/>
          <p:cNvSpPr txBox="1"/>
          <p:nvPr/>
        </p:nvSpPr>
        <p:spPr>
          <a:xfrm>
            <a:off x="548640" y="5779008"/>
            <a:ext cx="6766560" cy="274320"/>
          </a:xfrm>
          <a:prstGeom prst="rect">
            <a:avLst/>
          </a:prstGeom>
          <a:noFill/>
          <a:ln/>
        </p:spPr>
        <p:txBody>
          <a:bodyPr wrap="square" lIns="0" tIns="0" rIns="0" bIns="0" rtlCol="0" anchor="t"/>
          <a:lstStyle/>
          <a:p>
            <a:pPr indent="0" marL="0">
              <a:buNone/>
            </a:pPr>
            <a:r>
              <a:rPr lang="en-US" sz="1100" dirty="0">
                <a:solidFill>
                  <a:schemeClr val="tx2"/>
                </a:solidFill>
              </a:rPr>
              <a:t>Live graph explorer (/explorer): node colour = type; material colour = DFT band gap</a:t>
            </a:r>
            <a:endParaRPr lang="en-US" sz="1100" dirty="0"/>
          </a:p>
        </p:txBody>
      </p:sp>
      <p:sp>
        <p:nvSpPr>
          <p:cNvPr id="6" name="text-187"/>
          <p:cNvSpPr txBox="1"/>
          <p:nvPr/>
        </p:nvSpPr>
        <p:spPr>
          <a:xfrm>
            <a:off x="7726680" y="1463040"/>
            <a:ext cx="3886200" cy="457200"/>
          </a:xfrm>
          <a:prstGeom prst="rect">
            <a:avLst/>
          </a:prstGeom>
          <a:noFill/>
          <a:ln/>
        </p:spPr>
        <p:txBody>
          <a:bodyPr wrap="square" lIns="0" tIns="0" rIns="0" bIns="0" rtlCol="0" anchor="b"/>
          <a:lstStyle/>
          <a:p>
            <a:pPr indent="0" marL="0">
              <a:buNone/>
            </a:pPr>
            <a:r>
              <a:rPr lang="en-US" sz="3000" b="1" dirty="0">
                <a:solidFill>
                  <a:schemeClr val="accent2"/>
                </a:solidFill>
              </a:rPr>
              <a:t>95%</a:t>
            </a:r>
            <a:endParaRPr lang="en-US" sz="3000" dirty="0"/>
          </a:p>
        </p:txBody>
      </p:sp>
      <p:sp>
        <p:nvSpPr>
          <p:cNvPr id="7" name="text-188"/>
          <p:cNvSpPr txBox="1"/>
          <p:nvPr/>
        </p:nvSpPr>
        <p:spPr>
          <a:xfrm>
            <a:off x="7726680" y="1965960"/>
            <a:ext cx="3886200" cy="548640"/>
          </a:xfrm>
          <a:prstGeom prst="rect">
            <a:avLst/>
          </a:prstGeom>
          <a:noFill/>
          <a:ln/>
        </p:spPr>
        <p:txBody>
          <a:bodyPr wrap="square" lIns="0" tIns="0" rIns="0" bIns="0" rtlCol="0" anchor="t"/>
          <a:lstStyle/>
          <a:p>
            <a:pPr indent="0" marL="0">
              <a:buNone/>
            </a:pPr>
            <a:r>
              <a:rPr lang="en-US" sz="1400" dirty="0">
                <a:solidFill>
                  <a:schemeClr val="tx2"/>
                </a:solidFill>
              </a:rPr>
              <a:t>of materials contain oxygen — any two oxides are two hops apart</a:t>
            </a:r>
            <a:endParaRPr lang="en-US" sz="1400" dirty="0"/>
          </a:p>
        </p:txBody>
      </p:sp>
      <p:sp>
        <p:nvSpPr>
          <p:cNvPr id="8" name="text-189"/>
          <p:cNvSpPr txBox="1"/>
          <p:nvPr/>
        </p:nvSpPr>
        <p:spPr>
          <a:xfrm>
            <a:off x="7726680" y="2560320"/>
            <a:ext cx="3886200" cy="457200"/>
          </a:xfrm>
          <a:prstGeom prst="rect">
            <a:avLst/>
          </a:prstGeom>
          <a:noFill/>
          <a:ln/>
        </p:spPr>
        <p:txBody>
          <a:bodyPr wrap="square" lIns="0" tIns="0" rIns="0" bIns="0" rtlCol="0" anchor="b"/>
          <a:lstStyle/>
          <a:p>
            <a:pPr indent="0" marL="0">
              <a:buNone/>
            </a:pPr>
            <a:r>
              <a:rPr lang="en-US" sz="3000" b="1" dirty="0">
                <a:solidFill>
                  <a:schemeClr val="accent4"/>
                </a:solidFill>
              </a:rPr>
              <a:t>87%</a:t>
            </a:r>
            <a:endParaRPr lang="en-US" sz="3000" dirty="0"/>
          </a:p>
        </p:txBody>
      </p:sp>
      <p:sp>
        <p:nvSpPr>
          <p:cNvPr id="9" name="text-190"/>
          <p:cNvSpPr txBox="1"/>
          <p:nvPr/>
        </p:nvSpPr>
        <p:spPr>
          <a:xfrm>
            <a:off x="7726680" y="3063240"/>
            <a:ext cx="3886200" cy="548640"/>
          </a:xfrm>
          <a:prstGeom prst="rect">
            <a:avLst/>
          </a:prstGeom>
          <a:noFill/>
          <a:ln/>
        </p:spPr>
        <p:txBody>
          <a:bodyPr wrap="square" lIns="0" tIns="0" rIns="0" bIns="0" rtlCol="0" anchor="t"/>
          <a:lstStyle/>
          <a:p>
            <a:pPr indent="0" marL="0">
              <a:buNone/>
            </a:pPr>
            <a:r>
              <a:rPr lang="en-US" sz="1400" dirty="0">
                <a:solidFill>
                  <a:schemeClr val="tx2"/>
                </a:solidFill>
              </a:rPr>
              <a:t>share the O²⁻ oxidation state; Li⁺ alone links 227 materials</a:t>
            </a:r>
            <a:endParaRPr lang="en-US" sz="1400" dirty="0"/>
          </a:p>
        </p:txBody>
      </p:sp>
      <p:sp>
        <p:nvSpPr>
          <p:cNvPr id="10" name="text-191"/>
          <p:cNvSpPr txBox="1"/>
          <p:nvPr/>
        </p:nvSpPr>
        <p:spPr>
          <a:xfrm>
            <a:off x="7726680" y="3657600"/>
            <a:ext cx="3886200" cy="457200"/>
          </a:xfrm>
          <a:prstGeom prst="rect">
            <a:avLst/>
          </a:prstGeom>
          <a:noFill/>
          <a:ln/>
        </p:spPr>
        <p:txBody>
          <a:bodyPr wrap="square" lIns="0" tIns="0" rIns="0" bIns="0" rtlCol="0" anchor="b"/>
          <a:lstStyle/>
          <a:p>
            <a:pPr indent="0" marL="0">
              <a:buNone/>
            </a:pPr>
            <a:r>
              <a:rPr lang="en-US" sz="3000" b="1" dirty="0">
                <a:solidFill>
                  <a:schemeClr val="accent5"/>
                </a:solidFill>
              </a:rPr>
              <a:t>44</a:t>
            </a:r>
            <a:endParaRPr lang="en-US" sz="3000" dirty="0"/>
          </a:p>
        </p:txBody>
      </p:sp>
      <p:sp>
        <p:nvSpPr>
          <p:cNvPr id="11" name="text-192"/>
          <p:cNvSpPr txBox="1"/>
          <p:nvPr/>
        </p:nvSpPr>
        <p:spPr>
          <a:xfrm>
            <a:off x="7726680" y="4160520"/>
            <a:ext cx="3886200" cy="548640"/>
          </a:xfrm>
          <a:prstGeom prst="rect">
            <a:avLst/>
          </a:prstGeom>
          <a:noFill/>
          <a:ln/>
        </p:spPr>
        <p:txBody>
          <a:bodyPr wrap="square" lIns="0" tIns="0" rIns="0" bIns="0" rtlCol="0" anchor="t"/>
          <a:lstStyle/>
          <a:p>
            <a:pPr indent="0" marL="0">
              <a:buNone/>
            </a:pPr>
            <a:r>
              <a:rPr lang="en-US" sz="1400" dirty="0">
                <a:solidFill>
                  <a:schemeClr val="tx2"/>
                </a:solidFill>
              </a:rPr>
              <a:t>materials share the ABC3 pattern with no element in common</a:t>
            </a:r>
            <a:endParaRPr lang="en-US" sz="1400" dirty="0"/>
          </a:p>
        </p:txBody>
      </p:sp>
      <p:sp>
        <p:nvSpPr>
          <p:cNvPr id="12" name="text-193"/>
          <p:cNvSpPr txBox="1"/>
          <p:nvPr/>
        </p:nvSpPr>
        <p:spPr>
          <a:xfrm>
            <a:off x="7726680" y="4754880"/>
            <a:ext cx="3886200" cy="457200"/>
          </a:xfrm>
          <a:prstGeom prst="rect">
            <a:avLst/>
          </a:prstGeom>
          <a:noFill/>
          <a:ln/>
        </p:spPr>
        <p:txBody>
          <a:bodyPr wrap="square" lIns="0" tIns="0" rIns="0" bIns="0" rtlCol="0" anchor="b"/>
          <a:lstStyle/>
          <a:p>
            <a:pPr indent="0" marL="0">
              <a:buNone/>
            </a:pPr>
            <a:r>
              <a:rPr lang="en-US" sz="3000" b="1" dirty="0">
                <a:solidFill>
                  <a:schemeClr val="accent1"/>
                </a:solidFill>
              </a:rPr>
              <a:t>3,969</a:t>
            </a:r>
            <a:endParaRPr lang="en-US" sz="3000" dirty="0"/>
          </a:p>
        </p:txBody>
      </p:sp>
      <p:sp>
        <p:nvSpPr>
          <p:cNvPr id="13" name="text-194"/>
          <p:cNvSpPr txBox="1"/>
          <p:nvPr/>
        </p:nvSpPr>
        <p:spPr>
          <a:xfrm>
            <a:off x="7726680" y="5257800"/>
            <a:ext cx="3886200" cy="548640"/>
          </a:xfrm>
          <a:prstGeom prst="rect">
            <a:avLst/>
          </a:prstGeom>
          <a:noFill/>
          <a:ln/>
        </p:spPr>
        <p:txBody>
          <a:bodyPr wrap="square" lIns="0" tIns="0" rIns="0" bIns="0" rtlCol="0" anchor="t"/>
          <a:lstStyle/>
          <a:p>
            <a:pPr indent="0" marL="0">
              <a:buNone/>
            </a:pPr>
            <a:r>
              <a:rPr lang="en-US" sz="1400" dirty="0">
                <a:solidFill>
                  <a:schemeClr val="tx2"/>
                </a:solidFill>
              </a:rPr>
              <a:t>weighted similar_to edges: top-5 neighbours, cosine ≥ 0.6</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RETRIEVAL</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GraphRAG pipeline: question to grounded answer</a:t>
            </a:r>
            <a:endParaRPr lang="en-US" sz="3200" dirty="0"/>
          </a:p>
        </p:txBody>
      </p:sp>
      <p:sp>
        <p:nvSpPr>
          <p:cNvPr id="4" name="question-195"/>
          <p:cNvSpPr/>
          <p:nvPr/>
        </p:nvSpPr>
        <p:spPr>
          <a:xfrm>
            <a:off x="548640" y="1417320"/>
            <a:ext cx="11064240" cy="502920"/>
          </a:xfrm>
          <a:prstGeom prst="roundRect">
            <a:avLst>
              <a:gd name="adj" fmla="val 21818"/>
            </a:avLst>
          </a:prstGeom>
          <a:solidFill>
            <a:schemeClr val="tx1"/>
          </a:solidFill>
          <a:ln/>
        </p:spPr>
      </p:sp>
      <p:sp>
        <p:nvSpPr>
          <p:cNvPr id="5" name="text-196"/>
          <p:cNvSpPr txBox="1"/>
          <p:nvPr/>
        </p:nvSpPr>
        <p:spPr>
          <a:xfrm>
            <a:off x="777240" y="1417320"/>
            <a:ext cx="10698480" cy="502920"/>
          </a:xfrm>
          <a:prstGeom prst="rect">
            <a:avLst/>
          </a:prstGeom>
          <a:noFill/>
          <a:ln/>
        </p:spPr>
        <p:txBody>
          <a:bodyPr wrap="square" lIns="0" tIns="0" rIns="0" bIns="0" rtlCol="0" anchor="ctr"/>
          <a:lstStyle/>
          <a:p>
            <a:pPr indent="0" marL="0">
              <a:buNone/>
            </a:pPr>
            <a:r>
              <a:rPr lang="en-US" sz="1600" b="1" dirty="0">
                <a:solidFill>
                  <a:schemeClr val="accent3"/>
                </a:solidFill>
              </a:rPr>
              <a:t>Q  </a:t>
            </a:r>
            <a:r>
              <a:rPr lang="en-US" sz="1600" dirty="0">
                <a:solidFill>
                  <a:schemeClr val="bg1"/>
                </a:solidFill>
              </a:rPr>
              <a:t>stable, cobalt-free Li cathode materials with a band gap above 2 eV</a:t>
            </a:r>
            <a:endParaRPr lang="en-US" sz="1600" dirty="0"/>
          </a:p>
        </p:txBody>
      </p:sp>
      <p:sp>
        <p:nvSpPr>
          <p:cNvPr id="6" name="pill-197"/>
          <p:cNvSpPr/>
          <p:nvPr/>
        </p:nvSpPr>
        <p:spPr>
          <a:xfrm>
            <a:off x="548640" y="2148840"/>
            <a:ext cx="210312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bg1"/>
                </a:solidFill>
              </a:rPr>
              <a:t>1  Parse</a:t>
            </a:r>
            <a:endParaRPr lang="en-US" sz="1500" dirty="0"/>
          </a:p>
        </p:txBody>
      </p:sp>
      <p:sp>
        <p:nvSpPr>
          <p:cNvPr id="7" name="text-198"/>
          <p:cNvSpPr txBox="1"/>
          <p:nvPr/>
        </p:nvSpPr>
        <p:spPr>
          <a:xfrm>
            <a:off x="594360" y="2743200"/>
            <a:ext cx="2011680" cy="1554480"/>
          </a:xfrm>
          <a:prstGeom prst="rect">
            <a:avLst/>
          </a:prstGeom>
          <a:noFill/>
          <a:ln/>
        </p:spPr>
        <p:txBody>
          <a:bodyPr wrap="square" lIns="0" tIns="0" rIns="0" bIns="0" rtlCol="0" anchor="t"/>
          <a:lstStyle/>
          <a:p>
            <a:pPr indent="0" marL="0">
              <a:buNone/>
            </a:pPr>
            <a:r>
              <a:rPr lang="en-US" sz="1400" dirty="0">
                <a:solidFill>
                  <a:schemeClr val="tx1"/>
                </a:solidFill>
              </a:rPr>
              <a:t>LLM with JSON-schema output → typed constraints; rule-based fallback; values checked against graph vocabulary.</a:t>
            </a:r>
            <a:endParaRPr lang="en-US" sz="1400" dirty="0"/>
          </a:p>
        </p:txBody>
      </p:sp>
      <p:sp>
        <p:nvSpPr>
          <p:cNvPr id="8" name="example-199"/>
          <p:cNvSpPr/>
          <p:nvPr/>
        </p:nvSpPr>
        <p:spPr>
          <a:xfrm>
            <a:off x="548640" y="4343400"/>
            <a:ext cx="2103120" cy="960120"/>
          </a:xfrm>
          <a:prstGeom prst="roundRect">
            <a:avLst>
              <a:gd name="adj" fmla="val 11429"/>
            </a:avLst>
          </a:prstGeom>
          <a:solidFill>
            <a:schemeClr val="accent1">
              <a:alpha val="12000"/>
            </a:schemeClr>
          </a:solidFill>
          <a:ln/>
        </p:spPr>
      </p:sp>
      <p:sp>
        <p:nvSpPr>
          <p:cNvPr id="9" name="text-200"/>
          <p:cNvSpPr txBox="1"/>
          <p:nvPr/>
        </p:nvSpPr>
        <p:spPr>
          <a:xfrm>
            <a:off x="658368" y="4389120"/>
            <a:ext cx="1883664" cy="868680"/>
          </a:xfrm>
          <a:prstGeom prst="rect">
            <a:avLst/>
          </a:prstGeom>
          <a:noFill/>
          <a:ln/>
        </p:spPr>
        <p:txBody>
          <a:bodyPr wrap="square" lIns="0" tIns="0" rIns="0" bIns="0" rtlCol="0" anchor="ctr"/>
          <a:lstStyle/>
          <a:p>
            <a:pPr indent="0" marL="0">
              <a:buNone/>
            </a:pPr>
            <a:r>
              <a:rPr lang="en-US" sz="1200" b="1" dirty="0">
                <a:solidFill>
                  <a:schemeClr val="tx1"/>
                </a:solidFill>
              </a:rPr>
              <a:t>battery_cathode · band_gap ≥ 2 · stable · contains Li · no Co</a:t>
            </a:r>
            <a:endParaRPr lang="en-US" sz="1200" dirty="0"/>
          </a:p>
        </p:txBody>
      </p:sp>
      <p:sp>
        <p:nvSpPr>
          <p:cNvPr id="10" name="pill-201"/>
          <p:cNvSpPr/>
          <p:nvPr/>
        </p:nvSpPr>
        <p:spPr>
          <a:xfrm>
            <a:off x="2788920" y="2148840"/>
            <a:ext cx="210312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2  Retrieve</a:t>
            </a:r>
            <a:endParaRPr lang="en-US" sz="1500" dirty="0"/>
          </a:p>
        </p:txBody>
      </p:sp>
      <p:sp>
        <p:nvSpPr>
          <p:cNvPr id="11" name="text-202"/>
          <p:cNvSpPr txBox="1"/>
          <p:nvPr/>
        </p:nvSpPr>
        <p:spPr>
          <a:xfrm>
            <a:off x="2834640" y="2743200"/>
            <a:ext cx="2011680" cy="1554480"/>
          </a:xfrm>
          <a:prstGeom prst="rect">
            <a:avLst/>
          </a:prstGeom>
          <a:noFill/>
          <a:ln/>
        </p:spPr>
        <p:txBody>
          <a:bodyPr wrap="square" lIns="0" tIns="0" rIns="0" bIns="0" rtlCol="0" anchor="t"/>
          <a:lstStyle/>
          <a:p>
            <a:pPr indent="0" marL="0">
              <a:buNone/>
            </a:pPr>
            <a:r>
              <a:rPr lang="en-US" sz="1400" dirty="0">
                <a:solidFill>
                  <a:schemeClr val="tx1"/>
                </a:solidFill>
              </a:rPr>
              <a:t>Seed constraint nodes, traverse back to materials, intersect, enforce numeric ranges, then rank.</a:t>
            </a:r>
            <a:endParaRPr lang="en-US" sz="1400" dirty="0"/>
          </a:p>
        </p:txBody>
      </p:sp>
      <p:sp>
        <p:nvSpPr>
          <p:cNvPr id="12" name="example-203"/>
          <p:cNvSpPr/>
          <p:nvPr/>
        </p:nvSpPr>
        <p:spPr>
          <a:xfrm>
            <a:off x="2788920" y="4343400"/>
            <a:ext cx="2103120" cy="960120"/>
          </a:xfrm>
          <a:prstGeom prst="roundRect">
            <a:avLst>
              <a:gd name="adj" fmla="val 11429"/>
            </a:avLst>
          </a:prstGeom>
          <a:solidFill>
            <a:schemeClr val="accent2">
              <a:alpha val="12000"/>
            </a:schemeClr>
          </a:solidFill>
          <a:ln/>
        </p:spPr>
      </p:sp>
      <p:sp>
        <p:nvSpPr>
          <p:cNvPr id="13" name="text-204"/>
          <p:cNvSpPr txBox="1"/>
          <p:nvPr/>
        </p:nvSpPr>
        <p:spPr>
          <a:xfrm>
            <a:off x="2898648" y="4389120"/>
            <a:ext cx="1883664" cy="868680"/>
          </a:xfrm>
          <a:prstGeom prst="rect">
            <a:avLst/>
          </a:prstGeom>
          <a:noFill/>
          <a:ln/>
        </p:spPr>
        <p:txBody>
          <a:bodyPr wrap="square" lIns="0" tIns="0" rIns="0" bIns="0" rtlCol="0" anchor="ctr"/>
          <a:lstStyle/>
          <a:p>
            <a:pPr indent="0" marL="0">
              <a:buNone/>
            </a:pPr>
            <a:r>
              <a:rPr lang="en-US" sz="1200" b="1" dirty="0">
                <a:solidFill>
                  <a:schemeClr val="tx1"/>
                </a:solidFill>
              </a:rPr>
              <a:t>39 of 77 reached materials pass every constraint; top: LiScO2</a:t>
            </a:r>
            <a:endParaRPr lang="en-US" sz="1200" dirty="0"/>
          </a:p>
        </p:txBody>
      </p:sp>
      <p:sp>
        <p:nvSpPr>
          <p:cNvPr id="14" name="pill-205"/>
          <p:cNvSpPr/>
          <p:nvPr/>
        </p:nvSpPr>
        <p:spPr>
          <a:xfrm>
            <a:off x="5029200" y="2148840"/>
            <a:ext cx="2103120" cy="457200"/>
          </a:xfrm>
          <a:prstGeom prst="roundRect">
            <a:avLst>
              <a:gd name="adj" fmla="val 50000"/>
            </a:avLst>
          </a:prstGeom>
          <a:solidFill>
            <a:schemeClr val="accent4"/>
          </a:solidFill>
          <a:ln/>
        </p:spPr>
        <p:txBody>
          <a:bodyPr wrap="square" lIns="0" tIns="0" rIns="0" bIns="0" rtlCol="0" anchor="ctr"/>
          <a:lstStyle/>
          <a:p>
            <a:pPr algn="ctr" indent="0" marL="0">
              <a:buNone/>
            </a:pPr>
            <a:r>
              <a:rPr lang="en-US" sz="1500" b="1" dirty="0">
                <a:solidFill>
                  <a:schemeClr val="bg1"/>
                </a:solidFill>
              </a:rPr>
              <a:t>3  Evidence</a:t>
            </a:r>
            <a:endParaRPr lang="en-US" sz="1500" dirty="0"/>
          </a:p>
        </p:txBody>
      </p:sp>
      <p:sp>
        <p:nvSpPr>
          <p:cNvPr id="15" name="text-206"/>
          <p:cNvSpPr txBox="1"/>
          <p:nvPr/>
        </p:nvSpPr>
        <p:spPr>
          <a:xfrm>
            <a:off x="5074920" y="2743200"/>
            <a:ext cx="2011680" cy="1554480"/>
          </a:xfrm>
          <a:prstGeom prst="rect">
            <a:avLst/>
          </a:prstGeom>
          <a:noFill/>
          <a:ln/>
        </p:spPr>
        <p:txBody>
          <a:bodyPr wrap="square" lIns="0" tIns="0" rIns="0" bIns="0" rtlCol="0" anchor="t"/>
          <a:lstStyle/>
          <a:p>
            <a:pPr indent="0" marL="0">
              <a:buNone/>
            </a:pPr>
            <a:r>
              <a:rPr lang="en-US" sz="1400" dirty="0">
                <a:solidFill>
                  <a:schemeClr val="tx1"/>
                </a:solidFill>
              </a:rPr>
              <a:t>Flatten into atomic facts [E1] [E2] …: an MP field or a graph edge with its rule text.</a:t>
            </a:r>
            <a:endParaRPr lang="en-US" sz="1400" dirty="0"/>
          </a:p>
        </p:txBody>
      </p:sp>
      <p:sp>
        <p:nvSpPr>
          <p:cNvPr id="16" name="example-207"/>
          <p:cNvSpPr/>
          <p:nvPr/>
        </p:nvSpPr>
        <p:spPr>
          <a:xfrm>
            <a:off x="5029200" y="4343400"/>
            <a:ext cx="2103120" cy="960120"/>
          </a:xfrm>
          <a:prstGeom prst="roundRect">
            <a:avLst>
              <a:gd name="adj" fmla="val 11429"/>
            </a:avLst>
          </a:prstGeom>
          <a:solidFill>
            <a:schemeClr val="accent4">
              <a:alpha val="12000"/>
            </a:schemeClr>
          </a:solidFill>
          <a:ln/>
        </p:spPr>
      </p:sp>
      <p:sp>
        <p:nvSpPr>
          <p:cNvPr id="17" name="text-208"/>
          <p:cNvSpPr txBox="1"/>
          <p:nvPr/>
        </p:nvSpPr>
        <p:spPr>
          <a:xfrm>
            <a:off x="5138928" y="4389120"/>
            <a:ext cx="1883664" cy="868680"/>
          </a:xfrm>
          <a:prstGeom prst="rect">
            <a:avLst/>
          </a:prstGeom>
          <a:noFill/>
          <a:ln/>
        </p:spPr>
        <p:txBody>
          <a:bodyPr wrap="square" lIns="0" tIns="0" rIns="0" bIns="0" rtlCol="0" anchor="ctr"/>
          <a:lstStyle/>
          <a:p>
            <a:pPr indent="0" marL="0">
              <a:buNone/>
            </a:pPr>
            <a:r>
              <a:rPr lang="en-US" sz="1200" b="1" dirty="0">
                <a:solidFill>
                  <a:schemeClr val="tx1"/>
                </a:solidFill>
              </a:rPr>
              <a:t>[E4] LiScO2 band_gap = 3.904 eV</a:t>
            </a:r>
            <a:endParaRPr lang="en-US" sz="1200" dirty="0"/>
          </a:p>
        </p:txBody>
      </p:sp>
      <p:sp>
        <p:nvSpPr>
          <p:cNvPr id="18" name="pill-209"/>
          <p:cNvSpPr/>
          <p:nvPr/>
        </p:nvSpPr>
        <p:spPr>
          <a:xfrm>
            <a:off x="7269480" y="2148840"/>
            <a:ext cx="2103120" cy="457200"/>
          </a:xfrm>
          <a:prstGeom prst="roundRect">
            <a:avLst>
              <a:gd name="adj" fmla="val 50000"/>
            </a:avLst>
          </a:prstGeom>
          <a:solidFill>
            <a:schemeClr val="accent5"/>
          </a:solidFill>
          <a:ln/>
        </p:spPr>
        <p:txBody>
          <a:bodyPr wrap="square" lIns="0" tIns="0" rIns="0" bIns="0" rtlCol="0" anchor="ctr"/>
          <a:lstStyle/>
          <a:p>
            <a:pPr algn="ctr" indent="0" marL="0">
              <a:buNone/>
            </a:pPr>
            <a:r>
              <a:rPr lang="en-US" sz="1500" b="1" dirty="0">
                <a:solidFill>
                  <a:schemeClr val="bg1"/>
                </a:solidFill>
              </a:rPr>
              <a:t>4  Explain</a:t>
            </a:r>
            <a:endParaRPr lang="en-US" sz="1500" dirty="0"/>
          </a:p>
        </p:txBody>
      </p:sp>
      <p:sp>
        <p:nvSpPr>
          <p:cNvPr id="19" name="text-210"/>
          <p:cNvSpPr txBox="1"/>
          <p:nvPr/>
        </p:nvSpPr>
        <p:spPr>
          <a:xfrm>
            <a:off x="7315200" y="2743200"/>
            <a:ext cx="2011680" cy="1554480"/>
          </a:xfrm>
          <a:prstGeom prst="rect">
            <a:avLst/>
          </a:prstGeom>
          <a:noFill/>
          <a:ln/>
        </p:spPr>
        <p:txBody>
          <a:bodyPr wrap="square" lIns="0" tIns="0" rIns="0" bIns="0" rtlCol="0" anchor="t"/>
          <a:lstStyle/>
          <a:p>
            <a:pPr indent="0" marL="0">
              <a:buNone/>
            </a:pPr>
            <a:r>
              <a:rPr lang="en-US" sz="1400" dirty="0">
                <a:solidFill>
                  <a:schemeClr val="tx1"/>
                </a:solidFill>
              </a:rPr>
              <a:t>LLM writes claims that cite fact ids, or a templated explanation without an LLM.</a:t>
            </a:r>
            <a:endParaRPr lang="en-US" sz="1400" dirty="0"/>
          </a:p>
        </p:txBody>
      </p:sp>
      <p:sp>
        <p:nvSpPr>
          <p:cNvPr id="20" name="example-211"/>
          <p:cNvSpPr/>
          <p:nvPr/>
        </p:nvSpPr>
        <p:spPr>
          <a:xfrm>
            <a:off x="7269480" y="4343400"/>
            <a:ext cx="2103120" cy="960120"/>
          </a:xfrm>
          <a:prstGeom prst="roundRect">
            <a:avLst>
              <a:gd name="adj" fmla="val 11429"/>
            </a:avLst>
          </a:prstGeom>
          <a:solidFill>
            <a:schemeClr val="accent5">
              <a:alpha val="12000"/>
            </a:schemeClr>
          </a:solidFill>
          <a:ln/>
        </p:spPr>
      </p:sp>
      <p:sp>
        <p:nvSpPr>
          <p:cNvPr id="21" name="text-212"/>
          <p:cNvSpPr txBox="1"/>
          <p:nvPr/>
        </p:nvSpPr>
        <p:spPr>
          <a:xfrm>
            <a:off x="7379208" y="4389120"/>
            <a:ext cx="1883664" cy="868680"/>
          </a:xfrm>
          <a:prstGeom prst="rect">
            <a:avLst/>
          </a:prstGeom>
          <a:noFill/>
          <a:ln/>
        </p:spPr>
        <p:txBody>
          <a:bodyPr wrap="square" lIns="0" tIns="0" rIns="0" bIns="0" rtlCol="0" anchor="ctr"/>
          <a:lstStyle/>
          <a:p>
            <a:pPr indent="0" marL="0">
              <a:buNone/>
            </a:pPr>
            <a:r>
              <a:rPr lang="en-US" sz="1200" b="1" dirty="0">
                <a:solidFill>
                  <a:schemeClr val="tx1"/>
                </a:solidFill>
              </a:rPr>
              <a:t>“LiScO2 is a stable cathode candidate … [E4][E15]”</a:t>
            </a:r>
            <a:endParaRPr lang="en-US" sz="1200" dirty="0"/>
          </a:p>
        </p:txBody>
      </p:sp>
      <p:sp>
        <p:nvSpPr>
          <p:cNvPr id="22" name="pill-213"/>
          <p:cNvSpPr/>
          <p:nvPr/>
        </p:nvSpPr>
        <p:spPr>
          <a:xfrm>
            <a:off x="9509760" y="2148840"/>
            <a:ext cx="2103120" cy="457200"/>
          </a:xfrm>
          <a:prstGeom prst="roundRect">
            <a:avLst>
              <a:gd name="adj" fmla="val 50000"/>
            </a:avLst>
          </a:prstGeom>
          <a:solidFill>
            <a:schemeClr val="accent3"/>
          </a:solidFill>
          <a:ln/>
        </p:spPr>
        <p:txBody>
          <a:bodyPr wrap="square" lIns="0" tIns="0" rIns="0" bIns="0" rtlCol="0" anchor="ctr"/>
          <a:lstStyle/>
          <a:p>
            <a:pPr algn="ctr" indent="0" marL="0">
              <a:buNone/>
            </a:pPr>
            <a:r>
              <a:rPr lang="en-US" sz="1500" b="1" dirty="0">
                <a:solidFill>
                  <a:schemeClr val="bg1"/>
                </a:solidFill>
              </a:rPr>
              <a:t>5  Ground</a:t>
            </a:r>
            <a:endParaRPr lang="en-US" sz="1500" dirty="0"/>
          </a:p>
        </p:txBody>
      </p:sp>
      <p:sp>
        <p:nvSpPr>
          <p:cNvPr id="23" name="text-214"/>
          <p:cNvSpPr txBox="1"/>
          <p:nvPr/>
        </p:nvSpPr>
        <p:spPr>
          <a:xfrm>
            <a:off x="9555480" y="2743200"/>
            <a:ext cx="2011680" cy="1554480"/>
          </a:xfrm>
          <a:prstGeom prst="rect">
            <a:avLst/>
          </a:prstGeom>
          <a:noFill/>
          <a:ln/>
        </p:spPr>
        <p:txBody>
          <a:bodyPr wrap="square" lIns="0" tIns="0" rIns="0" bIns="0" rtlCol="0" anchor="t"/>
          <a:lstStyle/>
          <a:p>
            <a:pPr indent="0" marL="0">
              <a:buNone/>
            </a:pPr>
            <a:r>
              <a:rPr lang="en-US" sz="1400" dirty="0">
                <a:solidFill>
                  <a:schemeClr val="tx1"/>
                </a:solidFill>
              </a:rPr>
              <a:t>Checker: ids exist, every number matches a cited fact, no unretrieved materials.</a:t>
            </a:r>
            <a:endParaRPr lang="en-US" sz="1400" dirty="0"/>
          </a:p>
        </p:txBody>
      </p:sp>
      <p:sp>
        <p:nvSpPr>
          <p:cNvPr id="24" name="example-215"/>
          <p:cNvSpPr/>
          <p:nvPr/>
        </p:nvSpPr>
        <p:spPr>
          <a:xfrm>
            <a:off x="9509760" y="4343400"/>
            <a:ext cx="2103120" cy="960120"/>
          </a:xfrm>
          <a:prstGeom prst="roundRect">
            <a:avLst>
              <a:gd name="adj" fmla="val 11429"/>
            </a:avLst>
          </a:prstGeom>
          <a:solidFill>
            <a:schemeClr val="accent3">
              <a:alpha val="12000"/>
            </a:schemeClr>
          </a:solidFill>
          <a:ln/>
        </p:spPr>
      </p:sp>
      <p:sp>
        <p:nvSpPr>
          <p:cNvPr id="25" name="text-216"/>
          <p:cNvSpPr txBox="1"/>
          <p:nvPr/>
        </p:nvSpPr>
        <p:spPr>
          <a:xfrm>
            <a:off x="9619488" y="4389120"/>
            <a:ext cx="1883664" cy="868680"/>
          </a:xfrm>
          <a:prstGeom prst="rect">
            <a:avLst/>
          </a:prstGeom>
          <a:noFill/>
          <a:ln/>
        </p:spPr>
        <p:txBody>
          <a:bodyPr wrap="square" lIns="0" tIns="0" rIns="0" bIns="0" rtlCol="0" anchor="ctr"/>
          <a:lstStyle/>
          <a:p>
            <a:pPr indent="0" marL="0">
              <a:buNone/>
            </a:pPr>
            <a:r>
              <a:rPr lang="en-US" sz="1200" b="1" dirty="0">
                <a:solidFill>
                  <a:schemeClr val="tx1"/>
                </a:solidFill>
              </a:rPr>
              <a:t>69 / 69 claims grounded (100%)</a:t>
            </a:r>
            <a:endParaRPr lang="en-US" sz="1200" dirty="0"/>
          </a:p>
        </p:txBody>
      </p:sp>
      <p:sp>
        <p:nvSpPr>
          <p:cNvPr id="26" name="design-callout-217"/>
          <p:cNvSpPr/>
          <p:nvPr/>
        </p:nvSpPr>
        <p:spPr>
          <a:xfrm>
            <a:off x="548640" y="5532120"/>
            <a:ext cx="11064240" cy="658368"/>
          </a:xfrm>
          <a:prstGeom prst="roundRect">
            <a:avLst>
              <a:gd name="adj" fmla="val 16667"/>
            </a:avLst>
          </a:prstGeom>
          <a:solidFill>
            <a:schemeClr val="accent1">
              <a:alpha val="10000"/>
            </a:schemeClr>
          </a:solidFill>
          <a:ln/>
        </p:spPr>
      </p:sp>
      <p:sp>
        <p:nvSpPr>
          <p:cNvPr id="27" name="text-218"/>
          <p:cNvSpPr txBox="1"/>
          <p:nvPr/>
        </p:nvSpPr>
        <p:spPr>
          <a:xfrm>
            <a:off x="777240" y="5532120"/>
            <a:ext cx="10607040" cy="658368"/>
          </a:xfrm>
          <a:prstGeom prst="rect">
            <a:avLst/>
          </a:prstGeom>
          <a:noFill/>
          <a:ln/>
        </p:spPr>
        <p:txBody>
          <a:bodyPr wrap="square" lIns="0" tIns="0" rIns="0" bIns="0" rtlCol="0" anchor="ctr"/>
          <a:lstStyle/>
          <a:p>
            <a:pPr indent="0" marL="0">
              <a:buNone/>
            </a:pPr>
            <a:r>
              <a:rPr lang="en-US" sz="1500" b="1" dirty="0">
                <a:solidFill>
                  <a:schemeClr val="accent1"/>
                </a:solidFill>
              </a:rPr>
              <a:t>The LLM never selects or filters materials. </a:t>
            </a:r>
            <a:r>
              <a:rPr lang="en-US" sz="1500" dirty="0">
                <a:solidFill>
                  <a:schemeClr val="tx1"/>
                </a:solidFill>
              </a:rPr>
              <a:t>Numeric limits, exclusions and rules are enforced exactly on graph attributes and edges.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INGESTION</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Adding a new material: ingestion architecture</a:t>
            </a:r>
            <a:endParaRPr lang="en-US" sz="3200" dirty="0"/>
          </a:p>
        </p:txBody>
      </p:sp>
      <p:sp>
        <p:nvSpPr>
          <p:cNvPr id="4" name="ingest-step-219"/>
          <p:cNvSpPr/>
          <p:nvPr/>
        </p:nvSpPr>
        <p:spPr>
          <a:xfrm>
            <a:off x="548640" y="1463040"/>
            <a:ext cx="2514600" cy="1737360"/>
          </a:xfrm>
          <a:prstGeom prst="roundRect">
            <a:avLst>
              <a:gd name="adj" fmla="val 6316"/>
            </a:avLst>
          </a:prstGeom>
          <a:solidFill>
            <a:schemeClr val="bg1"/>
          </a:solidFill>
          <a:ln w="19050">
            <a:solidFill>
              <a:schemeClr val="accent2"/>
            </a:solidFill>
            <a:prstDash val="solid"/>
          </a:ln>
        </p:spPr>
      </p:sp>
      <p:sp>
        <p:nvSpPr>
          <p:cNvPr id="5" name="num-220"/>
          <p:cNvSpPr/>
          <p:nvPr/>
        </p:nvSpPr>
        <p:spPr>
          <a:xfrm>
            <a:off x="713232" y="1627632"/>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221"/>
          <p:cNvSpPr txBox="1"/>
          <p:nvPr/>
        </p:nvSpPr>
        <p:spPr>
          <a:xfrm>
            <a:off x="1188720" y="1600200"/>
            <a:ext cx="1737360" cy="438912"/>
          </a:xfrm>
          <a:prstGeom prst="rect">
            <a:avLst/>
          </a:prstGeom>
          <a:noFill/>
          <a:ln/>
        </p:spPr>
        <p:txBody>
          <a:bodyPr wrap="square" lIns="0" tIns="0" rIns="0" bIns="0" rtlCol="0" anchor="ctr"/>
          <a:lstStyle/>
          <a:p>
            <a:pPr indent="0" marL="0">
              <a:buNone/>
            </a:pPr>
            <a:r>
              <a:rPr lang="en-US" sz="1500" b="1" dirty="0">
                <a:solidFill>
                  <a:schemeClr val="tx1"/>
                </a:solidFill>
              </a:rPr>
              <a:t>Input</a:t>
            </a:r>
            <a:endParaRPr lang="en-US" sz="1500" dirty="0"/>
          </a:p>
        </p:txBody>
      </p:sp>
      <p:sp>
        <p:nvSpPr>
          <p:cNvPr id="7" name="text-222"/>
          <p:cNvSpPr txBox="1"/>
          <p:nvPr/>
        </p:nvSpPr>
        <p:spPr>
          <a:xfrm>
            <a:off x="685800" y="2121408"/>
            <a:ext cx="2286000" cy="987552"/>
          </a:xfrm>
          <a:prstGeom prst="rect">
            <a:avLst/>
          </a:prstGeom>
          <a:noFill/>
          <a:ln/>
        </p:spPr>
        <p:txBody>
          <a:bodyPr wrap="square" lIns="0" tIns="0" rIns="0" bIns="0" rtlCol="0" anchor="t"/>
          <a:lstStyle/>
          <a:p>
            <a:pPr marL="139700" indent="-139700">
              <a:spcAft>
                <a:spcPts val="300"/>
              </a:spcAft>
              <a:buSzPct val="100000"/>
              <a:buChar char="•"/>
            </a:pPr>
            <a:r>
              <a:rPr lang="en-US" sz="1300" dirty="0">
                <a:solidFill>
                  <a:schemeClr val="tx2"/>
                </a:solidFill>
              </a:rPr>
              <a:t>MP id, formula, CIF or POSCAR</a:t>
            </a:r>
            <a:endParaRPr lang="en-US" sz="1300" dirty="0"/>
          </a:p>
          <a:p>
            <a:pPr marL="139700" indent="-139700">
              <a:spcAft>
                <a:spcPts val="300"/>
              </a:spcAft>
              <a:buSzPct val="100000"/>
              <a:buChar char="•"/>
            </a:pPr>
            <a:r>
              <a:rPr lang="en-US" sz="1300" dirty="0">
                <a:solidFill>
                  <a:schemeClr val="tx2"/>
                </a:solidFill>
              </a:rPr>
              <a:t>dashboard, API or CLI</a:t>
            </a:r>
            <a:endParaRPr lang="en-US" sz="1300" dirty="0"/>
          </a:p>
        </p:txBody>
      </p:sp>
      <p:sp>
        <p:nvSpPr>
          <p:cNvPr id="8" name="arrow-223"/>
          <p:cNvSpPr/>
          <p:nvPr/>
        </p:nvSpPr>
        <p:spPr>
          <a:xfrm>
            <a:off x="3136392" y="2148840"/>
            <a:ext cx="201168" cy="365760"/>
          </a:xfrm>
          <a:prstGeom prst="chevron">
            <a:avLst/>
          </a:prstGeom>
          <a:solidFill>
            <a:schemeClr val="tx2"/>
          </a:solidFill>
          <a:ln/>
        </p:spPr>
      </p:sp>
      <p:sp>
        <p:nvSpPr>
          <p:cNvPr id="9" name="ingest-step-224"/>
          <p:cNvSpPr/>
          <p:nvPr/>
        </p:nvSpPr>
        <p:spPr>
          <a:xfrm>
            <a:off x="3401568" y="1463040"/>
            <a:ext cx="2514600" cy="1737360"/>
          </a:xfrm>
          <a:prstGeom prst="roundRect">
            <a:avLst>
              <a:gd name="adj" fmla="val 6316"/>
            </a:avLst>
          </a:prstGeom>
          <a:solidFill>
            <a:schemeClr val="bg1"/>
          </a:solidFill>
          <a:ln w="19050">
            <a:solidFill>
              <a:schemeClr val="accent3"/>
            </a:solidFill>
            <a:prstDash val="solid"/>
          </a:ln>
        </p:spPr>
      </p:sp>
      <p:sp>
        <p:nvSpPr>
          <p:cNvPr id="10" name="num-225"/>
          <p:cNvSpPr/>
          <p:nvPr/>
        </p:nvSpPr>
        <p:spPr>
          <a:xfrm>
            <a:off x="3566160" y="1627632"/>
            <a:ext cx="384048" cy="384048"/>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226"/>
          <p:cNvSpPr txBox="1"/>
          <p:nvPr/>
        </p:nvSpPr>
        <p:spPr>
          <a:xfrm>
            <a:off x="4041648" y="1600200"/>
            <a:ext cx="1737360" cy="438912"/>
          </a:xfrm>
          <a:prstGeom prst="rect">
            <a:avLst/>
          </a:prstGeom>
          <a:noFill/>
          <a:ln/>
        </p:spPr>
        <p:txBody>
          <a:bodyPr wrap="square" lIns="0" tIns="0" rIns="0" bIns="0" rtlCol="0" anchor="ctr"/>
          <a:lstStyle/>
          <a:p>
            <a:pPr indent="0" marL="0">
              <a:buNone/>
            </a:pPr>
            <a:r>
              <a:rPr lang="en-US" sz="1500" b="1" dirty="0">
                <a:solidFill>
                  <a:schemeClr val="tx1"/>
                </a:solidFill>
              </a:rPr>
              <a:t>Property source</a:t>
            </a:r>
            <a:endParaRPr lang="en-US" sz="1500" dirty="0"/>
          </a:p>
        </p:txBody>
      </p:sp>
      <p:sp>
        <p:nvSpPr>
          <p:cNvPr id="12" name="text-227"/>
          <p:cNvSpPr txBox="1"/>
          <p:nvPr/>
        </p:nvSpPr>
        <p:spPr>
          <a:xfrm>
            <a:off x="3538728" y="2121408"/>
            <a:ext cx="2286000" cy="987552"/>
          </a:xfrm>
          <a:prstGeom prst="rect">
            <a:avLst/>
          </a:prstGeom>
          <a:noFill/>
          <a:ln/>
        </p:spPr>
        <p:txBody>
          <a:bodyPr wrap="square" lIns="0" tIns="0" rIns="0" bIns="0" rtlCol="0" anchor="t"/>
          <a:lstStyle/>
          <a:p>
            <a:pPr marL="139700" indent="-139700">
              <a:spcAft>
                <a:spcPts val="300"/>
              </a:spcAft>
              <a:buSzPct val="100000"/>
              <a:buChar char="•"/>
            </a:pPr>
            <a:r>
              <a:rPr lang="en-US" sz="1300" dirty="0">
                <a:solidFill>
                  <a:schemeClr val="tx2"/>
                </a:solidFill>
              </a:rPr>
              <a:t>MP record → mp</a:t>
            </a:r>
            <a:endParaRPr lang="en-US" sz="1300" dirty="0"/>
          </a:p>
          <a:p>
            <a:pPr marL="139700" indent="-139700">
              <a:spcAft>
                <a:spcPts val="300"/>
              </a:spcAft>
              <a:buSzPct val="100000"/>
              <a:buChar char="•"/>
            </a:pPr>
            <a:r>
              <a:rPr lang="en-US" sz="1300" dirty="0">
                <a:solidFill>
                  <a:schemeClr val="tx2"/>
                </a:solidFill>
              </a:rPr>
              <a:t>formula only → derived</a:t>
            </a:r>
            <a:endParaRPr lang="en-US" sz="1300" dirty="0"/>
          </a:p>
          <a:p>
            <a:pPr marL="139700" indent="-139700">
              <a:spcAft>
                <a:spcPts val="300"/>
              </a:spcAft>
              <a:buSzPct val="100000"/>
              <a:buChar char="•"/>
            </a:pPr>
            <a:r>
              <a:rPr lang="en-US" sz="1300" dirty="0">
                <a:solidFill>
                  <a:schemeClr val="tx2"/>
                </a:solidFill>
              </a:rPr>
              <a:t>CGCNN → predicted ± error</a:t>
            </a:r>
            <a:endParaRPr lang="en-US" sz="1300" dirty="0"/>
          </a:p>
        </p:txBody>
      </p:sp>
      <p:sp>
        <p:nvSpPr>
          <p:cNvPr id="13" name="arrow-228"/>
          <p:cNvSpPr/>
          <p:nvPr/>
        </p:nvSpPr>
        <p:spPr>
          <a:xfrm>
            <a:off x="5989320" y="2148840"/>
            <a:ext cx="201168" cy="365760"/>
          </a:xfrm>
          <a:prstGeom prst="chevron">
            <a:avLst/>
          </a:prstGeom>
          <a:solidFill>
            <a:schemeClr val="tx2"/>
          </a:solidFill>
          <a:ln/>
        </p:spPr>
      </p:sp>
      <p:sp>
        <p:nvSpPr>
          <p:cNvPr id="14" name="ingest-step-229"/>
          <p:cNvSpPr/>
          <p:nvPr/>
        </p:nvSpPr>
        <p:spPr>
          <a:xfrm>
            <a:off x="6254496" y="1463040"/>
            <a:ext cx="2514600" cy="1737360"/>
          </a:xfrm>
          <a:prstGeom prst="roundRect">
            <a:avLst>
              <a:gd name="adj" fmla="val 6316"/>
            </a:avLst>
          </a:prstGeom>
          <a:solidFill>
            <a:schemeClr val="bg1"/>
          </a:solidFill>
          <a:ln w="19050">
            <a:solidFill>
              <a:schemeClr val="accent5"/>
            </a:solidFill>
            <a:prstDash val="solid"/>
          </a:ln>
        </p:spPr>
      </p:sp>
      <p:sp>
        <p:nvSpPr>
          <p:cNvPr id="15" name="num-230"/>
          <p:cNvSpPr/>
          <p:nvPr/>
        </p:nvSpPr>
        <p:spPr>
          <a:xfrm>
            <a:off x="6419088" y="1627632"/>
            <a:ext cx="384048" cy="384048"/>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231"/>
          <p:cNvSpPr txBox="1"/>
          <p:nvPr/>
        </p:nvSpPr>
        <p:spPr>
          <a:xfrm>
            <a:off x="6894576" y="1600200"/>
            <a:ext cx="1737360" cy="438912"/>
          </a:xfrm>
          <a:prstGeom prst="rect">
            <a:avLst/>
          </a:prstGeom>
          <a:noFill/>
          <a:ln/>
        </p:spPr>
        <p:txBody>
          <a:bodyPr wrap="square" lIns="0" tIns="0" rIns="0" bIns="0" rtlCol="0" anchor="ctr"/>
          <a:lstStyle/>
          <a:p>
            <a:pPr indent="0" marL="0">
              <a:buNone/>
            </a:pPr>
            <a:r>
              <a:rPr lang="en-US" sz="1500" b="1" dirty="0">
                <a:solidFill>
                  <a:schemeClr val="tx1"/>
                </a:solidFill>
              </a:rPr>
              <a:t>Deduplicate</a:t>
            </a:r>
            <a:endParaRPr lang="en-US" sz="1500" dirty="0"/>
          </a:p>
        </p:txBody>
      </p:sp>
      <p:sp>
        <p:nvSpPr>
          <p:cNvPr id="17" name="text-232"/>
          <p:cNvSpPr txBox="1"/>
          <p:nvPr/>
        </p:nvSpPr>
        <p:spPr>
          <a:xfrm>
            <a:off x="6391656" y="2121408"/>
            <a:ext cx="2286000" cy="987552"/>
          </a:xfrm>
          <a:prstGeom prst="rect">
            <a:avLst/>
          </a:prstGeom>
          <a:noFill/>
          <a:ln/>
        </p:spPr>
        <p:txBody>
          <a:bodyPr wrap="square" lIns="0" tIns="0" rIns="0" bIns="0" rtlCol="0" anchor="t"/>
          <a:lstStyle/>
          <a:p>
            <a:pPr marL="139700" indent="-139700">
              <a:spcAft>
                <a:spcPts val="300"/>
              </a:spcAft>
              <a:buSzPct val="100000"/>
              <a:buChar char="•"/>
            </a:pPr>
            <a:r>
              <a:rPr lang="en-US" sz="1300" dirty="0">
                <a:solidFill>
                  <a:schemeClr val="tx2"/>
                </a:solidFill>
              </a:rPr>
              <a:t>formula → existing MP node</a:t>
            </a:r>
            <a:endParaRPr lang="en-US" sz="1300" dirty="0"/>
          </a:p>
          <a:p>
            <a:pPr marL="139700" indent="-139700">
              <a:spcAft>
                <a:spcPts val="300"/>
              </a:spcAft>
              <a:buSzPct val="100000"/>
              <a:buChar char="•"/>
            </a:pPr>
            <a:r>
              <a:rPr lang="en-US" sz="1300" dirty="0">
                <a:solidFill>
                  <a:schemeClr val="tx2"/>
                </a:solidFill>
              </a:rPr>
              <a:t>structure → StructureMatcher</a:t>
            </a:r>
            <a:endParaRPr lang="en-US" sz="1300" dirty="0"/>
          </a:p>
          <a:p>
            <a:pPr marL="139700" indent="-139700">
              <a:spcAft>
                <a:spcPts val="300"/>
              </a:spcAft>
              <a:buSzPct val="100000"/>
              <a:buChar char="•"/>
            </a:pPr>
            <a:r>
              <a:rPr lang="en-US" sz="1300" dirty="0">
                <a:solidFill>
                  <a:schemeClr val="tx2"/>
                </a:solidFill>
              </a:rPr>
              <a:t>no match → new struct-… id</a:t>
            </a:r>
            <a:endParaRPr lang="en-US" sz="1300" dirty="0"/>
          </a:p>
        </p:txBody>
      </p:sp>
      <p:sp>
        <p:nvSpPr>
          <p:cNvPr id="18" name="arrow-233"/>
          <p:cNvSpPr/>
          <p:nvPr/>
        </p:nvSpPr>
        <p:spPr>
          <a:xfrm>
            <a:off x="8842248" y="2148840"/>
            <a:ext cx="201168" cy="365760"/>
          </a:xfrm>
          <a:prstGeom prst="chevron">
            <a:avLst/>
          </a:prstGeom>
          <a:solidFill>
            <a:schemeClr val="tx2"/>
          </a:solidFill>
          <a:ln/>
        </p:spPr>
      </p:sp>
      <p:sp>
        <p:nvSpPr>
          <p:cNvPr id="19" name="ingest-step-234"/>
          <p:cNvSpPr/>
          <p:nvPr/>
        </p:nvSpPr>
        <p:spPr>
          <a:xfrm>
            <a:off x="9107424" y="1463040"/>
            <a:ext cx="2514600" cy="1737360"/>
          </a:xfrm>
          <a:prstGeom prst="roundRect">
            <a:avLst>
              <a:gd name="adj" fmla="val 6316"/>
            </a:avLst>
          </a:prstGeom>
          <a:solidFill>
            <a:schemeClr val="bg1"/>
          </a:solidFill>
          <a:ln w="19050">
            <a:solidFill>
              <a:schemeClr val="accent1"/>
            </a:solidFill>
            <a:prstDash val="solid"/>
          </a:ln>
        </p:spPr>
      </p:sp>
      <p:sp>
        <p:nvSpPr>
          <p:cNvPr id="20" name="num-235"/>
          <p:cNvSpPr/>
          <p:nvPr/>
        </p:nvSpPr>
        <p:spPr>
          <a:xfrm>
            <a:off x="9272016" y="162763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236"/>
          <p:cNvSpPr txBox="1"/>
          <p:nvPr/>
        </p:nvSpPr>
        <p:spPr>
          <a:xfrm>
            <a:off x="9747504" y="1600200"/>
            <a:ext cx="1737360" cy="438912"/>
          </a:xfrm>
          <a:prstGeom prst="rect">
            <a:avLst/>
          </a:prstGeom>
          <a:noFill/>
          <a:ln/>
        </p:spPr>
        <p:txBody>
          <a:bodyPr wrap="square" lIns="0" tIns="0" rIns="0" bIns="0" rtlCol="0" anchor="ctr"/>
          <a:lstStyle/>
          <a:p>
            <a:pPr indent="0" marL="0">
              <a:buNone/>
            </a:pPr>
            <a:r>
              <a:rPr lang="en-US" sz="1500" b="1" dirty="0">
                <a:solidFill>
                  <a:schemeClr val="tx1"/>
                </a:solidFill>
              </a:rPr>
              <a:t>Build nodes</a:t>
            </a:r>
            <a:endParaRPr lang="en-US" sz="1500" dirty="0"/>
          </a:p>
        </p:txBody>
      </p:sp>
      <p:sp>
        <p:nvSpPr>
          <p:cNvPr id="22" name="text-237"/>
          <p:cNvSpPr txBox="1"/>
          <p:nvPr/>
        </p:nvSpPr>
        <p:spPr>
          <a:xfrm>
            <a:off x="9244584" y="2121408"/>
            <a:ext cx="2286000" cy="987552"/>
          </a:xfrm>
          <a:prstGeom prst="rect">
            <a:avLst/>
          </a:prstGeom>
          <a:noFill/>
          <a:ln/>
        </p:spPr>
        <p:txBody>
          <a:bodyPr wrap="square" lIns="0" tIns="0" rIns="0" bIns="0" rtlCol="0" anchor="t"/>
          <a:lstStyle/>
          <a:p>
            <a:pPr marL="139700" indent="-139700">
              <a:spcAft>
                <a:spcPts val="300"/>
              </a:spcAft>
              <a:buSzPct val="100000"/>
              <a:buChar char="•"/>
            </a:pPr>
            <a:r>
              <a:rPr lang="en-US" sz="1300" dirty="0">
                <a:solidFill>
                  <a:schemeClr val="tx2"/>
                </a:solidFill>
              </a:rPr>
              <a:t>same NodeFactory as the build</a:t>
            </a:r>
            <a:endParaRPr lang="en-US" sz="1300" dirty="0"/>
          </a:p>
          <a:p>
            <a:pPr marL="139700" indent="-139700">
              <a:spcAft>
                <a:spcPts val="300"/>
              </a:spcAft>
              <a:buSzPct val="100000"/>
              <a:buChar char="•"/>
            </a:pPr>
            <a:r>
              <a:rPr lang="en-US" sz="1300" dirty="0">
                <a:solidFill>
                  <a:schemeClr val="tx2"/>
                </a:solidFill>
              </a:rPr>
              <a:t>identity keys reuse hubs</a:t>
            </a:r>
            <a:endParaRPr lang="en-US" sz="1300" dirty="0"/>
          </a:p>
          <a:p>
            <a:pPr marL="139700" indent="-139700">
              <a:spcAft>
                <a:spcPts val="300"/>
              </a:spcAft>
              <a:buSzPct val="100000"/>
              <a:buChar char="•"/>
            </a:pPr>
            <a:r>
              <a:rPr lang="en-US" sz="1300" dirty="0">
                <a:solidFill>
                  <a:schemeClr val="tx2"/>
                </a:solidFill>
              </a:rPr>
              <a:t>creates only missing hubs</a:t>
            </a:r>
            <a:endParaRPr lang="en-US" sz="1300" dirty="0"/>
          </a:p>
        </p:txBody>
      </p:sp>
      <p:sp>
        <p:nvSpPr>
          <p:cNvPr id="23" name="ingest-step-238"/>
          <p:cNvSpPr/>
          <p:nvPr/>
        </p:nvSpPr>
        <p:spPr>
          <a:xfrm>
            <a:off x="548640" y="3794760"/>
            <a:ext cx="2514600" cy="1737360"/>
          </a:xfrm>
          <a:prstGeom prst="roundRect">
            <a:avLst>
              <a:gd name="adj" fmla="val 6316"/>
            </a:avLst>
          </a:prstGeom>
          <a:solidFill>
            <a:schemeClr val="bg1"/>
          </a:solidFill>
          <a:ln w="19050">
            <a:solidFill>
              <a:schemeClr val="accent4"/>
            </a:solidFill>
            <a:prstDash val="solid"/>
          </a:ln>
        </p:spPr>
      </p:sp>
      <p:sp>
        <p:nvSpPr>
          <p:cNvPr id="24" name="num-239"/>
          <p:cNvSpPr/>
          <p:nvPr/>
        </p:nvSpPr>
        <p:spPr>
          <a:xfrm>
            <a:off x="713232" y="3959352"/>
            <a:ext cx="384048" cy="384048"/>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5" name="text-240"/>
          <p:cNvSpPr txBox="1"/>
          <p:nvPr/>
        </p:nvSpPr>
        <p:spPr>
          <a:xfrm>
            <a:off x="1188720" y="3931920"/>
            <a:ext cx="1737360" cy="438912"/>
          </a:xfrm>
          <a:prstGeom prst="rect">
            <a:avLst/>
          </a:prstGeom>
          <a:noFill/>
          <a:ln/>
        </p:spPr>
        <p:txBody>
          <a:bodyPr wrap="square" lIns="0" tIns="0" rIns="0" bIns="0" rtlCol="0" anchor="ctr"/>
          <a:lstStyle/>
          <a:p>
            <a:pPr indent="0" marL="0">
              <a:buNone/>
            </a:pPr>
            <a:r>
              <a:rPr lang="en-US" sz="1500" b="1" dirty="0">
                <a:solidFill>
                  <a:schemeClr val="tx1"/>
                </a:solidFill>
              </a:rPr>
              <a:t>Relate</a:t>
            </a:r>
            <a:endParaRPr lang="en-US" sz="1500" dirty="0"/>
          </a:p>
        </p:txBody>
      </p:sp>
      <p:sp>
        <p:nvSpPr>
          <p:cNvPr id="26" name="text-241"/>
          <p:cNvSpPr txBox="1"/>
          <p:nvPr/>
        </p:nvSpPr>
        <p:spPr>
          <a:xfrm>
            <a:off x="685800" y="4453128"/>
            <a:ext cx="2286000" cy="987552"/>
          </a:xfrm>
          <a:prstGeom prst="rect">
            <a:avLst/>
          </a:prstGeom>
          <a:noFill/>
          <a:ln/>
        </p:spPr>
        <p:txBody>
          <a:bodyPr wrap="square" lIns="0" tIns="0" rIns="0" bIns="0" rtlCol="0" anchor="t"/>
          <a:lstStyle/>
          <a:p>
            <a:pPr marL="139700" indent="-139700">
              <a:spcAft>
                <a:spcPts val="300"/>
              </a:spcAft>
              <a:buSzPct val="100000"/>
              <a:buChar char="•"/>
            </a:pPr>
            <a:r>
              <a:rPr lang="en-US" sz="1300" dirty="0">
                <a:solidFill>
                  <a:schemeClr val="tx2"/>
                </a:solidFill>
              </a:rPr>
              <a:t>hubs ranked by selectivity</a:t>
            </a:r>
            <a:endParaRPr lang="en-US" sz="1300" dirty="0"/>
          </a:p>
          <a:p>
            <a:pPr marL="139700" indent="-139700">
              <a:spcAft>
                <a:spcPts val="300"/>
              </a:spcAft>
              <a:buSzPct val="100000"/>
              <a:buChar char="•"/>
            </a:pPr>
            <a:r>
              <a:rPr lang="en-US" sz="1300" dirty="0">
                <a:solidFill>
                  <a:schemeClr val="tx2"/>
                </a:solidFill>
              </a:rPr>
              <a:t>similar_to, frozen z-scale</a:t>
            </a:r>
            <a:endParaRPr lang="en-US" sz="1300" dirty="0"/>
          </a:p>
          <a:p>
            <a:pPr marL="139700" indent="-139700">
              <a:spcAft>
                <a:spcPts val="300"/>
              </a:spcAft>
              <a:buSzPct val="100000"/>
              <a:buChar char="•"/>
            </a:pPr>
            <a:r>
              <a:rPr lang="en-US" sz="1300" dirty="0">
                <a:solidFill>
                  <a:schemeClr val="tx2"/>
                </a:solidFill>
              </a:rPr>
              <a:t>compositional neighbours</a:t>
            </a:r>
            <a:endParaRPr lang="en-US" sz="1300" dirty="0"/>
          </a:p>
        </p:txBody>
      </p:sp>
      <p:sp>
        <p:nvSpPr>
          <p:cNvPr id="27" name="arrow-242"/>
          <p:cNvSpPr/>
          <p:nvPr/>
        </p:nvSpPr>
        <p:spPr>
          <a:xfrm>
            <a:off x="3136392" y="4480560"/>
            <a:ext cx="201168" cy="365760"/>
          </a:xfrm>
          <a:prstGeom prst="chevron">
            <a:avLst/>
          </a:prstGeom>
          <a:solidFill>
            <a:schemeClr val="tx2"/>
          </a:solidFill>
          <a:ln/>
        </p:spPr>
      </p:sp>
      <p:sp>
        <p:nvSpPr>
          <p:cNvPr id="28" name="ingest-step-243"/>
          <p:cNvSpPr/>
          <p:nvPr/>
        </p:nvSpPr>
        <p:spPr>
          <a:xfrm>
            <a:off x="3401568" y="3794760"/>
            <a:ext cx="2514600" cy="1737360"/>
          </a:xfrm>
          <a:prstGeom prst="roundRect">
            <a:avLst>
              <a:gd name="adj" fmla="val 6316"/>
            </a:avLst>
          </a:prstGeom>
          <a:solidFill>
            <a:schemeClr val="bg1"/>
          </a:solidFill>
          <a:ln w="19050">
            <a:solidFill>
              <a:schemeClr val="accent6"/>
            </a:solidFill>
            <a:prstDash val="solid"/>
          </a:ln>
        </p:spPr>
      </p:sp>
      <p:sp>
        <p:nvSpPr>
          <p:cNvPr id="29" name="num-244"/>
          <p:cNvSpPr/>
          <p:nvPr/>
        </p:nvSpPr>
        <p:spPr>
          <a:xfrm>
            <a:off x="3566160" y="3959352"/>
            <a:ext cx="384048" cy="384048"/>
          </a:xfrm>
          <a:prstGeom prst="ellipse">
            <a:avLst/>
          </a:prstGeom>
          <a:solidFill>
            <a:schemeClr val="accent6"/>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0" name="text-245"/>
          <p:cNvSpPr txBox="1"/>
          <p:nvPr/>
        </p:nvSpPr>
        <p:spPr>
          <a:xfrm>
            <a:off x="4041648" y="3931920"/>
            <a:ext cx="1737360" cy="438912"/>
          </a:xfrm>
          <a:prstGeom prst="rect">
            <a:avLst/>
          </a:prstGeom>
          <a:noFill/>
          <a:ln/>
        </p:spPr>
        <p:txBody>
          <a:bodyPr wrap="square" lIns="0" tIns="0" rIns="0" bIns="0" rtlCol="0" anchor="ctr"/>
          <a:lstStyle/>
          <a:p>
            <a:pPr indent="0" marL="0">
              <a:buNone/>
            </a:pPr>
            <a:r>
              <a:rPr lang="en-US" sz="1500" b="1" dirty="0">
                <a:solidFill>
                  <a:schemeClr val="tx1"/>
                </a:solidFill>
              </a:rPr>
              <a:t>Relation report</a:t>
            </a:r>
            <a:endParaRPr lang="en-US" sz="1500" dirty="0"/>
          </a:p>
        </p:txBody>
      </p:sp>
      <p:sp>
        <p:nvSpPr>
          <p:cNvPr id="31" name="text-246"/>
          <p:cNvSpPr txBox="1"/>
          <p:nvPr/>
        </p:nvSpPr>
        <p:spPr>
          <a:xfrm>
            <a:off x="3538728" y="4453128"/>
            <a:ext cx="2286000" cy="987552"/>
          </a:xfrm>
          <a:prstGeom prst="rect">
            <a:avLst/>
          </a:prstGeom>
          <a:noFill/>
          <a:ln/>
        </p:spPr>
        <p:txBody>
          <a:bodyPr wrap="square" lIns="0" tIns="0" rIns="0" bIns="0" rtlCol="0" anchor="t"/>
          <a:lstStyle/>
          <a:p>
            <a:pPr marL="139700" indent="-139700">
              <a:spcAft>
                <a:spcPts val="300"/>
              </a:spcAft>
              <a:buSzPct val="100000"/>
              <a:buChar char="•"/>
            </a:pPr>
            <a:r>
              <a:rPr lang="en-US" sz="1300" dirty="0">
                <a:solidFill>
                  <a:schemeClr val="tx2"/>
                </a:solidFill>
              </a:rPr>
              <a:t>properties with provenance</a:t>
            </a:r>
            <a:endParaRPr lang="en-US" sz="1300" dirty="0"/>
          </a:p>
          <a:p>
            <a:pPr marL="139700" indent="-139700">
              <a:spcAft>
                <a:spcPts val="300"/>
              </a:spcAft>
              <a:buSzPct val="100000"/>
              <a:buChar char="•"/>
            </a:pPr>
            <a:r>
              <a:rPr lang="en-US" sz="1300" dirty="0">
                <a:solidFill>
                  <a:schemeClr val="tx2"/>
                </a:solidFill>
              </a:rPr>
              <a:t>rules fired / not fired / cannot evaluate</a:t>
            </a:r>
            <a:endParaRPr lang="en-US" sz="1300" dirty="0"/>
          </a:p>
        </p:txBody>
      </p:sp>
      <p:sp>
        <p:nvSpPr>
          <p:cNvPr id="32" name="arrow-247"/>
          <p:cNvSpPr/>
          <p:nvPr/>
        </p:nvSpPr>
        <p:spPr>
          <a:xfrm>
            <a:off x="5989320" y="4480560"/>
            <a:ext cx="201168" cy="365760"/>
          </a:xfrm>
          <a:prstGeom prst="chevron">
            <a:avLst/>
          </a:prstGeom>
          <a:solidFill>
            <a:schemeClr val="tx2"/>
          </a:solidFill>
          <a:ln/>
        </p:spPr>
      </p:sp>
      <p:sp>
        <p:nvSpPr>
          <p:cNvPr id="33" name="ingest-step-248"/>
          <p:cNvSpPr/>
          <p:nvPr/>
        </p:nvSpPr>
        <p:spPr>
          <a:xfrm>
            <a:off x="6254496" y="3794760"/>
            <a:ext cx="2514600" cy="1737360"/>
          </a:xfrm>
          <a:prstGeom prst="roundRect">
            <a:avLst>
              <a:gd name="adj" fmla="val 6316"/>
            </a:avLst>
          </a:prstGeom>
          <a:solidFill>
            <a:schemeClr val="bg1"/>
          </a:solidFill>
          <a:ln w="19050">
            <a:solidFill>
              <a:schemeClr val="accent1"/>
            </a:solidFill>
            <a:prstDash val="solid"/>
          </a:ln>
        </p:spPr>
      </p:sp>
      <p:sp>
        <p:nvSpPr>
          <p:cNvPr id="34" name="num-249"/>
          <p:cNvSpPr/>
          <p:nvPr/>
        </p:nvSpPr>
        <p:spPr>
          <a:xfrm>
            <a:off x="6419088" y="395935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5" name="text-250"/>
          <p:cNvSpPr txBox="1"/>
          <p:nvPr/>
        </p:nvSpPr>
        <p:spPr>
          <a:xfrm>
            <a:off x="6894576" y="3931920"/>
            <a:ext cx="1737360" cy="438912"/>
          </a:xfrm>
          <a:prstGeom prst="rect">
            <a:avLst/>
          </a:prstGeom>
          <a:noFill/>
          <a:ln/>
        </p:spPr>
        <p:txBody>
          <a:bodyPr wrap="square" lIns="0" tIns="0" rIns="0" bIns="0" rtlCol="0" anchor="ctr"/>
          <a:lstStyle/>
          <a:p>
            <a:pPr indent="0" marL="0">
              <a:buNone/>
            </a:pPr>
            <a:r>
              <a:rPr lang="en-US" sz="1500" b="1" dirty="0">
                <a:solidFill>
                  <a:schemeClr val="tx1"/>
                </a:solidFill>
              </a:rPr>
              <a:t>Explain &amp; ground</a:t>
            </a:r>
            <a:endParaRPr lang="en-US" sz="1500" dirty="0"/>
          </a:p>
        </p:txBody>
      </p:sp>
      <p:sp>
        <p:nvSpPr>
          <p:cNvPr id="36" name="text-251"/>
          <p:cNvSpPr txBox="1"/>
          <p:nvPr/>
        </p:nvSpPr>
        <p:spPr>
          <a:xfrm>
            <a:off x="6391656" y="4453128"/>
            <a:ext cx="2286000" cy="987552"/>
          </a:xfrm>
          <a:prstGeom prst="rect">
            <a:avLst/>
          </a:prstGeom>
          <a:noFill/>
          <a:ln/>
        </p:spPr>
        <p:txBody>
          <a:bodyPr wrap="square" lIns="0" tIns="0" rIns="0" bIns="0" rtlCol="0" anchor="t"/>
          <a:lstStyle/>
          <a:p>
            <a:pPr marL="139700" indent="-139700">
              <a:spcAft>
                <a:spcPts val="300"/>
              </a:spcAft>
              <a:buSzPct val="100000"/>
              <a:buChar char="•"/>
            </a:pPr>
            <a:r>
              <a:rPr lang="en-US" sz="1300" dirty="0">
                <a:solidFill>
                  <a:schemeClr val="tx2"/>
                </a:solidFill>
              </a:rPr>
              <a:t>LLM or templated text</a:t>
            </a:r>
            <a:endParaRPr lang="en-US" sz="1300" dirty="0"/>
          </a:p>
          <a:p>
            <a:pPr marL="139700" indent="-139700">
              <a:spcAft>
                <a:spcPts val="300"/>
              </a:spcAft>
              <a:buSzPct val="100000"/>
              <a:buChar char="•"/>
            </a:pPr>
            <a:r>
              <a:rPr lang="en-US" sz="1300" dirty="0">
                <a:solidFill>
                  <a:schemeClr val="tx2"/>
                </a:solidFill>
              </a:rPr>
              <a:t>each claim checked against facts</a:t>
            </a:r>
            <a:endParaRPr lang="en-US" sz="1300" dirty="0"/>
          </a:p>
        </p:txBody>
      </p:sp>
      <p:sp>
        <p:nvSpPr>
          <p:cNvPr id="37" name="arrow-252"/>
          <p:cNvSpPr/>
          <p:nvPr/>
        </p:nvSpPr>
        <p:spPr>
          <a:xfrm>
            <a:off x="8842248" y="4480560"/>
            <a:ext cx="201168" cy="365760"/>
          </a:xfrm>
          <a:prstGeom prst="chevron">
            <a:avLst/>
          </a:prstGeom>
          <a:solidFill>
            <a:schemeClr val="tx2"/>
          </a:solidFill>
          <a:ln/>
        </p:spPr>
      </p:sp>
      <p:sp>
        <p:nvSpPr>
          <p:cNvPr id="38" name="ingest-step-253"/>
          <p:cNvSpPr/>
          <p:nvPr/>
        </p:nvSpPr>
        <p:spPr>
          <a:xfrm>
            <a:off x="9107424" y="3794760"/>
            <a:ext cx="2514600" cy="1737360"/>
          </a:xfrm>
          <a:prstGeom prst="roundRect">
            <a:avLst>
              <a:gd name="adj" fmla="val 6316"/>
            </a:avLst>
          </a:prstGeom>
          <a:solidFill>
            <a:schemeClr val="bg1"/>
          </a:solidFill>
          <a:ln w="19050">
            <a:solidFill>
              <a:schemeClr val="accent2"/>
            </a:solidFill>
            <a:prstDash val="solid"/>
          </a:ln>
        </p:spPr>
      </p:sp>
      <p:sp>
        <p:nvSpPr>
          <p:cNvPr id="39" name="num-254"/>
          <p:cNvSpPr/>
          <p:nvPr/>
        </p:nvSpPr>
        <p:spPr>
          <a:xfrm>
            <a:off x="9272016" y="3959352"/>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0" name="text-255"/>
          <p:cNvSpPr txBox="1"/>
          <p:nvPr/>
        </p:nvSpPr>
        <p:spPr>
          <a:xfrm>
            <a:off x="9747504" y="3931920"/>
            <a:ext cx="1737360" cy="438912"/>
          </a:xfrm>
          <a:prstGeom prst="rect">
            <a:avLst/>
          </a:prstGeom>
          <a:noFill/>
          <a:ln/>
        </p:spPr>
        <p:txBody>
          <a:bodyPr wrap="square" lIns="0" tIns="0" rIns="0" bIns="0" rtlCol="0" anchor="ctr"/>
          <a:lstStyle/>
          <a:p>
            <a:pPr indent="0" marL="0">
              <a:buNone/>
            </a:pPr>
            <a:r>
              <a:rPr lang="en-US" sz="1500" b="1" dirty="0">
                <a:solidFill>
                  <a:schemeClr val="tx1"/>
                </a:solidFill>
              </a:rPr>
              <a:t>Preview or persist</a:t>
            </a:r>
            <a:endParaRPr lang="en-US" sz="1500" dirty="0"/>
          </a:p>
        </p:txBody>
      </p:sp>
      <p:sp>
        <p:nvSpPr>
          <p:cNvPr id="41" name="text-256"/>
          <p:cNvSpPr txBox="1"/>
          <p:nvPr/>
        </p:nvSpPr>
        <p:spPr>
          <a:xfrm>
            <a:off x="9244584" y="4453128"/>
            <a:ext cx="2286000" cy="987552"/>
          </a:xfrm>
          <a:prstGeom prst="rect">
            <a:avLst/>
          </a:prstGeom>
          <a:noFill/>
          <a:ln/>
        </p:spPr>
        <p:txBody>
          <a:bodyPr wrap="square" lIns="0" tIns="0" rIns="0" bIns="0" rtlCol="0" anchor="t"/>
          <a:lstStyle/>
          <a:p>
            <a:pPr marL="139700" indent="-139700">
              <a:spcAft>
                <a:spcPts val="300"/>
              </a:spcAft>
              <a:buSzPct val="100000"/>
              <a:buChar char="•"/>
            </a:pPr>
            <a:r>
              <a:rPr lang="en-US" sz="1300" dirty="0">
                <a:solidFill>
                  <a:schemeClr val="tx2"/>
                </a:solidFill>
              </a:rPr>
              <a:t>in-memory overlay, queryable</a:t>
            </a:r>
            <a:endParaRPr lang="en-US" sz="1300" dirty="0"/>
          </a:p>
          <a:p>
            <a:pPr marL="139700" indent="-139700">
              <a:spcAft>
                <a:spcPts val="300"/>
              </a:spcAft>
              <a:buSzPct val="100000"/>
              <a:buChar char="•"/>
            </a:pPr>
            <a:r>
              <a:rPr lang="en-US" sz="1300" dirty="0">
                <a:solidFill>
                  <a:schemeClr val="tx2"/>
                </a:solidFill>
              </a:rPr>
              <a:t>or saved, replayed on rebuild</a:t>
            </a:r>
            <a:endParaRPr lang="en-US" sz="1300" dirty="0"/>
          </a:p>
        </p:txBody>
      </p:sp>
      <p:sp>
        <p:nvSpPr>
          <p:cNvPr id="42" name="edge-257"/>
          <p:cNvSpPr/>
          <p:nvPr/>
        </p:nvSpPr>
        <p:spPr>
          <a:xfrm>
            <a:off x="10364724" y="3200400"/>
            <a:ext cx="0" cy="301752"/>
          </a:xfrm>
          <a:prstGeom prst="line">
            <a:avLst/>
          </a:prstGeom>
          <a:noFill/>
          <a:ln w="19050">
            <a:solidFill>
              <a:schemeClr val="tx2"/>
            </a:solidFill>
            <a:prstDash val="solid"/>
          </a:ln>
        </p:spPr>
      </p:sp>
      <p:sp>
        <p:nvSpPr>
          <p:cNvPr id="43" name="edge-258"/>
          <p:cNvSpPr/>
          <p:nvPr/>
        </p:nvSpPr>
        <p:spPr>
          <a:xfrm flipH="1">
            <a:off x="1805940" y="3502152"/>
            <a:ext cx="8558784" cy="0"/>
          </a:xfrm>
          <a:prstGeom prst="line">
            <a:avLst/>
          </a:prstGeom>
          <a:noFill/>
          <a:ln w="19050">
            <a:solidFill>
              <a:schemeClr val="tx2"/>
            </a:solidFill>
            <a:prstDash val="solid"/>
          </a:ln>
        </p:spPr>
      </p:sp>
      <p:sp>
        <p:nvSpPr>
          <p:cNvPr id="44" name="edge-259"/>
          <p:cNvSpPr/>
          <p:nvPr/>
        </p:nvSpPr>
        <p:spPr>
          <a:xfrm>
            <a:off x="1805940" y="3502152"/>
            <a:ext cx="0" cy="292608"/>
          </a:xfrm>
          <a:prstGeom prst="line">
            <a:avLst/>
          </a:prstGeom>
          <a:noFill/>
          <a:ln w="19050">
            <a:solidFill>
              <a:schemeClr val="tx2"/>
            </a:solidFill>
            <a:prstDash val="solid"/>
            <a:tailEnd type="triangle"/>
          </a:ln>
        </p:spPr>
      </p:sp>
      <p:sp>
        <p:nvSpPr>
          <p:cNvPr id="45" name="text-260"/>
          <p:cNvSpPr txBox="1"/>
          <p:nvPr/>
        </p:nvSpPr>
        <p:spPr>
          <a:xfrm>
            <a:off x="548640" y="5715000"/>
            <a:ext cx="1828800" cy="384048"/>
          </a:xfrm>
          <a:prstGeom prst="rect">
            <a:avLst/>
          </a:prstGeom>
          <a:noFill/>
          <a:ln/>
        </p:spPr>
        <p:txBody>
          <a:bodyPr wrap="square" lIns="0" tIns="0" rIns="0" bIns="0" rtlCol="0" anchor="ctr"/>
          <a:lstStyle/>
          <a:p>
            <a:pPr indent="0" marL="0">
              <a:buNone/>
            </a:pPr>
            <a:r>
              <a:rPr lang="en-US" sz="1300" b="1" dirty="0">
                <a:solidFill>
                  <a:schemeClr val="tx2"/>
                </a:solidFill>
              </a:rPr>
              <a:t>Provenance labels</a:t>
            </a:r>
            <a:endParaRPr lang="en-US" sz="1300" dirty="0"/>
          </a:p>
        </p:txBody>
      </p:sp>
      <p:sp>
        <p:nvSpPr>
          <p:cNvPr id="46" name="pill-261"/>
          <p:cNvSpPr/>
          <p:nvPr/>
        </p:nvSpPr>
        <p:spPr>
          <a:xfrm>
            <a:off x="2377440" y="5742432"/>
            <a:ext cx="1280160" cy="329184"/>
          </a:xfrm>
          <a:prstGeom prst="roundRect">
            <a:avLst>
              <a:gd name="adj" fmla="val 50000"/>
            </a:avLst>
          </a:prstGeom>
          <a:solidFill>
            <a:schemeClr val="accent2">
              <a:alpha val="15000"/>
            </a:schemeClr>
          </a:solidFill>
          <a:ln w="15875">
            <a:solidFill>
              <a:schemeClr val="accent2"/>
            </a:solidFill>
            <a:prstDash val="solid"/>
          </a:ln>
        </p:spPr>
        <p:txBody>
          <a:bodyPr wrap="square" lIns="0" tIns="0" rIns="0" bIns="0" rtlCol="0" anchor="ctr"/>
          <a:lstStyle/>
          <a:p>
            <a:pPr algn="ctr" indent="0" marL="0">
              <a:buNone/>
            </a:pPr>
            <a:r>
              <a:rPr lang="en-US" sz="1200" b="1" dirty="0">
                <a:solidFill>
                  <a:schemeClr val="accent2"/>
                </a:solidFill>
              </a:rPr>
              <a:t>mp</a:t>
            </a:r>
            <a:endParaRPr lang="en-US" sz="1200" dirty="0"/>
          </a:p>
        </p:txBody>
      </p:sp>
      <p:sp>
        <p:nvSpPr>
          <p:cNvPr id="47" name="pill-262"/>
          <p:cNvSpPr/>
          <p:nvPr/>
        </p:nvSpPr>
        <p:spPr>
          <a:xfrm>
            <a:off x="3840480" y="5742432"/>
            <a:ext cx="1280160" cy="329184"/>
          </a:xfrm>
          <a:prstGeom prst="roundRect">
            <a:avLst>
              <a:gd name="adj" fmla="val 50000"/>
            </a:avLst>
          </a:prstGeom>
          <a:solidFill>
            <a:schemeClr val="accent1">
              <a:alpha val="15000"/>
            </a:schemeClr>
          </a:solidFill>
          <a:ln w="15875">
            <a:solidFill>
              <a:schemeClr val="accent1"/>
            </a:solidFill>
            <a:prstDash val="solid"/>
          </a:ln>
        </p:spPr>
        <p:txBody>
          <a:bodyPr wrap="square" lIns="0" tIns="0" rIns="0" bIns="0" rtlCol="0" anchor="ctr"/>
          <a:lstStyle/>
          <a:p>
            <a:pPr algn="ctr" indent="0" marL="0">
              <a:buNone/>
            </a:pPr>
            <a:r>
              <a:rPr lang="en-US" sz="1200" b="1" dirty="0">
                <a:solidFill>
                  <a:schemeClr val="accent1"/>
                </a:solidFill>
              </a:rPr>
              <a:t>derived</a:t>
            </a:r>
            <a:endParaRPr lang="en-US" sz="1200" dirty="0"/>
          </a:p>
        </p:txBody>
      </p:sp>
      <p:sp>
        <p:nvSpPr>
          <p:cNvPr id="48" name="pill-263"/>
          <p:cNvSpPr/>
          <p:nvPr/>
        </p:nvSpPr>
        <p:spPr>
          <a:xfrm>
            <a:off x="5303520" y="5742432"/>
            <a:ext cx="1280160" cy="329184"/>
          </a:xfrm>
          <a:prstGeom prst="roundRect">
            <a:avLst>
              <a:gd name="adj" fmla="val 50000"/>
            </a:avLst>
          </a:prstGeom>
          <a:solidFill>
            <a:schemeClr val="accent5">
              <a:alpha val="15000"/>
            </a:schemeClr>
          </a:solidFill>
          <a:ln w="15875">
            <a:solidFill>
              <a:schemeClr val="accent5"/>
            </a:solidFill>
            <a:prstDash val="solid"/>
          </a:ln>
        </p:spPr>
        <p:txBody>
          <a:bodyPr wrap="square" lIns="0" tIns="0" rIns="0" bIns="0" rtlCol="0" anchor="ctr"/>
          <a:lstStyle/>
          <a:p>
            <a:pPr algn="ctr" indent="0" marL="0">
              <a:buNone/>
            </a:pPr>
            <a:r>
              <a:rPr lang="en-US" sz="1200" b="1" dirty="0">
                <a:solidFill>
                  <a:schemeClr val="accent5"/>
                </a:solidFill>
              </a:rPr>
              <a:t>guessed</a:t>
            </a:r>
            <a:endParaRPr lang="en-US" sz="1200" dirty="0"/>
          </a:p>
        </p:txBody>
      </p:sp>
      <p:sp>
        <p:nvSpPr>
          <p:cNvPr id="49" name="pill-264"/>
          <p:cNvSpPr/>
          <p:nvPr/>
        </p:nvSpPr>
        <p:spPr>
          <a:xfrm>
            <a:off x="6766560" y="5742432"/>
            <a:ext cx="1280160" cy="329184"/>
          </a:xfrm>
          <a:prstGeom prst="roundRect">
            <a:avLst>
              <a:gd name="adj" fmla="val 50000"/>
            </a:avLst>
          </a:prstGeom>
          <a:solidFill>
            <a:schemeClr val="accent3">
              <a:alpha val="15000"/>
            </a:schemeClr>
          </a:solidFill>
          <a:ln w="15875">
            <a:solidFill>
              <a:schemeClr val="accent3"/>
            </a:solidFill>
            <a:prstDash val="dash"/>
          </a:ln>
        </p:spPr>
        <p:txBody>
          <a:bodyPr wrap="square" lIns="0" tIns="0" rIns="0" bIns="0" rtlCol="0" anchor="ctr"/>
          <a:lstStyle/>
          <a:p>
            <a:pPr algn="ctr" indent="0" marL="0">
              <a:buNone/>
            </a:pPr>
            <a:r>
              <a:rPr lang="en-US" sz="1200" b="1" dirty="0">
                <a:solidFill>
                  <a:schemeClr val="accent3"/>
                </a:solidFill>
              </a:rPr>
              <a:t>predicted</a:t>
            </a:r>
            <a:endParaRPr lang="en-US" sz="1200" dirty="0"/>
          </a:p>
        </p:txBody>
      </p:sp>
      <p:sp>
        <p:nvSpPr>
          <p:cNvPr id="50" name="text-265"/>
          <p:cNvSpPr txBox="1"/>
          <p:nvPr/>
        </p:nvSpPr>
        <p:spPr>
          <a:xfrm>
            <a:off x="8321040" y="5715000"/>
            <a:ext cx="3291840" cy="384048"/>
          </a:xfrm>
          <a:prstGeom prst="rect">
            <a:avLst/>
          </a:prstGeom>
          <a:noFill/>
          <a:ln/>
        </p:spPr>
        <p:txBody>
          <a:bodyPr wrap="square" lIns="0" tIns="0" rIns="0" bIns="0" rtlCol="0" anchor="ctr"/>
          <a:lstStyle/>
          <a:p>
            <a:pPr indent="0" marL="0">
              <a:buNone/>
            </a:pPr>
            <a:r>
              <a:rPr lang="en-US" sz="1200" dirty="0">
                <a:solidFill>
                  <a:schemeClr val="tx2"/>
                </a:solidFill>
              </a:rPr>
              <a:t>Predicted facts are hedged in explanations and drawn dashed.</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INGESTION</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How a new material connects: LiTaO3</a:t>
            </a:r>
            <a:endParaRPr lang="en-US" sz="3200" dirty="0"/>
          </a:p>
        </p:txBody>
      </p:sp>
      <p:sp>
        <p:nvSpPr>
          <p:cNvPr id="4" name="edge-266"/>
          <p:cNvSpPr/>
          <p:nvPr/>
        </p:nvSpPr>
        <p:spPr>
          <a:xfrm flipH="1" flipV="1">
            <a:off x="2926080" y="2130552"/>
            <a:ext cx="1280160" cy="1728216"/>
          </a:xfrm>
          <a:prstGeom prst="line">
            <a:avLst/>
          </a:prstGeom>
          <a:noFill/>
          <a:ln w="22225">
            <a:solidFill>
              <a:schemeClr val="accent2"/>
            </a:solidFill>
            <a:prstDash val="solid"/>
            <a:tailEnd type="triangle"/>
          </a:ln>
        </p:spPr>
      </p:sp>
      <p:sp>
        <p:nvSpPr>
          <p:cNvPr id="5" name="edge-267"/>
          <p:cNvSpPr/>
          <p:nvPr/>
        </p:nvSpPr>
        <p:spPr>
          <a:xfrm flipH="1">
            <a:off x="2926080" y="3858768"/>
            <a:ext cx="1280160" cy="0"/>
          </a:xfrm>
          <a:prstGeom prst="line">
            <a:avLst/>
          </a:prstGeom>
          <a:noFill/>
          <a:ln w="22225">
            <a:solidFill>
              <a:schemeClr val="accent4"/>
            </a:solidFill>
            <a:prstDash val="solid"/>
            <a:tailEnd type="triangle"/>
          </a:ln>
        </p:spPr>
      </p:sp>
      <p:sp>
        <p:nvSpPr>
          <p:cNvPr id="6" name="edge-268"/>
          <p:cNvSpPr/>
          <p:nvPr/>
        </p:nvSpPr>
        <p:spPr>
          <a:xfrm flipH="1">
            <a:off x="2926080" y="3858768"/>
            <a:ext cx="1280160" cy="1737360"/>
          </a:xfrm>
          <a:prstGeom prst="line">
            <a:avLst/>
          </a:prstGeom>
          <a:noFill/>
          <a:ln w="22225">
            <a:solidFill>
              <a:schemeClr val="accent3"/>
            </a:solidFill>
            <a:prstDash val="solid"/>
            <a:tailEnd type="triangle"/>
          </a:ln>
        </p:spPr>
      </p:sp>
      <p:sp>
        <p:nvSpPr>
          <p:cNvPr id="7" name="edge-269"/>
          <p:cNvSpPr/>
          <p:nvPr/>
        </p:nvSpPr>
        <p:spPr>
          <a:xfrm flipV="1">
            <a:off x="4206240" y="2788920"/>
            <a:ext cx="0" cy="1069848"/>
          </a:xfrm>
          <a:prstGeom prst="line">
            <a:avLst/>
          </a:prstGeom>
          <a:noFill/>
          <a:ln w="22225">
            <a:solidFill>
              <a:schemeClr val="accent5"/>
            </a:solidFill>
            <a:prstDash val="solid"/>
            <a:tailEnd type="triangle"/>
          </a:ln>
        </p:spPr>
      </p:sp>
      <p:sp>
        <p:nvSpPr>
          <p:cNvPr id="8" name="edge-270"/>
          <p:cNvSpPr/>
          <p:nvPr/>
        </p:nvSpPr>
        <p:spPr>
          <a:xfrm>
            <a:off x="4206240" y="3858768"/>
            <a:ext cx="0" cy="1078992"/>
          </a:xfrm>
          <a:prstGeom prst="line">
            <a:avLst/>
          </a:prstGeom>
          <a:noFill/>
          <a:ln w="22225">
            <a:solidFill>
              <a:schemeClr val="accent5"/>
            </a:solidFill>
            <a:prstDash val="solid"/>
            <a:tailEnd type="triangle"/>
          </a:ln>
        </p:spPr>
      </p:sp>
      <p:sp>
        <p:nvSpPr>
          <p:cNvPr id="9" name="hub-group-271"/>
          <p:cNvSpPr/>
          <p:nvPr/>
        </p:nvSpPr>
        <p:spPr>
          <a:xfrm>
            <a:off x="548640" y="1463040"/>
            <a:ext cx="2377440" cy="1325880"/>
          </a:xfrm>
          <a:prstGeom prst="roundRect">
            <a:avLst>
              <a:gd name="adj" fmla="val 8276"/>
            </a:avLst>
          </a:prstGeom>
          <a:solidFill>
            <a:schemeClr val="accent2">
              <a:alpha val="10000"/>
            </a:schemeClr>
          </a:solidFill>
          <a:ln w="12700">
            <a:solidFill>
              <a:schemeClr val="accent2"/>
            </a:solidFill>
            <a:prstDash val="solid"/>
          </a:ln>
        </p:spPr>
      </p:sp>
      <p:sp>
        <p:nvSpPr>
          <p:cNvPr id="10" name="text-272"/>
          <p:cNvSpPr txBox="1"/>
          <p:nvPr/>
        </p:nvSpPr>
        <p:spPr>
          <a:xfrm>
            <a:off x="685800" y="1554480"/>
            <a:ext cx="2103120" cy="292608"/>
          </a:xfrm>
          <a:prstGeom prst="rect">
            <a:avLst/>
          </a:prstGeom>
          <a:noFill/>
          <a:ln/>
        </p:spPr>
        <p:txBody>
          <a:bodyPr wrap="square" lIns="0" tIns="0" rIns="0" bIns="0" rtlCol="0" anchor="ctr"/>
          <a:lstStyle/>
          <a:p>
            <a:pPr indent="0" marL="0">
              <a:buNone/>
            </a:pPr>
            <a:r>
              <a:rPr lang="en-US" sz="1300" b="1" dirty="0">
                <a:solidFill>
                  <a:schemeClr val="accent2"/>
                </a:solidFill>
                <a:latin typeface="Calibri" pitchFamily="34" charset="0"/>
                <a:ea typeface="Calibri" pitchFamily="34" charset="-122"/>
                <a:cs typeface="Calibri" pitchFamily="34" charset="-120"/>
              </a:rPr>
              <a:t>contains → Element</a:t>
            </a:r>
            <a:endParaRPr lang="en-US" sz="1300" dirty="0"/>
          </a:p>
        </p:txBody>
      </p:sp>
      <p:sp>
        <p:nvSpPr>
          <p:cNvPr id="11" name="text-273"/>
          <p:cNvSpPr txBox="1"/>
          <p:nvPr/>
        </p:nvSpPr>
        <p:spPr>
          <a:xfrm>
            <a:off x="685800" y="1892808"/>
            <a:ext cx="2103120" cy="822960"/>
          </a:xfrm>
          <a:prstGeom prst="rect">
            <a:avLst/>
          </a:prstGeom>
          <a:noFill/>
          <a:ln/>
        </p:spPr>
        <p:txBody>
          <a:bodyPr wrap="square" lIns="0" tIns="0" rIns="0" bIns="0" rtlCol="0" anchor="t"/>
          <a:lstStyle/>
          <a:p>
            <a:pPr indent="0" marL="0">
              <a:spcAft>
                <a:spcPts val="200"/>
              </a:spcAft>
              <a:buNone/>
            </a:pPr>
            <a:r>
              <a:rPr lang="en-US" sz="1300" dirty="0">
                <a:solidFill>
                  <a:schemeClr val="tx1"/>
                </a:solidFill>
              </a:rPr>
              <a:t>Ta · shared with 51</a:t>
            </a:r>
            <a:endParaRPr lang="en-US" sz="1300" dirty="0"/>
          </a:p>
          <a:p>
            <a:pPr indent="0" marL="0">
              <a:spcAft>
                <a:spcPts val="200"/>
              </a:spcAft>
              <a:buNone/>
            </a:pPr>
            <a:r>
              <a:rPr lang="en-US" sz="1300" dirty="0">
                <a:solidFill>
                  <a:schemeClr val="tx1"/>
                </a:solidFill>
              </a:rPr>
              <a:t>Li · shared with 245</a:t>
            </a:r>
            <a:endParaRPr lang="en-US" sz="1300" dirty="0"/>
          </a:p>
          <a:p>
            <a:pPr indent="0" marL="0">
              <a:spcAft>
                <a:spcPts val="200"/>
              </a:spcAft>
              <a:buNone/>
            </a:pPr>
            <a:r>
              <a:rPr lang="en-US" sz="1300" dirty="0">
                <a:solidFill>
                  <a:schemeClr val="tx1"/>
                </a:solidFill>
              </a:rPr>
              <a:t>O · shared with 758</a:t>
            </a:r>
            <a:endParaRPr lang="en-US" sz="1300" dirty="0"/>
          </a:p>
        </p:txBody>
      </p:sp>
      <p:sp>
        <p:nvSpPr>
          <p:cNvPr id="12" name="hub-group-274"/>
          <p:cNvSpPr/>
          <p:nvPr/>
        </p:nvSpPr>
        <p:spPr>
          <a:xfrm>
            <a:off x="548640" y="3200400"/>
            <a:ext cx="2377440" cy="1325880"/>
          </a:xfrm>
          <a:prstGeom prst="roundRect">
            <a:avLst>
              <a:gd name="adj" fmla="val 8276"/>
            </a:avLst>
          </a:prstGeom>
          <a:solidFill>
            <a:schemeClr val="accent4">
              <a:alpha val="10000"/>
            </a:schemeClr>
          </a:solidFill>
          <a:ln w="12700">
            <a:solidFill>
              <a:schemeClr val="accent4"/>
            </a:solidFill>
            <a:prstDash val="solid"/>
          </a:ln>
        </p:spPr>
      </p:sp>
      <p:sp>
        <p:nvSpPr>
          <p:cNvPr id="13" name="text-275"/>
          <p:cNvSpPr txBox="1"/>
          <p:nvPr/>
        </p:nvSpPr>
        <p:spPr>
          <a:xfrm>
            <a:off x="685800" y="3291840"/>
            <a:ext cx="2103120" cy="292608"/>
          </a:xfrm>
          <a:prstGeom prst="rect">
            <a:avLst/>
          </a:prstGeom>
          <a:noFill/>
          <a:ln/>
        </p:spPr>
        <p:txBody>
          <a:bodyPr wrap="square" lIns="0" tIns="0" rIns="0" bIns="0" rtlCol="0" anchor="ctr"/>
          <a:lstStyle/>
          <a:p>
            <a:pPr indent="0" marL="0">
              <a:buNone/>
            </a:pPr>
            <a:r>
              <a:rPr lang="en-US" sz="1300" b="1" dirty="0">
                <a:solidFill>
                  <a:schemeClr val="accent4"/>
                </a:solidFill>
                <a:latin typeface="Calibri" pitchFamily="34" charset="0"/>
                <a:ea typeface="Calibri" pitchFamily="34" charset="-122"/>
                <a:cs typeface="Calibri" pitchFamily="34" charset="-120"/>
              </a:rPr>
              <a:t>has_oxidation_state</a:t>
            </a:r>
            <a:endParaRPr lang="en-US" sz="1300" dirty="0"/>
          </a:p>
        </p:txBody>
      </p:sp>
      <p:sp>
        <p:nvSpPr>
          <p:cNvPr id="14" name="text-276"/>
          <p:cNvSpPr txBox="1"/>
          <p:nvPr/>
        </p:nvSpPr>
        <p:spPr>
          <a:xfrm>
            <a:off x="685800" y="3630168"/>
            <a:ext cx="2103120" cy="822960"/>
          </a:xfrm>
          <a:prstGeom prst="rect">
            <a:avLst/>
          </a:prstGeom>
          <a:noFill/>
          <a:ln/>
        </p:spPr>
        <p:txBody>
          <a:bodyPr wrap="square" lIns="0" tIns="0" rIns="0" bIns="0" rtlCol="0" anchor="t"/>
          <a:lstStyle/>
          <a:p>
            <a:pPr indent="0" marL="0">
              <a:spcAft>
                <a:spcPts val="200"/>
              </a:spcAft>
              <a:buNone/>
            </a:pPr>
            <a:r>
              <a:rPr lang="en-US" sz="1300" dirty="0">
                <a:solidFill>
                  <a:schemeClr val="tx1"/>
                </a:solidFill>
              </a:rPr>
              <a:t>Ta⁵⁺ · shared with 38</a:t>
            </a:r>
            <a:endParaRPr lang="en-US" sz="1300" dirty="0"/>
          </a:p>
          <a:p>
            <a:pPr indent="0" marL="0">
              <a:spcAft>
                <a:spcPts val="200"/>
              </a:spcAft>
              <a:buNone/>
            </a:pPr>
            <a:r>
              <a:rPr lang="en-US" sz="1300" dirty="0">
                <a:solidFill>
                  <a:schemeClr val="tx1"/>
                </a:solidFill>
              </a:rPr>
              <a:t>Li⁺ · shared with 227</a:t>
            </a:r>
            <a:endParaRPr lang="en-US" sz="1300" dirty="0"/>
          </a:p>
          <a:p>
            <a:pPr indent="0" marL="0">
              <a:spcAft>
                <a:spcPts val="200"/>
              </a:spcAft>
              <a:buNone/>
            </a:pPr>
            <a:r>
              <a:rPr lang="en-US" sz="1300" dirty="0">
                <a:solidFill>
                  <a:schemeClr val="tx1"/>
                </a:solidFill>
              </a:rPr>
              <a:t>O²⁻ · shared with 697</a:t>
            </a:r>
            <a:endParaRPr lang="en-US" sz="1300" dirty="0"/>
          </a:p>
        </p:txBody>
      </p:sp>
      <p:sp>
        <p:nvSpPr>
          <p:cNvPr id="15" name="hub-group-277"/>
          <p:cNvSpPr/>
          <p:nvPr/>
        </p:nvSpPr>
        <p:spPr>
          <a:xfrm>
            <a:off x="548640" y="4937760"/>
            <a:ext cx="2377440" cy="1325880"/>
          </a:xfrm>
          <a:prstGeom prst="roundRect">
            <a:avLst>
              <a:gd name="adj" fmla="val 8276"/>
            </a:avLst>
          </a:prstGeom>
          <a:solidFill>
            <a:schemeClr val="accent3">
              <a:alpha val="10000"/>
            </a:schemeClr>
          </a:solidFill>
          <a:ln w="12700">
            <a:solidFill>
              <a:schemeClr val="accent3"/>
            </a:solidFill>
            <a:prstDash val="solid"/>
          </a:ln>
        </p:spPr>
      </p:sp>
      <p:sp>
        <p:nvSpPr>
          <p:cNvPr id="16" name="text-278"/>
          <p:cNvSpPr txBox="1"/>
          <p:nvPr/>
        </p:nvSpPr>
        <p:spPr>
          <a:xfrm>
            <a:off x="685800" y="5029200"/>
            <a:ext cx="2103120" cy="292608"/>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classified_as / suitable_for</a:t>
            </a:r>
            <a:endParaRPr lang="en-US" sz="1300" dirty="0"/>
          </a:p>
        </p:txBody>
      </p:sp>
      <p:sp>
        <p:nvSpPr>
          <p:cNvPr id="17" name="text-279"/>
          <p:cNvSpPr txBox="1"/>
          <p:nvPr/>
        </p:nvSpPr>
        <p:spPr>
          <a:xfrm>
            <a:off x="685800" y="5367528"/>
            <a:ext cx="2103120" cy="822960"/>
          </a:xfrm>
          <a:prstGeom prst="rect">
            <a:avLst/>
          </a:prstGeom>
          <a:noFill/>
          <a:ln/>
        </p:spPr>
        <p:txBody>
          <a:bodyPr wrap="square" lIns="0" tIns="0" rIns="0" bIns="0" rtlCol="0" anchor="t"/>
          <a:lstStyle/>
          <a:p>
            <a:pPr indent="0" marL="0">
              <a:spcAft>
                <a:spcPts val="200"/>
              </a:spcAft>
              <a:buNone/>
            </a:pPr>
            <a:r>
              <a:rPr lang="en-US" sz="1300" dirty="0">
                <a:solidFill>
                  <a:schemeClr val="tx1"/>
                </a:solidFill>
              </a:rPr>
              <a:t>wide_gap · 145</a:t>
            </a:r>
            <a:endParaRPr lang="en-US" sz="1300" dirty="0"/>
          </a:p>
          <a:p>
            <a:pPr indent="0" marL="0">
              <a:spcAft>
                <a:spcPts val="200"/>
              </a:spcAft>
              <a:buNone/>
            </a:pPr>
            <a:r>
              <a:rPr lang="en-US" sz="1300" dirty="0">
                <a:solidFill>
                  <a:schemeClr val="tx1"/>
                </a:solidFill>
              </a:rPr>
              <a:t>stable · 366</a:t>
            </a:r>
            <a:endParaRPr lang="en-US" sz="1300" dirty="0"/>
          </a:p>
          <a:p>
            <a:pPr indent="0" marL="0">
              <a:spcAft>
                <a:spcPts val="200"/>
              </a:spcAft>
              <a:buNone/>
            </a:pPr>
            <a:r>
              <a:rPr lang="en-US" sz="1300" dirty="0">
                <a:solidFill>
                  <a:schemeClr val="tx1"/>
                </a:solidFill>
              </a:rPr>
              <a:t>dielectric · 220 (rule fired)</a:t>
            </a:r>
            <a:endParaRPr lang="en-US" sz="1300" dirty="0"/>
          </a:p>
        </p:txBody>
      </p:sp>
      <p:sp>
        <p:nvSpPr>
          <p:cNvPr id="18" name="hub-group-280"/>
          <p:cNvSpPr/>
          <p:nvPr/>
        </p:nvSpPr>
        <p:spPr>
          <a:xfrm>
            <a:off x="3154680" y="1463040"/>
            <a:ext cx="2103120" cy="1325880"/>
          </a:xfrm>
          <a:prstGeom prst="roundRect">
            <a:avLst>
              <a:gd name="adj" fmla="val 8276"/>
            </a:avLst>
          </a:prstGeom>
          <a:solidFill>
            <a:schemeClr val="accent5">
              <a:alpha val="10000"/>
            </a:schemeClr>
          </a:solidFill>
          <a:ln w="12700">
            <a:solidFill>
              <a:schemeClr val="accent5"/>
            </a:solidFill>
            <a:prstDash val="solid"/>
          </a:ln>
        </p:spPr>
      </p:sp>
      <p:sp>
        <p:nvSpPr>
          <p:cNvPr id="19" name="text-281"/>
          <p:cNvSpPr txBox="1"/>
          <p:nvPr/>
        </p:nvSpPr>
        <p:spPr>
          <a:xfrm>
            <a:off x="3291840" y="1554480"/>
            <a:ext cx="1828800" cy="292608"/>
          </a:xfrm>
          <a:prstGeom prst="rect">
            <a:avLst/>
          </a:prstGeom>
          <a:noFill/>
          <a:ln/>
        </p:spPr>
        <p:txBody>
          <a:bodyPr wrap="square" lIns="0" tIns="0" rIns="0" bIns="0" rtlCol="0" anchor="ctr"/>
          <a:lstStyle/>
          <a:p>
            <a:pPr indent="0" marL="0">
              <a:buNone/>
            </a:pPr>
            <a:r>
              <a:rPr lang="en-US" sz="1300" b="1" dirty="0">
                <a:solidFill>
                  <a:schemeClr val="accent5"/>
                </a:solidFill>
                <a:latin typeface="Calibri" pitchFamily="34" charset="0"/>
                <a:ea typeface="Calibri" pitchFamily="34" charset="-122"/>
                <a:cs typeface="Calibri" pitchFamily="34" charset="-120"/>
              </a:rPr>
              <a:t>has_space_group</a:t>
            </a:r>
            <a:endParaRPr lang="en-US" sz="1300" dirty="0"/>
          </a:p>
        </p:txBody>
      </p:sp>
      <p:sp>
        <p:nvSpPr>
          <p:cNvPr id="20" name="text-282"/>
          <p:cNvSpPr txBox="1"/>
          <p:nvPr/>
        </p:nvSpPr>
        <p:spPr>
          <a:xfrm>
            <a:off x="3291840" y="1892808"/>
            <a:ext cx="1828800" cy="822960"/>
          </a:xfrm>
          <a:prstGeom prst="rect">
            <a:avLst/>
          </a:prstGeom>
          <a:noFill/>
          <a:ln/>
        </p:spPr>
        <p:txBody>
          <a:bodyPr wrap="square" lIns="0" tIns="0" rIns="0" bIns="0" rtlCol="0" anchor="t"/>
          <a:lstStyle/>
          <a:p>
            <a:pPr indent="0" marL="0">
              <a:spcAft>
                <a:spcPts val="200"/>
              </a:spcAft>
              <a:buNone/>
            </a:pPr>
            <a:r>
              <a:rPr lang="en-US" sz="1300" dirty="0">
                <a:solidFill>
                  <a:schemeClr val="tx1"/>
                </a:solidFill>
              </a:rPr>
              <a:t>R3c (#161) · 2</a:t>
            </a:r>
            <a:endParaRPr lang="en-US" sz="1300" dirty="0"/>
          </a:p>
          <a:p>
            <a:pPr indent="0" marL="0">
              <a:spcAft>
                <a:spcPts val="200"/>
              </a:spcAft>
              <a:buNone/>
            </a:pPr>
            <a:r>
              <a:rPr lang="en-US" sz="1300" dirty="0">
                <a:solidFill>
                  <a:schemeClr val="tx1"/>
                </a:solidFill>
              </a:rPr>
              <a:t>→ Trigonal system</a:t>
            </a:r>
            <a:endParaRPr lang="en-US" sz="1300" dirty="0"/>
          </a:p>
        </p:txBody>
      </p:sp>
      <p:sp>
        <p:nvSpPr>
          <p:cNvPr id="21" name="hub-group-283"/>
          <p:cNvSpPr/>
          <p:nvPr/>
        </p:nvSpPr>
        <p:spPr>
          <a:xfrm>
            <a:off x="3154680" y="4937760"/>
            <a:ext cx="2103120" cy="1325880"/>
          </a:xfrm>
          <a:prstGeom prst="roundRect">
            <a:avLst>
              <a:gd name="adj" fmla="val 8276"/>
            </a:avLst>
          </a:prstGeom>
          <a:solidFill>
            <a:schemeClr val="accent5">
              <a:alpha val="10000"/>
            </a:schemeClr>
          </a:solidFill>
          <a:ln w="12700">
            <a:solidFill>
              <a:schemeClr val="accent5"/>
            </a:solidFill>
            <a:prstDash val="solid"/>
          </a:ln>
        </p:spPr>
      </p:sp>
      <p:sp>
        <p:nvSpPr>
          <p:cNvPr id="22" name="text-284"/>
          <p:cNvSpPr txBox="1"/>
          <p:nvPr/>
        </p:nvSpPr>
        <p:spPr>
          <a:xfrm>
            <a:off x="3291840" y="5029200"/>
            <a:ext cx="1828800" cy="292608"/>
          </a:xfrm>
          <a:prstGeom prst="rect">
            <a:avLst/>
          </a:prstGeom>
          <a:noFill/>
          <a:ln/>
        </p:spPr>
        <p:txBody>
          <a:bodyPr wrap="square" lIns="0" tIns="0" rIns="0" bIns="0" rtlCol="0" anchor="ctr"/>
          <a:lstStyle/>
          <a:p>
            <a:pPr indent="0" marL="0">
              <a:buNone/>
            </a:pPr>
            <a:r>
              <a:rPr lang="en-US" sz="1300" b="1" dirty="0">
                <a:solidFill>
                  <a:schemeClr val="accent5"/>
                </a:solidFill>
                <a:latin typeface="Calibri" pitchFamily="34" charset="0"/>
                <a:ea typeface="Calibri" pitchFamily="34" charset="-122"/>
                <a:cs typeface="Calibri" pitchFamily="34" charset="-120"/>
              </a:rPr>
              <a:t>pattern / chem. system</a:t>
            </a:r>
            <a:endParaRPr lang="en-US" sz="1300" dirty="0"/>
          </a:p>
        </p:txBody>
      </p:sp>
      <p:sp>
        <p:nvSpPr>
          <p:cNvPr id="23" name="text-285"/>
          <p:cNvSpPr txBox="1"/>
          <p:nvPr/>
        </p:nvSpPr>
        <p:spPr>
          <a:xfrm>
            <a:off x="3291840" y="5367528"/>
            <a:ext cx="1828800" cy="822960"/>
          </a:xfrm>
          <a:prstGeom prst="rect">
            <a:avLst/>
          </a:prstGeom>
          <a:noFill/>
          <a:ln/>
        </p:spPr>
        <p:txBody>
          <a:bodyPr wrap="square" lIns="0" tIns="0" rIns="0" bIns="0" rtlCol="0" anchor="t"/>
          <a:lstStyle/>
          <a:p>
            <a:pPr indent="0" marL="0">
              <a:spcAft>
                <a:spcPts val="200"/>
              </a:spcAft>
              <a:buNone/>
            </a:pPr>
            <a:r>
              <a:rPr lang="en-US" sz="1300" dirty="0">
                <a:solidFill>
                  <a:schemeClr val="tx1"/>
                </a:solidFill>
              </a:rPr>
              <a:t>ABC3 · shared with 45</a:t>
            </a:r>
            <a:endParaRPr lang="en-US" sz="1300" dirty="0"/>
          </a:p>
          <a:p>
            <a:pPr indent="0" marL="0">
              <a:spcAft>
                <a:spcPts val="200"/>
              </a:spcAft>
              <a:buNone/>
            </a:pPr>
            <a:r>
              <a:rPr lang="en-US" sz="1300" dirty="0">
                <a:solidFill>
                  <a:schemeClr val="tx1"/>
                </a:solidFill>
              </a:rPr>
              <a:t>Li-O-Ta · new node</a:t>
            </a:r>
            <a:endParaRPr lang="en-US" sz="1300" dirty="0"/>
          </a:p>
        </p:txBody>
      </p:sp>
      <p:sp>
        <p:nvSpPr>
          <p:cNvPr id="24" name="edge-286"/>
          <p:cNvSpPr/>
          <p:nvPr/>
        </p:nvSpPr>
        <p:spPr>
          <a:xfrm>
            <a:off x="4206240" y="3858768"/>
            <a:ext cx="1280160" cy="0"/>
          </a:xfrm>
          <a:prstGeom prst="line">
            <a:avLst/>
          </a:prstGeom>
          <a:noFill/>
          <a:ln w="22225">
            <a:solidFill>
              <a:schemeClr val="accent1"/>
            </a:solidFill>
            <a:prstDash val="solid"/>
            <a:tailEnd type="triangle"/>
          </a:ln>
        </p:spPr>
      </p:sp>
      <p:sp>
        <p:nvSpPr>
          <p:cNvPr id="25" name="related-materials-287"/>
          <p:cNvSpPr/>
          <p:nvPr/>
        </p:nvSpPr>
        <p:spPr>
          <a:xfrm>
            <a:off x="5486400" y="1463040"/>
            <a:ext cx="2514600" cy="4800600"/>
          </a:xfrm>
          <a:prstGeom prst="roundRect">
            <a:avLst>
              <a:gd name="adj" fmla="val 4364"/>
            </a:avLst>
          </a:prstGeom>
          <a:solidFill>
            <a:schemeClr val="accent1">
              <a:alpha val="10000"/>
            </a:schemeClr>
          </a:solidFill>
          <a:ln w="12700">
            <a:solidFill>
              <a:schemeClr val="accent1"/>
            </a:solidFill>
            <a:prstDash val="solid"/>
          </a:ln>
        </p:spPr>
      </p:sp>
      <p:sp>
        <p:nvSpPr>
          <p:cNvPr id="26" name="text-288"/>
          <p:cNvSpPr txBox="1"/>
          <p:nvPr/>
        </p:nvSpPr>
        <p:spPr>
          <a:xfrm>
            <a:off x="5623560" y="1554480"/>
            <a:ext cx="2240280" cy="320040"/>
          </a:xfrm>
          <a:prstGeom prst="rect">
            <a:avLst/>
          </a:prstGeom>
          <a:noFill/>
          <a:ln/>
        </p:spPr>
        <p:txBody>
          <a:bodyPr wrap="square" lIns="0" tIns="0" rIns="0" bIns="0" rtlCol="0" anchor="ctr"/>
          <a:lstStyle/>
          <a:p>
            <a:pPr indent="0" marL="0">
              <a:buNone/>
            </a:pPr>
            <a:r>
              <a:rPr lang="en-US" sz="1400" b="1" dirty="0">
                <a:solidFill>
                  <a:schemeClr val="accent1"/>
                </a:solidFill>
              </a:rPr>
              <a:t>Related materials</a:t>
            </a:r>
            <a:endParaRPr lang="en-US" sz="1400" dirty="0"/>
          </a:p>
        </p:txBody>
      </p:sp>
      <p:sp>
        <p:nvSpPr>
          <p:cNvPr id="27" name="text-289"/>
          <p:cNvSpPr txBox="1"/>
          <p:nvPr/>
        </p:nvSpPr>
        <p:spPr>
          <a:xfrm>
            <a:off x="5623560" y="1920240"/>
            <a:ext cx="2240280" cy="274320"/>
          </a:xfrm>
          <a:prstGeom prst="rect">
            <a:avLst/>
          </a:prstGeom>
          <a:noFill/>
          <a:ln/>
        </p:spPr>
        <p:txBody>
          <a:bodyPr wrap="square" lIns="0" tIns="0" rIns="0" bIns="0" rtlCol="0" anchor="t"/>
          <a:lstStyle/>
          <a:p>
            <a:pPr indent="0" marL="0">
              <a:buNone/>
            </a:pPr>
            <a:r>
              <a:rPr lang="en-US" sz="1200" dirty="0">
                <a:solidFill>
                  <a:schemeClr val="tx2"/>
                </a:solidFill>
              </a:rPr>
              <a:t>similar_to · property cosine</a:t>
            </a:r>
            <a:endParaRPr lang="en-US" sz="1200" dirty="0"/>
          </a:p>
        </p:txBody>
      </p:sp>
      <p:graphicFrame>
        <p:nvGraphicFramePr>
          <p:cNvPr id="13" name="similar-table"/>
          <p:cNvGraphicFramePr>
            <a:graphicFrameLocks noGrp="1"/>
          </p:cNvGraphicFramePr>
          <p:nvPr>
            <p:extLst>
              <p:ext uri="{D42A27DB-BD31-4B8C-83A1-F6EECF244321}">
                <p14:modId xmlns:p14="http://schemas.microsoft.com/office/powerpoint/2010/main" val="1579011935"/>
              </p:ext>
            </p:extLst>
          </p:nvPr>
        </p:nvGraphicFramePr>
        <p:xfrm>
          <a:off x="5623560" y="2240280"/>
          <a:ext cx="2240280" cy="914400"/>
        </p:xfrm>
        <a:graphic>
          <a:graphicData uri="http://schemas.openxmlformats.org/drawingml/2006/table">
            <a:tbl>
              <a:tblPr/>
              <a:tblGrid>
                <a:gridCol w="1463040"/>
                <a:gridCol w="777240"/>
              </a:tblGrid>
              <a:tr h="32918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Ba3Hf2O7</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chemeClr val="tx2"/>
                          </a:solidFill>
                          <a:latin typeface="Calibri" pitchFamily="34" charset="0"/>
                          <a:ea typeface="Calibri" pitchFamily="34" charset="-122"/>
                          <a:cs typeface="Calibri" pitchFamily="34" charset="-120"/>
                        </a:rPr>
                        <a:t>0.976</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SrTa4O11</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chemeClr val="tx2"/>
                          </a:solidFill>
                          <a:latin typeface="Calibri" pitchFamily="34" charset="0"/>
                          <a:ea typeface="Calibri" pitchFamily="34" charset="-122"/>
                          <a:cs typeface="Calibri" pitchFamily="34" charset="-120"/>
                        </a:rPr>
                        <a:t>0.967</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Na2Ta4O11</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chemeClr val="tx2"/>
                          </a:solidFill>
                          <a:latin typeface="Calibri" pitchFamily="34" charset="0"/>
                          <a:ea typeface="Calibri" pitchFamily="34" charset="-122"/>
                          <a:cs typeface="Calibri" pitchFamily="34" charset="-120"/>
                        </a:rPr>
                        <a:t>0.956</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K2Ta4O11</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chemeClr val="tx2"/>
                          </a:solidFill>
                          <a:latin typeface="Calibri" pitchFamily="34" charset="0"/>
                          <a:ea typeface="Calibri" pitchFamily="34" charset="-122"/>
                          <a:cs typeface="Calibri" pitchFamily="34" charset="-120"/>
                        </a:rPr>
                        <a:t>0.954</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Ba4Hf3O10</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chemeClr val="tx2"/>
                          </a:solidFill>
                          <a:latin typeface="Calibri" pitchFamily="34" charset="0"/>
                          <a:ea typeface="Calibri" pitchFamily="34" charset="-122"/>
                          <a:cs typeface="Calibri" pitchFamily="34" charset="-120"/>
                        </a:rPr>
                        <a:t>0.953</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29" name="text-290"/>
          <p:cNvSpPr txBox="1"/>
          <p:nvPr/>
        </p:nvSpPr>
        <p:spPr>
          <a:xfrm>
            <a:off x="5623560" y="4114800"/>
            <a:ext cx="2240280" cy="274320"/>
          </a:xfrm>
          <a:prstGeom prst="rect">
            <a:avLst/>
          </a:prstGeom>
          <a:noFill/>
          <a:ln/>
        </p:spPr>
        <p:txBody>
          <a:bodyPr wrap="square" lIns="0" tIns="0" rIns="0" bIns="0" rtlCol="0" anchor="t"/>
          <a:lstStyle/>
          <a:p>
            <a:pPr indent="0" marL="0">
              <a:buNone/>
            </a:pPr>
            <a:r>
              <a:rPr lang="en-US" sz="1200" dirty="0">
                <a:solidFill>
                  <a:schemeClr val="tx2"/>
                </a:solidFill>
              </a:rPr>
              <a:t>compositional neighbours</a:t>
            </a:r>
            <a:endParaRPr lang="en-US" sz="1200" dirty="0"/>
          </a:p>
        </p:txBody>
      </p:sp>
      <p:graphicFrame>
        <p:nvGraphicFramePr>
          <p:cNvPr id="25" name="composition-table"/>
          <p:cNvGraphicFramePr>
            <a:graphicFrameLocks noGrp="1"/>
          </p:cNvGraphicFramePr>
          <p:nvPr>
            <p:extLst>
              <p:ext uri="{D42A27DB-BD31-4B8C-83A1-F6EECF244321}">
                <p14:modId xmlns:p14="http://schemas.microsoft.com/office/powerpoint/2010/main" val="1579011935"/>
              </p:ext>
            </p:extLst>
          </p:nvPr>
        </p:nvGraphicFramePr>
        <p:xfrm>
          <a:off x="5623560" y="4434840"/>
          <a:ext cx="2240280" cy="914400"/>
        </p:xfrm>
        <a:graphic>
          <a:graphicData uri="http://schemas.openxmlformats.org/drawingml/2006/table">
            <a:tbl>
              <a:tblPr/>
              <a:tblGrid>
                <a:gridCol w="1463040"/>
                <a:gridCol w="777240"/>
              </a:tblGrid>
              <a:tr h="32918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Ta3O8</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chemeClr val="tx2"/>
                          </a:solidFill>
                          <a:latin typeface="Calibri" pitchFamily="34" charset="0"/>
                          <a:ea typeface="Calibri" pitchFamily="34" charset="-122"/>
                          <a:cs typeface="Calibri" pitchFamily="34" charset="-120"/>
                        </a:rPr>
                        <a:t>0.953</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NaTa7O19</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chemeClr val="tx2"/>
                          </a:solidFill>
                          <a:latin typeface="Calibri" pitchFamily="34" charset="0"/>
                          <a:ea typeface="Calibri" pitchFamily="34" charset="-122"/>
                          <a:cs typeface="Calibri" pitchFamily="34" charset="-120"/>
                        </a:rPr>
                        <a:t>0.952</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32918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Ta2O5</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chemeClr val="tx2"/>
                          </a:solidFill>
                          <a:latin typeface="Calibri" pitchFamily="34" charset="0"/>
                          <a:ea typeface="Calibri" pitchFamily="34" charset="-122"/>
                          <a:cs typeface="Calibri" pitchFamily="34" charset="-120"/>
                        </a:rPr>
                        <a:t>0.952</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31" name="new-material"/>
          <p:cNvSpPr/>
          <p:nvPr/>
        </p:nvSpPr>
        <p:spPr>
          <a:xfrm>
            <a:off x="3474720" y="3291840"/>
            <a:ext cx="1463040" cy="1133856"/>
          </a:xfrm>
          <a:prstGeom prst="ellipse">
            <a:avLst/>
          </a:prstGeom>
          <a:solidFill>
            <a:schemeClr val="accent1"/>
          </a:solidFill>
          <a:ln w="38100">
            <a:solidFill>
              <a:schemeClr val="bg1"/>
            </a:solidFill>
          </a:ln>
        </p:spPr>
        <p:txBody>
          <a:bodyPr wrap="square" lIns="0" tIns="0" rIns="0" bIns="0" rtlCol="0" anchor="ctr"/>
          <a:lstStyle/>
          <a:p>
            <a:pPr algn="ctr" indent="0" marL="0">
              <a:buNone/>
            </a:pPr>
            <a:r>
              <a:rPr lang="en-US" sz="1800" b="1" dirty="0">
                <a:solidFill>
                  <a:schemeClr val="bg1"/>
                </a:solidFill>
              </a:rPr>
              <a:t>LiTaO3</a:t>
            </a:r>
            <a:endParaRPr lang="en-US" sz="1800" dirty="0"/>
          </a:p>
          <a:p>
            <a:pPr algn="ctr" indent="0" marL="0">
              <a:buNone/>
            </a:pPr>
            <a:r>
              <a:rPr lang="en-US" sz="1100" dirty="0">
                <a:solidFill>
                  <a:schemeClr val="bg1"/>
                </a:solidFill>
              </a:rPr>
              <a:t>new · from MP</a:t>
            </a:r>
            <a:endParaRPr lang="en-US" sz="1800" dirty="0"/>
          </a:p>
        </p:txBody>
      </p:sp>
      <p:sp>
        <p:nvSpPr>
          <p:cNvPr id="32" name="icon-bg-291"/>
          <p:cNvSpPr/>
          <p:nvPr/>
        </p:nvSpPr>
        <p:spPr>
          <a:xfrm>
            <a:off x="8321040" y="1508760"/>
            <a:ext cx="502920" cy="502920"/>
          </a:xfrm>
          <a:prstGeom prst="ellipse">
            <a:avLst/>
          </a:prstGeom>
          <a:solidFill>
            <a:schemeClr val="accent2"/>
          </a:solidFill>
          <a:ln/>
        </p:spPr>
      </p:sp>
      <p:pic>
        <p:nvPicPr>
          <p:cNvPr id="33" name="icon-292" descr="preencoded.png">    </p:cNvPr>
          <p:cNvPicPr>
            <a:picLocks noChangeAspect="1"/>
          </p:cNvPicPr>
          <p:nvPr/>
        </p:nvPicPr>
        <p:blipFill>
          <a:blip r:embed="rId1"/>
          <a:stretch>
            <a:fillRect/>
          </a:stretch>
        </p:blipFill>
        <p:spPr>
          <a:xfrm>
            <a:off x="8441741" y="1629461"/>
            <a:ext cx="261518" cy="261518"/>
          </a:xfrm>
          <a:prstGeom prst="rect">
            <a:avLst/>
          </a:prstGeom>
        </p:spPr>
      </p:pic>
      <p:sp>
        <p:nvSpPr>
          <p:cNvPr id="34" name="text-293"/>
          <p:cNvSpPr txBox="1"/>
          <p:nvPr/>
        </p:nvSpPr>
        <p:spPr>
          <a:xfrm>
            <a:off x="8961120" y="1508760"/>
            <a:ext cx="2651760" cy="502920"/>
          </a:xfrm>
          <a:prstGeom prst="rect">
            <a:avLst/>
          </a:prstGeom>
          <a:noFill/>
          <a:ln/>
        </p:spPr>
        <p:txBody>
          <a:bodyPr wrap="square" lIns="0" tIns="0" rIns="0" bIns="0" rtlCol="0" anchor="ctr"/>
          <a:lstStyle/>
          <a:p>
            <a:pPr indent="0" marL="0">
              <a:buNone/>
            </a:pPr>
            <a:r>
              <a:rPr lang="en-US" sz="1600" b="1" dirty="0">
                <a:solidFill>
                  <a:schemeClr val="tx1"/>
                </a:solidFill>
              </a:rPr>
              <a:t>Hubs are reused</a:t>
            </a:r>
            <a:endParaRPr lang="en-US" sz="1600" dirty="0"/>
          </a:p>
        </p:txBody>
      </p:sp>
      <p:sp>
        <p:nvSpPr>
          <p:cNvPr id="35" name="text-294"/>
          <p:cNvSpPr txBox="1"/>
          <p:nvPr/>
        </p:nvSpPr>
        <p:spPr>
          <a:xfrm>
            <a:off x="8961120" y="2057400"/>
            <a:ext cx="2651760" cy="914400"/>
          </a:xfrm>
          <a:prstGeom prst="rect">
            <a:avLst/>
          </a:prstGeom>
          <a:noFill/>
          <a:ln/>
        </p:spPr>
        <p:txBody>
          <a:bodyPr wrap="square" lIns="0" tIns="0" rIns="0" bIns="0" rtlCol="0" anchor="t"/>
          <a:lstStyle/>
          <a:p>
            <a:pPr indent="0" marL="0">
              <a:buNone/>
            </a:pPr>
            <a:r>
              <a:rPr lang="en-US" sz="1400" dirty="0">
                <a:solidFill>
                  <a:schemeClr val="tx2"/>
                </a:solidFill>
              </a:rPr>
              <a:t>Identity keys attach LiTaO3 to existing nodes; only Li-O-Ta is created.</a:t>
            </a:r>
            <a:endParaRPr lang="en-US" sz="1400" dirty="0"/>
          </a:p>
        </p:txBody>
      </p:sp>
      <p:sp>
        <p:nvSpPr>
          <p:cNvPr id="36" name="icon-bg-295"/>
          <p:cNvSpPr/>
          <p:nvPr/>
        </p:nvSpPr>
        <p:spPr>
          <a:xfrm>
            <a:off x="8321040" y="3108960"/>
            <a:ext cx="502920" cy="502920"/>
          </a:xfrm>
          <a:prstGeom prst="ellipse">
            <a:avLst/>
          </a:prstGeom>
          <a:solidFill>
            <a:schemeClr val="accent5"/>
          </a:solidFill>
          <a:ln/>
        </p:spPr>
      </p:sp>
      <p:pic>
        <p:nvPicPr>
          <p:cNvPr id="37" name="icon-296" descr="preencoded.png">    </p:cNvPr>
          <p:cNvPicPr>
            <a:picLocks noChangeAspect="1"/>
          </p:cNvPicPr>
          <p:nvPr/>
        </p:nvPicPr>
        <p:blipFill>
          <a:blip r:embed="rId2"/>
          <a:stretch>
            <a:fillRect/>
          </a:stretch>
        </p:blipFill>
        <p:spPr>
          <a:xfrm>
            <a:off x="8441741" y="3229661"/>
            <a:ext cx="261518" cy="261518"/>
          </a:xfrm>
          <a:prstGeom prst="rect">
            <a:avLst/>
          </a:prstGeom>
        </p:spPr>
      </p:pic>
      <p:sp>
        <p:nvSpPr>
          <p:cNvPr id="38" name="text-297"/>
          <p:cNvSpPr txBox="1"/>
          <p:nvPr/>
        </p:nvSpPr>
        <p:spPr>
          <a:xfrm>
            <a:off x="8961120" y="3108960"/>
            <a:ext cx="2651760" cy="502920"/>
          </a:xfrm>
          <a:prstGeom prst="rect">
            <a:avLst/>
          </a:prstGeom>
          <a:noFill/>
          <a:ln/>
        </p:spPr>
        <p:txBody>
          <a:bodyPr wrap="square" lIns="0" tIns="0" rIns="0" bIns="0" rtlCol="0" anchor="ctr"/>
          <a:lstStyle/>
          <a:p>
            <a:pPr indent="0" marL="0">
              <a:buNone/>
            </a:pPr>
            <a:r>
              <a:rPr lang="en-US" sz="1600" b="1" dirty="0">
                <a:solidFill>
                  <a:schemeClr val="tx1"/>
                </a:solidFill>
              </a:rPr>
              <a:t>Ranked by selectivity</a:t>
            </a:r>
            <a:endParaRPr lang="en-US" sz="1600" dirty="0"/>
          </a:p>
        </p:txBody>
      </p:sp>
      <p:sp>
        <p:nvSpPr>
          <p:cNvPr id="39" name="text-298"/>
          <p:cNvSpPr txBox="1"/>
          <p:nvPr/>
        </p:nvSpPr>
        <p:spPr>
          <a:xfrm>
            <a:off x="8961120" y="3657600"/>
            <a:ext cx="2651760" cy="914400"/>
          </a:xfrm>
          <a:prstGeom prst="rect">
            <a:avLst/>
          </a:prstGeom>
          <a:noFill/>
          <a:ln/>
        </p:spPr>
        <p:txBody>
          <a:bodyPr wrap="square" lIns="0" tIns="0" rIns="0" bIns="0" rtlCol="0" anchor="t"/>
          <a:lstStyle/>
          <a:p>
            <a:pPr indent="0" marL="0">
              <a:buNone/>
            </a:pPr>
            <a:r>
              <a:rPr lang="en-US" sz="1400" dirty="0">
                <a:solidFill>
                  <a:schemeClr val="tx2"/>
                </a:solidFill>
              </a:rPr>
              <a:t>Sharing R3c (2 materials) says more than sharing O (758).</a:t>
            </a:r>
            <a:endParaRPr lang="en-US" sz="1400" dirty="0"/>
          </a:p>
        </p:txBody>
      </p:sp>
      <p:sp>
        <p:nvSpPr>
          <p:cNvPr id="40" name="icon-bg-299"/>
          <p:cNvSpPr/>
          <p:nvPr/>
        </p:nvSpPr>
        <p:spPr>
          <a:xfrm>
            <a:off x="8321040" y="4709160"/>
            <a:ext cx="502920" cy="502920"/>
          </a:xfrm>
          <a:prstGeom prst="ellipse">
            <a:avLst/>
          </a:prstGeom>
          <a:solidFill>
            <a:schemeClr val="accent1"/>
          </a:solidFill>
          <a:ln/>
        </p:spPr>
      </p:sp>
      <p:pic>
        <p:nvPicPr>
          <p:cNvPr id="41" name="icon-300" descr="preencoded.png">    </p:cNvPr>
          <p:cNvPicPr>
            <a:picLocks noChangeAspect="1"/>
          </p:cNvPicPr>
          <p:nvPr/>
        </p:nvPicPr>
        <p:blipFill>
          <a:blip r:embed="rId3"/>
          <a:stretch>
            <a:fillRect/>
          </a:stretch>
        </p:blipFill>
        <p:spPr>
          <a:xfrm>
            <a:off x="8441741" y="4829861"/>
            <a:ext cx="261518" cy="261518"/>
          </a:xfrm>
          <a:prstGeom prst="rect">
            <a:avLst/>
          </a:prstGeom>
        </p:spPr>
      </p:pic>
      <p:sp>
        <p:nvSpPr>
          <p:cNvPr id="42" name="text-301"/>
          <p:cNvSpPr txBox="1"/>
          <p:nvPr/>
        </p:nvSpPr>
        <p:spPr>
          <a:xfrm>
            <a:off x="8961120" y="4709160"/>
            <a:ext cx="2651760" cy="502920"/>
          </a:xfrm>
          <a:prstGeom prst="rect">
            <a:avLst/>
          </a:prstGeom>
          <a:noFill/>
          <a:ln/>
        </p:spPr>
        <p:txBody>
          <a:bodyPr wrap="square" lIns="0" tIns="0" rIns="0" bIns="0" rtlCol="0" anchor="ctr"/>
          <a:lstStyle/>
          <a:p>
            <a:pPr indent="0" marL="0">
              <a:buNone/>
            </a:pPr>
            <a:r>
              <a:rPr lang="en-US" sz="1600" b="1" dirty="0">
                <a:solidFill>
                  <a:schemeClr val="tx1"/>
                </a:solidFill>
              </a:rPr>
              <a:t>Related materials</a:t>
            </a:r>
            <a:endParaRPr lang="en-US" sz="1600" dirty="0"/>
          </a:p>
        </p:txBody>
      </p:sp>
      <p:sp>
        <p:nvSpPr>
          <p:cNvPr id="43" name="text-302"/>
          <p:cNvSpPr txBox="1"/>
          <p:nvPr/>
        </p:nvSpPr>
        <p:spPr>
          <a:xfrm>
            <a:off x="8961120" y="5257800"/>
            <a:ext cx="2651760" cy="914400"/>
          </a:xfrm>
          <a:prstGeom prst="rect">
            <a:avLst/>
          </a:prstGeom>
          <a:noFill/>
          <a:ln/>
        </p:spPr>
        <p:txBody>
          <a:bodyPr wrap="square" lIns="0" tIns="0" rIns="0" bIns="0" rtlCol="0" anchor="t"/>
          <a:lstStyle/>
          <a:p>
            <a:pPr indent="0" marL="0">
              <a:buNone/>
            </a:pPr>
            <a:r>
              <a:rPr lang="en-US" sz="1400" dirty="0">
                <a:solidFill>
                  <a:schemeClr val="tx2"/>
                </a:solidFill>
              </a:rPr>
              <a:t>Top-5 similar_to on the build-time scale, plus the nearest compositions.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RESULTS</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Retrieval results: exact answers, zero violations</a:t>
            </a:r>
            <a:endParaRPr lang="en-US" sz="3200" dirty="0"/>
          </a:p>
        </p:txBody>
      </p:sp>
      <p:graphicFrame>
        <p:nvGraphicFramePr>
          <p:cNvPr id="4" name="retrieval-chart" descr=""/>
          <p:cNvGraphicFramePr/>
          <p:nvPr/>
        </p:nvGraphicFramePr>
        <p:xfrm>
          <a:off x="548640" y="1463040"/>
          <a:ext cx="6675120" cy="4343400"/>
        </p:xfrm>
        <a:graphic xmlns:a="http://schemas.openxmlformats.org/drawingml/2006/main">
          <a:graphicData uri="http://schemas.openxmlformats.org/drawingml/2006/chart">
            <c:chart xmlns:c="http://schemas.openxmlformats.org/drawingml/2006/chart" r:id="rId1"/>
          </a:graphicData>
        </a:graphic>
      </p:graphicFrame>
      <p:sp>
        <p:nvSpPr>
          <p:cNvPr id="5" name="stat-card-303"/>
          <p:cNvSpPr/>
          <p:nvPr/>
        </p:nvSpPr>
        <p:spPr>
          <a:xfrm>
            <a:off x="7589520" y="1508760"/>
            <a:ext cx="4023360" cy="1234440"/>
          </a:xfrm>
          <a:prstGeom prst="roundRect">
            <a:avLst>
              <a:gd name="adj" fmla="val 8889"/>
            </a:avLst>
          </a:prstGeom>
          <a:solidFill>
            <a:schemeClr val="bg2"/>
          </a:solidFill>
          <a:ln/>
        </p:spPr>
      </p:sp>
      <p:sp>
        <p:nvSpPr>
          <p:cNvPr id="6" name="text-304"/>
          <p:cNvSpPr txBox="1"/>
          <p:nvPr/>
        </p:nvSpPr>
        <p:spPr>
          <a:xfrm>
            <a:off x="7772400" y="1618488"/>
            <a:ext cx="1463040" cy="1005840"/>
          </a:xfrm>
          <a:prstGeom prst="rect">
            <a:avLst/>
          </a:prstGeom>
          <a:noFill/>
          <a:ln/>
        </p:spPr>
        <p:txBody>
          <a:bodyPr wrap="square" lIns="0" tIns="0" rIns="0" bIns="0" rtlCol="0" anchor="ctr"/>
          <a:lstStyle/>
          <a:p>
            <a:pPr indent="0" marL="0">
              <a:buNone/>
            </a:pPr>
            <a:r>
              <a:rPr lang="en-US" sz="3200" b="1" dirty="0">
                <a:solidFill>
                  <a:schemeClr val="accent1"/>
                </a:solidFill>
              </a:rPr>
              <a:t>0.910</a:t>
            </a:r>
            <a:endParaRPr lang="en-US" sz="3200" dirty="0"/>
          </a:p>
        </p:txBody>
      </p:sp>
      <p:sp>
        <p:nvSpPr>
          <p:cNvPr id="7" name="text-305"/>
          <p:cNvSpPr txBox="1"/>
          <p:nvPr/>
        </p:nvSpPr>
        <p:spPr>
          <a:xfrm>
            <a:off x="9281160" y="1618488"/>
            <a:ext cx="2194560" cy="1005840"/>
          </a:xfrm>
          <a:prstGeom prst="rect">
            <a:avLst/>
          </a:prstGeom>
          <a:noFill/>
          <a:ln/>
        </p:spPr>
        <p:txBody>
          <a:bodyPr wrap="square" lIns="0" tIns="0" rIns="0" bIns="0" rtlCol="0" anchor="ctr"/>
          <a:lstStyle/>
          <a:p>
            <a:pPr indent="0" marL="0">
              <a:buNone/>
            </a:pPr>
            <a:r>
              <a:rPr lang="en-US" sz="1300" dirty="0">
                <a:solidFill>
                  <a:schemeClr val="tx2"/>
                </a:solidFill>
              </a:rPr>
              <a:t>nDCG@10, vs 0.308 for vector RAG and 0.598 for fixed-hop GraphRAG</a:t>
            </a:r>
            <a:endParaRPr lang="en-US" sz="1300" dirty="0"/>
          </a:p>
        </p:txBody>
      </p:sp>
      <p:sp>
        <p:nvSpPr>
          <p:cNvPr id="8" name="stat-card-306"/>
          <p:cNvSpPr/>
          <p:nvPr/>
        </p:nvSpPr>
        <p:spPr>
          <a:xfrm>
            <a:off x="7589520" y="2926080"/>
            <a:ext cx="4023360" cy="1234440"/>
          </a:xfrm>
          <a:prstGeom prst="roundRect">
            <a:avLst>
              <a:gd name="adj" fmla="val 8889"/>
            </a:avLst>
          </a:prstGeom>
          <a:solidFill>
            <a:schemeClr val="bg2"/>
          </a:solidFill>
          <a:ln/>
        </p:spPr>
      </p:sp>
      <p:sp>
        <p:nvSpPr>
          <p:cNvPr id="9" name="text-307"/>
          <p:cNvSpPr txBox="1"/>
          <p:nvPr/>
        </p:nvSpPr>
        <p:spPr>
          <a:xfrm>
            <a:off x="7772400" y="3035808"/>
            <a:ext cx="1463040" cy="1005840"/>
          </a:xfrm>
          <a:prstGeom prst="rect">
            <a:avLst/>
          </a:prstGeom>
          <a:noFill/>
          <a:ln/>
        </p:spPr>
        <p:txBody>
          <a:bodyPr wrap="square" lIns="0" tIns="0" rIns="0" bIns="0" rtlCol="0" anchor="ctr"/>
          <a:lstStyle/>
          <a:p>
            <a:pPr indent="0" marL="0">
              <a:buNone/>
            </a:pPr>
            <a:r>
              <a:rPr lang="en-US" sz="3200" b="1" dirty="0">
                <a:solidFill>
                  <a:schemeClr val="accent2"/>
                </a:solidFill>
              </a:rPr>
              <a:t>0%</a:t>
            </a:r>
            <a:endParaRPr lang="en-US" sz="3200" dirty="0"/>
          </a:p>
        </p:txBody>
      </p:sp>
      <p:sp>
        <p:nvSpPr>
          <p:cNvPr id="10" name="text-308"/>
          <p:cNvSpPr txBox="1"/>
          <p:nvPr/>
        </p:nvSpPr>
        <p:spPr>
          <a:xfrm>
            <a:off x="9281160" y="3035808"/>
            <a:ext cx="2194560" cy="1005840"/>
          </a:xfrm>
          <a:prstGeom prst="rect">
            <a:avLst/>
          </a:prstGeom>
          <a:noFill/>
          <a:ln/>
        </p:spPr>
        <p:txBody>
          <a:bodyPr wrap="square" lIns="0" tIns="0" rIns="0" bIns="0" rtlCol="0" anchor="ctr"/>
          <a:lstStyle/>
          <a:p>
            <a:pPr indent="0" marL="0">
              <a:buNone/>
            </a:pPr>
            <a:r>
              <a:rPr lang="en-US" sz="1300" dirty="0">
                <a:solidFill>
                  <a:schemeClr val="tx2"/>
                </a:solidFill>
              </a:rPr>
              <a:t>top-10 constraint violations, vs 69.6% and 41.8%</a:t>
            </a:r>
            <a:endParaRPr lang="en-US" sz="1300" dirty="0"/>
          </a:p>
        </p:txBody>
      </p:sp>
      <p:sp>
        <p:nvSpPr>
          <p:cNvPr id="11" name="stat-card-309"/>
          <p:cNvSpPr/>
          <p:nvPr/>
        </p:nvSpPr>
        <p:spPr>
          <a:xfrm>
            <a:off x="7589520" y="4343400"/>
            <a:ext cx="4023360" cy="1234440"/>
          </a:xfrm>
          <a:prstGeom prst="roundRect">
            <a:avLst>
              <a:gd name="adj" fmla="val 8889"/>
            </a:avLst>
          </a:prstGeom>
          <a:solidFill>
            <a:schemeClr val="bg2"/>
          </a:solidFill>
          <a:ln/>
        </p:spPr>
      </p:sp>
      <p:sp>
        <p:nvSpPr>
          <p:cNvPr id="12" name="text-310"/>
          <p:cNvSpPr txBox="1"/>
          <p:nvPr/>
        </p:nvSpPr>
        <p:spPr>
          <a:xfrm>
            <a:off x="7772400" y="4453128"/>
            <a:ext cx="1463040" cy="1005840"/>
          </a:xfrm>
          <a:prstGeom prst="rect">
            <a:avLst/>
          </a:prstGeom>
          <a:noFill/>
          <a:ln/>
        </p:spPr>
        <p:txBody>
          <a:bodyPr wrap="square" lIns="0" tIns="0" rIns="0" bIns="0" rtlCol="0" anchor="ctr"/>
          <a:lstStyle/>
          <a:p>
            <a:pPr indent="0" marL="0">
              <a:buNone/>
            </a:pPr>
            <a:r>
              <a:rPr lang="en-US" sz="3200" b="1" dirty="0">
                <a:solidFill>
                  <a:schemeClr val="accent5"/>
                </a:solidFill>
              </a:rPr>
              <a:t>1.000</a:t>
            </a:r>
            <a:endParaRPr lang="en-US" sz="3200" dirty="0"/>
          </a:p>
        </p:txBody>
      </p:sp>
      <p:sp>
        <p:nvSpPr>
          <p:cNvPr id="13" name="text-311"/>
          <p:cNvSpPr txBox="1"/>
          <p:nvPr/>
        </p:nvSpPr>
        <p:spPr>
          <a:xfrm>
            <a:off x="9281160" y="4453128"/>
            <a:ext cx="2194560" cy="1005840"/>
          </a:xfrm>
          <a:prstGeom prst="rect">
            <a:avLst/>
          </a:prstGeom>
          <a:noFill/>
          <a:ln/>
        </p:spPr>
        <p:txBody>
          <a:bodyPr wrap="square" lIns="0" tIns="0" rIns="0" bIns="0" rtlCol="0" anchor="ctr"/>
          <a:lstStyle/>
          <a:p>
            <a:pPr indent="0" marL="0">
              <a:buNone/>
            </a:pPr>
            <a:r>
              <a:rPr lang="en-US" sz="1300" dirty="0">
                <a:solidFill>
                  <a:schemeClr val="tx2"/>
                </a:solidFill>
              </a:rPr>
              <a:t>nDCG@10 on single, multi-constraint, multi-hop and sparse-data tiers</a:t>
            </a:r>
            <a:endParaRPr lang="en-US" sz="1300" dirty="0"/>
          </a:p>
        </p:txBody>
      </p:sp>
      <p:sp>
        <p:nvSpPr>
          <p:cNvPr id="14" name="text-312"/>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100" dirty="0">
                <a:solidFill>
                  <a:schemeClr val="tx2"/>
                </a:solidFill>
              </a:rPr>
              <a:t>Benchmark: 55 questions in 5 tiers. Relevance comes from an independent oracle over the raw Materials Project JSON, which imports nothing from the graph build or the retriever.</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DEMO</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Demo: asking a question</a:t>
            </a:r>
            <a:endParaRPr lang="en-US" sz="3200" dirty="0"/>
          </a:p>
        </p:txBody>
      </p:sp>
      <p:pic>
        <p:nvPicPr>
          <p:cNvPr id="4" name="ask-screenshot" descr="/Users/sharveshsivagnanam/development/meta_graph/presentation/assets/ask_results.jpg">    </p:cNvPr>
          <p:cNvPicPr>
            <a:picLocks noChangeAspect="1"/>
          </p:cNvPicPr>
          <p:nvPr/>
        </p:nvPicPr>
        <p:blipFill>
          <a:blip r:embed="rId1"/>
          <a:stretch>
            <a:fillRect/>
          </a:stretch>
        </p:blipFill>
        <p:spPr>
          <a:xfrm>
            <a:off x="548640" y="1463040"/>
            <a:ext cx="6766560" cy="4325112"/>
          </a:xfrm>
          <a:prstGeom prst="rect">
            <a:avLst/>
          </a:prstGeom>
        </p:spPr>
      </p:pic>
      <p:pic>
        <p:nvPicPr>
          <p:cNvPr id="5" name="explanation-screenshot" descr="/Users/sharveshsivagnanam/development/meta_graph/presentation/assets/ask_explanation.jpg">    </p:cNvPr>
          <p:cNvPicPr>
            <a:picLocks noChangeAspect="1"/>
          </p:cNvPicPr>
          <p:nvPr/>
        </p:nvPicPr>
        <p:blipFill>
          <a:blip r:embed="rId2"/>
          <a:stretch>
            <a:fillRect/>
          </a:stretch>
        </p:blipFill>
        <p:spPr>
          <a:xfrm>
            <a:off x="7589520" y="1463040"/>
            <a:ext cx="4050792" cy="2130552"/>
          </a:xfrm>
          <a:prstGeom prst="rect">
            <a:avLst/>
          </a:prstGeom>
        </p:spPr>
      </p:pic>
      <p:sp>
        <p:nvSpPr>
          <p:cNvPr id="6" name="num-313"/>
          <p:cNvSpPr/>
          <p:nvPr/>
        </p:nvSpPr>
        <p:spPr>
          <a:xfrm>
            <a:off x="7589520" y="391363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314"/>
          <p:cNvSpPr txBox="1"/>
          <p:nvPr/>
        </p:nvSpPr>
        <p:spPr>
          <a:xfrm>
            <a:off x="8138160" y="3840480"/>
            <a:ext cx="3502152" cy="603504"/>
          </a:xfrm>
          <a:prstGeom prst="rect">
            <a:avLst/>
          </a:prstGeom>
          <a:noFill/>
          <a:ln/>
        </p:spPr>
        <p:txBody>
          <a:bodyPr wrap="square" lIns="0" tIns="0" rIns="0" bIns="0" rtlCol="0" anchor="ctr"/>
          <a:lstStyle/>
          <a:p>
            <a:pPr indent="0" marL="0">
              <a:buNone/>
            </a:pPr>
            <a:r>
              <a:rPr lang="en-US" sz="1300" b="1" dirty="0">
                <a:solidFill>
                  <a:schemeClr val="tx1"/>
                </a:solidFill>
              </a:rPr>
              <a:t>Understood as </a:t>
            </a:r>
            <a:r>
              <a:rPr lang="en-US" sz="1300" dirty="0">
                <a:solidFill>
                  <a:schemeClr val="tx2"/>
                </a:solidFill>
              </a:rPr>
              <a:t>chips show the parsed constraints, including “no Co”.</a:t>
            </a:r>
            <a:endParaRPr lang="en-US" sz="1300" dirty="0"/>
          </a:p>
        </p:txBody>
      </p:sp>
      <p:sp>
        <p:nvSpPr>
          <p:cNvPr id="8" name="num-315"/>
          <p:cNvSpPr/>
          <p:nvPr/>
        </p:nvSpPr>
        <p:spPr>
          <a:xfrm>
            <a:off x="7589520" y="4599432"/>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316"/>
          <p:cNvSpPr txBox="1"/>
          <p:nvPr/>
        </p:nvSpPr>
        <p:spPr>
          <a:xfrm>
            <a:off x="8138160" y="4526280"/>
            <a:ext cx="3502152" cy="603504"/>
          </a:xfrm>
          <a:prstGeom prst="rect">
            <a:avLst/>
          </a:prstGeom>
          <a:noFill/>
          <a:ln/>
        </p:spPr>
        <p:txBody>
          <a:bodyPr wrap="square" lIns="0" tIns="0" rIns="0" bIns="0" rtlCol="0" anchor="ctr"/>
          <a:lstStyle/>
          <a:p>
            <a:pPr indent="0" marL="0">
              <a:buNone/>
            </a:pPr>
            <a:r>
              <a:rPr lang="en-US" sz="1300" b="1" dirty="0">
                <a:solidFill>
                  <a:schemeClr val="tx1"/>
                </a:solidFill>
              </a:rPr>
              <a:t>Ranked candidates </a:t>
            </a:r>
            <a:r>
              <a:rPr lang="en-US" sz="1300" dirty="0">
                <a:solidFill>
                  <a:schemeClr val="tx2"/>
                </a:solidFill>
              </a:rPr>
              <a:t>with a score breakdown and the evidence path of the selected one.</a:t>
            </a:r>
            <a:endParaRPr lang="en-US" sz="1300" dirty="0"/>
          </a:p>
        </p:txBody>
      </p:sp>
      <p:sp>
        <p:nvSpPr>
          <p:cNvPr id="10" name="num-317"/>
          <p:cNvSpPr/>
          <p:nvPr/>
        </p:nvSpPr>
        <p:spPr>
          <a:xfrm>
            <a:off x="7589520" y="5285232"/>
            <a:ext cx="384048" cy="384048"/>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318"/>
          <p:cNvSpPr txBox="1"/>
          <p:nvPr/>
        </p:nvSpPr>
        <p:spPr>
          <a:xfrm>
            <a:off x="8138160" y="5212080"/>
            <a:ext cx="3502152" cy="603504"/>
          </a:xfrm>
          <a:prstGeom prst="rect">
            <a:avLst/>
          </a:prstGeom>
          <a:noFill/>
          <a:ln/>
        </p:spPr>
        <p:txBody>
          <a:bodyPr wrap="square" lIns="0" tIns="0" rIns="0" bIns="0" rtlCol="0" anchor="ctr"/>
          <a:lstStyle/>
          <a:p>
            <a:pPr indent="0" marL="0">
              <a:buNone/>
            </a:pPr>
            <a:r>
              <a:rPr lang="en-US" sz="1300" b="1" dirty="0">
                <a:solidFill>
                  <a:schemeClr val="tx1"/>
                </a:solidFill>
              </a:rPr>
              <a:t>Grounded explanation </a:t>
            </a:r>
            <a:r>
              <a:rPr lang="en-US" sz="1300" dirty="0">
                <a:solidFill>
                  <a:schemeClr val="tx2"/>
                </a:solidFill>
              </a:rPr>
              <a:t>every claim cites a fact id: 69 / 69 grounded.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DEMO</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Demo: adding LiTaO3 to the graph</a:t>
            </a:r>
            <a:endParaRPr lang="en-US" sz="3200" dirty="0"/>
          </a:p>
        </p:txBody>
      </p:sp>
      <p:pic>
        <p:nvPicPr>
          <p:cNvPr id="4" name="connect-graph-screenshot" descr="/Users/sharveshsivagnanam/development/meta_graph/presentation/assets/add_connect_graph.jpg">    </p:cNvPr>
          <p:cNvPicPr>
            <a:picLocks noChangeAspect="1"/>
          </p:cNvPicPr>
          <p:nvPr/>
        </p:nvPicPr>
        <p:blipFill>
          <a:blip r:embed="rId1"/>
          <a:stretch>
            <a:fillRect/>
          </a:stretch>
        </p:blipFill>
        <p:spPr>
          <a:xfrm>
            <a:off x="548640" y="1463040"/>
            <a:ext cx="3630168" cy="3154680"/>
          </a:xfrm>
          <a:prstGeom prst="rect">
            <a:avLst/>
          </a:prstGeom>
        </p:spPr>
      </p:pic>
      <p:pic>
        <p:nvPicPr>
          <p:cNvPr id="5" name="shared-nodes-screenshot" descr="/Users/sharveshsivagnanam/development/meta_graph/presentation/assets/add_shared_nodes.jpg">    </p:cNvPr>
          <p:cNvPicPr>
            <a:picLocks noChangeAspect="1"/>
          </p:cNvPicPr>
          <p:nvPr/>
        </p:nvPicPr>
        <p:blipFill>
          <a:blip r:embed="rId2"/>
          <a:stretch>
            <a:fillRect/>
          </a:stretch>
        </p:blipFill>
        <p:spPr>
          <a:xfrm>
            <a:off x="4361688" y="1463040"/>
            <a:ext cx="3895344" cy="3154680"/>
          </a:xfrm>
          <a:prstGeom prst="rect">
            <a:avLst/>
          </a:prstGeom>
        </p:spPr>
      </p:pic>
      <p:pic>
        <p:nvPicPr>
          <p:cNvPr id="6" name="related-materials-screenshot" descr="/Users/sharveshsivagnanam/development/meta_graph/presentation/assets/add_related.jpg">    </p:cNvPr>
          <p:cNvPicPr>
            <a:picLocks noChangeAspect="1"/>
          </p:cNvPicPr>
          <p:nvPr/>
        </p:nvPicPr>
        <p:blipFill>
          <a:blip r:embed="rId3"/>
          <a:stretch>
            <a:fillRect/>
          </a:stretch>
        </p:blipFill>
        <p:spPr>
          <a:xfrm>
            <a:off x="8439912" y="1463040"/>
            <a:ext cx="3182112" cy="3154680"/>
          </a:xfrm>
          <a:prstGeom prst="rect">
            <a:avLst/>
          </a:prstGeom>
        </p:spPr>
      </p:pic>
      <p:sp>
        <p:nvSpPr>
          <p:cNvPr id="7" name="num-319"/>
          <p:cNvSpPr/>
          <p:nvPr/>
        </p:nvSpPr>
        <p:spPr>
          <a:xfrm>
            <a:off x="548640" y="489204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320"/>
          <p:cNvSpPr txBox="1"/>
          <p:nvPr/>
        </p:nvSpPr>
        <p:spPr>
          <a:xfrm>
            <a:off x="1051560" y="4892040"/>
            <a:ext cx="3127248" cy="384048"/>
          </a:xfrm>
          <a:prstGeom prst="rect">
            <a:avLst/>
          </a:prstGeom>
          <a:noFill/>
          <a:ln/>
        </p:spPr>
        <p:txBody>
          <a:bodyPr wrap="square" lIns="0" tIns="0" rIns="0" bIns="0" rtlCol="0" anchor="ctr"/>
          <a:lstStyle/>
          <a:p>
            <a:pPr indent="0" marL="0">
              <a:buNone/>
            </a:pPr>
            <a:r>
              <a:rPr lang="en-US" sz="1500" b="1" dirty="0">
                <a:solidFill>
                  <a:schemeClr val="tx1"/>
                </a:solidFill>
              </a:rPr>
              <a:t>How it connects</a:t>
            </a:r>
            <a:endParaRPr lang="en-US" sz="1500" dirty="0"/>
          </a:p>
        </p:txBody>
      </p:sp>
      <p:sp>
        <p:nvSpPr>
          <p:cNvPr id="9" name="text-321"/>
          <p:cNvSpPr txBox="1"/>
          <p:nvPr/>
        </p:nvSpPr>
        <p:spPr>
          <a:xfrm>
            <a:off x="548640" y="5376672"/>
            <a:ext cx="3630168" cy="731520"/>
          </a:xfrm>
          <a:prstGeom prst="rect">
            <a:avLst/>
          </a:prstGeom>
          <a:noFill/>
          <a:ln/>
        </p:spPr>
        <p:txBody>
          <a:bodyPr wrap="square" lIns="0" tIns="0" rIns="0" bIns="0" rtlCol="0" anchor="t"/>
          <a:lstStyle/>
          <a:p>
            <a:pPr indent="0" marL="0">
              <a:buNone/>
            </a:pPr>
            <a:r>
              <a:rPr lang="en-US" sz="1400" dirty="0">
                <a:solidFill>
                  <a:schemeClr val="tx2"/>
                </a:solidFill>
              </a:rPr>
              <a:t>Fetched from Materials Project and previewed in memory until saved.</a:t>
            </a:r>
            <a:endParaRPr lang="en-US" sz="1400" dirty="0"/>
          </a:p>
        </p:txBody>
      </p:sp>
      <p:sp>
        <p:nvSpPr>
          <p:cNvPr id="10" name="num-322"/>
          <p:cNvSpPr/>
          <p:nvPr/>
        </p:nvSpPr>
        <p:spPr>
          <a:xfrm>
            <a:off x="4361688" y="489204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323"/>
          <p:cNvSpPr txBox="1"/>
          <p:nvPr/>
        </p:nvSpPr>
        <p:spPr>
          <a:xfrm>
            <a:off x="4864608" y="4892040"/>
            <a:ext cx="3392424" cy="384048"/>
          </a:xfrm>
          <a:prstGeom prst="rect">
            <a:avLst/>
          </a:prstGeom>
          <a:noFill/>
          <a:ln/>
        </p:spPr>
        <p:txBody>
          <a:bodyPr wrap="square" lIns="0" tIns="0" rIns="0" bIns="0" rtlCol="0" anchor="ctr"/>
          <a:lstStyle/>
          <a:p>
            <a:pPr indent="0" marL="0">
              <a:buNone/>
            </a:pPr>
            <a:r>
              <a:rPr lang="en-US" sz="1500" b="1" dirty="0">
                <a:solidFill>
                  <a:schemeClr val="tx1"/>
                </a:solidFill>
              </a:rPr>
              <a:t>Shared graph nodes</a:t>
            </a:r>
            <a:endParaRPr lang="en-US" sz="1500" dirty="0"/>
          </a:p>
        </p:txBody>
      </p:sp>
      <p:sp>
        <p:nvSpPr>
          <p:cNvPr id="12" name="text-324"/>
          <p:cNvSpPr txBox="1"/>
          <p:nvPr/>
        </p:nvSpPr>
        <p:spPr>
          <a:xfrm>
            <a:off x="4361688" y="5376672"/>
            <a:ext cx="3895344" cy="731520"/>
          </a:xfrm>
          <a:prstGeom prst="rect">
            <a:avLst/>
          </a:prstGeom>
          <a:noFill/>
          <a:ln/>
        </p:spPr>
        <p:txBody>
          <a:bodyPr wrap="square" lIns="0" tIns="0" rIns="0" bIns="0" rtlCol="0" anchor="t"/>
          <a:lstStyle/>
          <a:p>
            <a:pPr indent="0" marL="0">
              <a:buNone/>
            </a:pPr>
            <a:r>
              <a:rPr lang="en-US" sz="1400" dirty="0">
                <a:solidFill>
                  <a:schemeClr val="tx2"/>
                </a:solidFill>
              </a:rPr>
              <a:t>Most selective first; ChemicalSystem Li-O-Ta is the only new node.</a:t>
            </a:r>
            <a:endParaRPr lang="en-US" sz="1400" dirty="0"/>
          </a:p>
        </p:txBody>
      </p:sp>
      <p:sp>
        <p:nvSpPr>
          <p:cNvPr id="13" name="num-325"/>
          <p:cNvSpPr/>
          <p:nvPr/>
        </p:nvSpPr>
        <p:spPr>
          <a:xfrm>
            <a:off x="8439912" y="48920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326"/>
          <p:cNvSpPr txBox="1"/>
          <p:nvPr/>
        </p:nvSpPr>
        <p:spPr>
          <a:xfrm>
            <a:off x="8942832" y="4892040"/>
            <a:ext cx="2679192" cy="384048"/>
          </a:xfrm>
          <a:prstGeom prst="rect">
            <a:avLst/>
          </a:prstGeom>
          <a:noFill/>
          <a:ln/>
        </p:spPr>
        <p:txBody>
          <a:bodyPr wrap="square" lIns="0" tIns="0" rIns="0" bIns="0" rtlCol="0" anchor="ctr"/>
          <a:lstStyle/>
          <a:p>
            <a:pPr indent="0" marL="0">
              <a:buNone/>
            </a:pPr>
            <a:r>
              <a:rPr lang="en-US" sz="1500" b="1" dirty="0">
                <a:solidFill>
                  <a:schemeClr val="tx1"/>
                </a:solidFill>
              </a:rPr>
              <a:t>Related materials</a:t>
            </a:r>
            <a:endParaRPr lang="en-US" sz="1500" dirty="0"/>
          </a:p>
        </p:txBody>
      </p:sp>
      <p:sp>
        <p:nvSpPr>
          <p:cNvPr id="15" name="text-327"/>
          <p:cNvSpPr txBox="1"/>
          <p:nvPr/>
        </p:nvSpPr>
        <p:spPr>
          <a:xfrm>
            <a:off x="8439912" y="5376672"/>
            <a:ext cx="3182112" cy="731520"/>
          </a:xfrm>
          <a:prstGeom prst="rect">
            <a:avLst/>
          </a:prstGeom>
          <a:noFill/>
          <a:ln/>
        </p:spPr>
        <p:txBody>
          <a:bodyPr wrap="square" lIns="0" tIns="0" rIns="0" bIns="0" rtlCol="0" anchor="t"/>
          <a:lstStyle/>
          <a:p>
            <a:pPr indent="0" marL="0">
              <a:buNone/>
            </a:pPr>
            <a:r>
              <a:rPr lang="en-US" sz="1400" dirty="0">
                <a:solidFill>
                  <a:schemeClr val="tx2"/>
                </a:solidFill>
              </a:rPr>
              <a:t>similar_to by property cosine, plus compositional neighbours.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DEMO</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Demo: import &amp; match in the graph explorer</a:t>
            </a:r>
            <a:endParaRPr lang="en-US" sz="3200" dirty="0"/>
          </a:p>
        </p:txBody>
      </p:sp>
      <p:pic>
        <p:nvPicPr>
          <p:cNvPr id="4" name="explorer-wiring" descr="/Users/sharveshsivagnanam/development/meta_graph/presentation/assets/explorer_match_start.jpg">    </p:cNvPr>
          <p:cNvPicPr>
            <a:picLocks noChangeAspect="1"/>
          </p:cNvPicPr>
          <p:nvPr/>
        </p:nvPicPr>
        <p:blipFill>
          <a:blip r:embed="rId1"/>
          <a:stretch>
            <a:fillRect/>
          </a:stretch>
        </p:blipFill>
        <p:spPr>
          <a:xfrm>
            <a:off x="548640" y="1463040"/>
            <a:ext cx="5394960" cy="3374136"/>
          </a:xfrm>
          <a:prstGeom prst="rect">
            <a:avLst/>
          </a:prstGeom>
        </p:spPr>
      </p:pic>
      <p:pic>
        <p:nvPicPr>
          <p:cNvPr id="5" name="explorer-settled" descr="/Users/sharveshsivagnanam/development/meta_graph/presentation/assets/explorer_match.jpg">    </p:cNvPr>
          <p:cNvPicPr>
            <a:picLocks noChangeAspect="1"/>
          </p:cNvPicPr>
          <p:nvPr/>
        </p:nvPicPr>
        <p:blipFill>
          <a:blip r:embed="rId2"/>
          <a:stretch>
            <a:fillRect/>
          </a:stretch>
        </p:blipFill>
        <p:spPr>
          <a:xfrm>
            <a:off x="6217920" y="1463040"/>
            <a:ext cx="5394960" cy="3374136"/>
          </a:xfrm>
          <a:prstGeom prst="rect">
            <a:avLst/>
          </a:prstGeom>
        </p:spPr>
      </p:pic>
      <p:sp>
        <p:nvSpPr>
          <p:cNvPr id="6" name="pill-328"/>
          <p:cNvSpPr/>
          <p:nvPr/>
        </p:nvSpPr>
        <p:spPr>
          <a:xfrm>
            <a:off x="685800" y="1600200"/>
            <a:ext cx="146304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 5 s · wiring</a:t>
            </a:r>
            <a:endParaRPr lang="en-US" sz="1200" dirty="0"/>
          </a:p>
        </p:txBody>
      </p:sp>
      <p:sp>
        <p:nvSpPr>
          <p:cNvPr id="7" name="pill-329"/>
          <p:cNvSpPr/>
          <p:nvPr/>
        </p:nvSpPr>
        <p:spPr>
          <a:xfrm>
            <a:off x="6355080" y="1600200"/>
            <a:ext cx="16002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 20 s · settled</a:t>
            </a:r>
            <a:endParaRPr lang="en-US" sz="1200" dirty="0"/>
          </a:p>
        </p:txBody>
      </p:sp>
      <p:sp>
        <p:nvSpPr>
          <p:cNvPr id="8" name="num-330"/>
          <p:cNvSpPr/>
          <p:nvPr/>
        </p:nvSpPr>
        <p:spPr>
          <a:xfrm>
            <a:off x="548640" y="507492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331"/>
          <p:cNvSpPr txBox="1"/>
          <p:nvPr/>
        </p:nvSpPr>
        <p:spPr>
          <a:xfrm>
            <a:off x="1051560" y="5074920"/>
            <a:ext cx="2103120" cy="384048"/>
          </a:xfrm>
          <a:prstGeom prst="rect">
            <a:avLst/>
          </a:prstGeom>
          <a:noFill/>
          <a:ln/>
        </p:spPr>
        <p:txBody>
          <a:bodyPr wrap="square" lIns="0" tIns="0" rIns="0" bIns="0" rtlCol="0" anchor="ctr"/>
          <a:lstStyle/>
          <a:p>
            <a:pPr indent="0" marL="0">
              <a:buNone/>
            </a:pPr>
            <a:r>
              <a:rPr lang="en-US" sz="1500" b="1" dirty="0">
                <a:solidFill>
                  <a:schemeClr val="tx1"/>
                </a:solidFill>
              </a:rPr>
              <a:t>Look up</a:t>
            </a:r>
            <a:endParaRPr lang="en-US" sz="1500" dirty="0"/>
          </a:p>
        </p:txBody>
      </p:sp>
      <p:sp>
        <p:nvSpPr>
          <p:cNvPr id="10" name="text-332"/>
          <p:cNvSpPr txBox="1"/>
          <p:nvPr/>
        </p:nvSpPr>
        <p:spPr>
          <a:xfrm>
            <a:off x="548640" y="5532120"/>
            <a:ext cx="2606040" cy="731520"/>
          </a:xfrm>
          <a:prstGeom prst="rect">
            <a:avLst/>
          </a:prstGeom>
          <a:noFill/>
          <a:ln/>
        </p:spPr>
        <p:txBody>
          <a:bodyPr wrap="square" lIns="0" tIns="0" rIns="0" bIns="0" rtlCol="0" anchor="t"/>
          <a:lstStyle/>
          <a:p>
            <a:pPr indent="0" marL="0">
              <a:buNone/>
            </a:pPr>
            <a:r>
              <a:rPr lang="en-US" sz="1300" dirty="0">
                <a:solidFill>
                  <a:schemeClr val="tx2"/>
                </a:solidFill>
              </a:rPr>
              <a:t>NaFePO4 fetched from MP (a CIF would be predicted with CGCNN).</a:t>
            </a:r>
            <a:endParaRPr lang="en-US" sz="1300" dirty="0"/>
          </a:p>
        </p:txBody>
      </p:sp>
      <p:sp>
        <p:nvSpPr>
          <p:cNvPr id="11" name="num-333"/>
          <p:cNvSpPr/>
          <p:nvPr/>
        </p:nvSpPr>
        <p:spPr>
          <a:xfrm>
            <a:off x="3367735" y="507492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334"/>
          <p:cNvSpPr txBox="1"/>
          <p:nvPr/>
        </p:nvSpPr>
        <p:spPr>
          <a:xfrm>
            <a:off x="3870655" y="5074920"/>
            <a:ext cx="2103120" cy="384048"/>
          </a:xfrm>
          <a:prstGeom prst="rect">
            <a:avLst/>
          </a:prstGeom>
          <a:noFill/>
          <a:ln/>
        </p:spPr>
        <p:txBody>
          <a:bodyPr wrap="square" lIns="0" tIns="0" rIns="0" bIns="0" rtlCol="0" anchor="ctr"/>
          <a:lstStyle/>
          <a:p>
            <a:pPr indent="0" marL="0">
              <a:buNone/>
            </a:pPr>
            <a:r>
              <a:rPr lang="en-US" sz="1500" b="1" dirty="0">
                <a:solidFill>
                  <a:schemeClr val="tx1"/>
                </a:solidFill>
              </a:rPr>
              <a:t>Match</a:t>
            </a:r>
            <a:endParaRPr lang="en-US" sz="1500" dirty="0"/>
          </a:p>
        </p:txBody>
      </p:sp>
      <p:sp>
        <p:nvSpPr>
          <p:cNvPr id="13" name="text-335"/>
          <p:cNvSpPr txBox="1"/>
          <p:nvPr/>
        </p:nvSpPr>
        <p:spPr>
          <a:xfrm>
            <a:off x="3367735" y="5532120"/>
            <a:ext cx="2606040" cy="731520"/>
          </a:xfrm>
          <a:prstGeom prst="rect">
            <a:avLst/>
          </a:prstGeom>
          <a:noFill/>
          <a:ln/>
        </p:spPr>
        <p:txBody>
          <a:bodyPr wrap="square" lIns="0" tIns="0" rIns="0" bIns="0" rtlCol="0" anchor="t"/>
          <a:lstStyle/>
          <a:p>
            <a:pPr indent="0" marL="0">
              <a:buNone/>
            </a:pPr>
            <a:r>
              <a:rPr lang="en-US" sz="1300" dirty="0">
                <a:solidFill>
                  <a:schemeClr val="tx2"/>
                </a:solidFill>
              </a:rPr>
              <a:t>Compared with same-formula materials: no polymorph in the graph.</a:t>
            </a:r>
            <a:endParaRPr lang="en-US" sz="1300" dirty="0"/>
          </a:p>
        </p:txBody>
      </p:sp>
      <p:sp>
        <p:nvSpPr>
          <p:cNvPr id="14" name="num-336"/>
          <p:cNvSpPr/>
          <p:nvPr/>
        </p:nvSpPr>
        <p:spPr>
          <a:xfrm>
            <a:off x="6186830" y="5074920"/>
            <a:ext cx="384048" cy="384048"/>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337"/>
          <p:cNvSpPr txBox="1"/>
          <p:nvPr/>
        </p:nvSpPr>
        <p:spPr>
          <a:xfrm>
            <a:off x="6689750" y="5074920"/>
            <a:ext cx="2103120" cy="384048"/>
          </a:xfrm>
          <a:prstGeom prst="rect">
            <a:avLst/>
          </a:prstGeom>
          <a:noFill/>
          <a:ln/>
        </p:spPr>
        <p:txBody>
          <a:bodyPr wrap="square" lIns="0" tIns="0" rIns="0" bIns="0" rtlCol="0" anchor="ctr"/>
          <a:lstStyle/>
          <a:p>
            <a:pPr indent="0" marL="0">
              <a:buNone/>
            </a:pPr>
            <a:r>
              <a:rPr lang="en-US" sz="1500" b="1" dirty="0">
                <a:solidFill>
                  <a:schemeClr val="tx1"/>
                </a:solidFill>
              </a:rPr>
              <a:t>Wire</a:t>
            </a:r>
            <a:endParaRPr lang="en-US" sz="1500" dirty="0"/>
          </a:p>
        </p:txBody>
      </p:sp>
      <p:sp>
        <p:nvSpPr>
          <p:cNvPr id="16" name="text-338"/>
          <p:cNvSpPr txBox="1"/>
          <p:nvPr/>
        </p:nvSpPr>
        <p:spPr>
          <a:xfrm>
            <a:off x="6186830" y="5532120"/>
            <a:ext cx="2606040" cy="731520"/>
          </a:xfrm>
          <a:prstGeom prst="rect">
            <a:avLst/>
          </a:prstGeom>
          <a:noFill/>
          <a:ln/>
        </p:spPr>
        <p:txBody>
          <a:bodyPr wrap="square" lIns="0" tIns="0" rIns="0" bIns="0" rtlCol="0" anchor="t"/>
          <a:lstStyle/>
          <a:p>
            <a:pPr indent="0" marL="0">
              <a:buNone/>
            </a:pPr>
            <a:r>
              <a:rPr lang="en-US" sz="1300" dirty="0">
                <a:solidFill>
                  <a:schemeClr val="tx2"/>
                </a:solidFill>
              </a:rPr>
              <a:t>New node linked to each shared hub, rarest first: ABCD4 (6) → O (760).</a:t>
            </a:r>
            <a:endParaRPr lang="en-US" sz="1300" dirty="0"/>
          </a:p>
        </p:txBody>
      </p:sp>
      <p:sp>
        <p:nvSpPr>
          <p:cNvPr id="17" name="num-339"/>
          <p:cNvSpPr/>
          <p:nvPr/>
        </p:nvSpPr>
        <p:spPr>
          <a:xfrm>
            <a:off x="9005926" y="507492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340"/>
          <p:cNvSpPr txBox="1"/>
          <p:nvPr/>
        </p:nvSpPr>
        <p:spPr>
          <a:xfrm>
            <a:off x="9508846" y="5074920"/>
            <a:ext cx="2103120" cy="384048"/>
          </a:xfrm>
          <a:prstGeom prst="rect">
            <a:avLst/>
          </a:prstGeom>
          <a:noFill/>
          <a:ln/>
        </p:spPr>
        <p:txBody>
          <a:bodyPr wrap="square" lIns="0" tIns="0" rIns="0" bIns="0" rtlCol="0" anchor="ctr"/>
          <a:lstStyle/>
          <a:p>
            <a:pPr indent="0" marL="0">
              <a:buNone/>
            </a:pPr>
            <a:r>
              <a:rPr lang="en-US" sz="1500" b="1" dirty="0">
                <a:solidFill>
                  <a:schemeClr val="tx1"/>
                </a:solidFill>
              </a:rPr>
              <a:t>Settle</a:t>
            </a:r>
            <a:endParaRPr lang="en-US" sz="1500" dirty="0"/>
          </a:p>
        </p:txBody>
      </p:sp>
      <p:sp>
        <p:nvSpPr>
          <p:cNvPr id="19" name="text-341"/>
          <p:cNvSpPr txBox="1"/>
          <p:nvPr/>
        </p:nvSpPr>
        <p:spPr>
          <a:xfrm>
            <a:off x="9005926" y="5532120"/>
            <a:ext cx="2606040" cy="731520"/>
          </a:xfrm>
          <a:prstGeom prst="rect">
            <a:avLst/>
          </a:prstGeom>
          <a:noFill/>
          <a:ln/>
        </p:spPr>
        <p:txBody>
          <a:bodyPr wrap="square" lIns="0" tIns="0" rIns="0" bIns="0" rtlCol="0" anchor="t"/>
          <a:lstStyle/>
          <a:p>
            <a:pPr indent="0" marL="0">
              <a:buNone/>
            </a:pPr>
            <a:r>
              <a:rPr lang="en-US" sz="1300" dirty="0">
                <a:solidFill>
                  <a:schemeClr val="tx2"/>
                </a:solidFill>
              </a:rPr>
              <a:t>similar_to neighbours added; forces pull the node into place.</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Conclusion and next steps</a:t>
            </a:r>
            <a:endParaRPr lang="en-US" sz="3600" dirty="0"/>
          </a:p>
        </p:txBody>
      </p:sp>
      <p:sp>
        <p:nvSpPr>
          <p:cNvPr id="3" name="closing-column-342"/>
          <p:cNvSpPr/>
          <p:nvPr/>
        </p:nvSpPr>
        <p:spPr>
          <a:xfrm>
            <a:off x="548640" y="1463040"/>
            <a:ext cx="3520440" cy="4160520"/>
          </a:xfrm>
          <a:prstGeom prst="roundRect">
            <a:avLst>
              <a:gd name="adj" fmla="val 3117"/>
            </a:avLst>
          </a:prstGeom>
          <a:solidFill>
            <a:schemeClr val="bg1">
              <a:alpha val="7000"/>
            </a:schemeClr>
          </a:solidFill>
          <a:ln/>
        </p:spPr>
      </p:sp>
      <p:sp>
        <p:nvSpPr>
          <p:cNvPr id="4" name="node-343"/>
          <p:cNvSpPr/>
          <p:nvPr/>
        </p:nvSpPr>
        <p:spPr>
          <a:xfrm>
            <a:off x="822960" y="1719072"/>
            <a:ext cx="274320" cy="274320"/>
          </a:xfrm>
          <a:prstGeom prst="ellipse">
            <a:avLst/>
          </a:prstGeom>
          <a:solidFill>
            <a:schemeClr val="accent2"/>
          </a:solidFill>
          <a:ln/>
        </p:spPr>
      </p:sp>
      <p:sp>
        <p:nvSpPr>
          <p:cNvPr id="5" name="text-344"/>
          <p:cNvSpPr txBox="1"/>
          <p:nvPr/>
        </p:nvSpPr>
        <p:spPr>
          <a:xfrm>
            <a:off x="1234440" y="1645920"/>
            <a:ext cx="2606040" cy="411480"/>
          </a:xfrm>
          <a:prstGeom prst="rect">
            <a:avLst/>
          </a:prstGeom>
          <a:noFill/>
          <a:ln/>
        </p:spPr>
        <p:txBody>
          <a:bodyPr wrap="square" lIns="0" tIns="0" rIns="0" bIns="0" rtlCol="0" anchor="ctr"/>
          <a:lstStyle/>
          <a:p>
            <a:pPr indent="0" marL="0">
              <a:buNone/>
            </a:pPr>
            <a:r>
              <a:rPr lang="en-US" sz="2000" b="1" dirty="0">
                <a:solidFill>
                  <a:schemeClr val="bg1"/>
                </a:solidFill>
              </a:rPr>
              <a:t>Delivered</a:t>
            </a:r>
            <a:endParaRPr lang="en-US" sz="2000" dirty="0"/>
          </a:p>
        </p:txBody>
      </p:sp>
      <p:sp>
        <p:nvSpPr>
          <p:cNvPr id="6" name="text-345"/>
          <p:cNvSpPr txBox="1"/>
          <p:nvPr/>
        </p:nvSpPr>
        <p:spPr>
          <a:xfrm>
            <a:off x="822960" y="2286000"/>
            <a:ext cx="301752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794-material knowledge graph, 14,686 edges, built with zero LLM calls</a:t>
            </a:r>
            <a:endParaRPr lang="en-US" sz="1500" dirty="0"/>
          </a:p>
          <a:p>
            <a:pPr marL="342900" indent="-342900">
              <a:spcAft>
                <a:spcPts val="1000"/>
              </a:spcAft>
              <a:buSzPct val="100000"/>
              <a:buChar char="•"/>
            </a:pPr>
            <a:r>
              <a:rPr lang="en-US" sz="1500" dirty="0">
                <a:solidFill>
                  <a:schemeClr val="bg2"/>
                </a:solidFill>
              </a:rPr>
              <a:t>GraphRAG answers: nDCG@10 0.910 with 0% constraint violations</a:t>
            </a:r>
            <a:endParaRPr lang="en-US" sz="1500" dirty="0"/>
          </a:p>
          <a:p>
            <a:pPr marL="342900" indent="-342900">
              <a:spcAft>
                <a:spcPts val="1000"/>
              </a:spcAft>
              <a:buSzPct val="100000"/>
              <a:buChar char="•"/>
            </a:pPr>
            <a:r>
              <a:rPr lang="en-US" sz="1500" dirty="0">
                <a:solidFill>
                  <a:schemeClr val="bg2"/>
                </a:solidFill>
              </a:rPr>
              <a:t>Every claim cited and machine-checked</a:t>
            </a:r>
            <a:endParaRPr lang="en-US" sz="1500" dirty="0"/>
          </a:p>
          <a:p>
            <a:pPr marL="342900" indent="-342900">
              <a:spcAft>
                <a:spcPts val="1000"/>
              </a:spcAft>
              <a:buSzPct val="100000"/>
              <a:buChar char="•"/>
            </a:pPr>
            <a:r>
              <a:rPr lang="en-US" sz="1500" dirty="0">
                <a:solidFill>
                  <a:schemeClr val="bg2"/>
                </a:solidFill>
              </a:rPr>
              <a:t>New materials connect through shared hubs and similar_to</a:t>
            </a:r>
            <a:endParaRPr lang="en-US" sz="1500" dirty="0"/>
          </a:p>
        </p:txBody>
      </p:sp>
      <p:sp>
        <p:nvSpPr>
          <p:cNvPr id="7" name="closing-column-346"/>
          <p:cNvSpPr/>
          <p:nvPr/>
        </p:nvSpPr>
        <p:spPr>
          <a:xfrm>
            <a:off x="4315968" y="1463040"/>
            <a:ext cx="3520440" cy="4160520"/>
          </a:xfrm>
          <a:prstGeom prst="roundRect">
            <a:avLst>
              <a:gd name="adj" fmla="val 3117"/>
            </a:avLst>
          </a:prstGeom>
          <a:solidFill>
            <a:schemeClr val="bg1">
              <a:alpha val="7000"/>
            </a:schemeClr>
          </a:solidFill>
          <a:ln/>
        </p:spPr>
      </p:sp>
      <p:sp>
        <p:nvSpPr>
          <p:cNvPr id="8" name="node-347"/>
          <p:cNvSpPr/>
          <p:nvPr/>
        </p:nvSpPr>
        <p:spPr>
          <a:xfrm>
            <a:off x="4590288" y="1719072"/>
            <a:ext cx="274320" cy="274320"/>
          </a:xfrm>
          <a:prstGeom prst="ellipse">
            <a:avLst/>
          </a:prstGeom>
          <a:solidFill>
            <a:schemeClr val="accent3"/>
          </a:solidFill>
          <a:ln/>
        </p:spPr>
      </p:sp>
      <p:sp>
        <p:nvSpPr>
          <p:cNvPr id="9" name="text-348"/>
          <p:cNvSpPr txBox="1"/>
          <p:nvPr/>
        </p:nvSpPr>
        <p:spPr>
          <a:xfrm>
            <a:off x="5001768" y="1645920"/>
            <a:ext cx="2606040" cy="411480"/>
          </a:xfrm>
          <a:prstGeom prst="rect">
            <a:avLst/>
          </a:prstGeom>
          <a:noFill/>
          <a:ln/>
        </p:spPr>
        <p:txBody>
          <a:bodyPr wrap="square" lIns="0" tIns="0" rIns="0" bIns="0" rtlCol="0" anchor="ctr"/>
          <a:lstStyle/>
          <a:p>
            <a:pPr indent="0" marL="0">
              <a:buNone/>
            </a:pPr>
            <a:r>
              <a:rPr lang="en-US" sz="2000" b="1" dirty="0">
                <a:solidFill>
                  <a:schemeClr val="bg1"/>
                </a:solidFill>
              </a:rPr>
              <a:t>Limitations</a:t>
            </a:r>
            <a:endParaRPr lang="en-US" sz="2000" dirty="0"/>
          </a:p>
        </p:txBody>
      </p:sp>
      <p:sp>
        <p:nvSpPr>
          <p:cNvPr id="10" name="text-349"/>
          <p:cNvSpPr txBox="1"/>
          <p:nvPr/>
        </p:nvSpPr>
        <p:spPr>
          <a:xfrm>
            <a:off x="4590288" y="2286000"/>
            <a:ext cx="301752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Similarity queries: nDCG@10 0.517; property similarity is not a structural analogue</a:t>
            </a:r>
            <a:endParaRPr lang="en-US" sz="1500" dirty="0"/>
          </a:p>
          <a:p>
            <a:pPr marL="342900" indent="-342900">
              <a:spcAft>
                <a:spcPts val="1000"/>
              </a:spcAft>
              <a:buSzPct val="100000"/>
              <a:buChar char="•"/>
            </a:pPr>
            <a:r>
              <a:rPr lang="en-US" sz="1500" dirty="0">
                <a:solidFill>
                  <a:schemeClr val="bg2"/>
                </a:solidFill>
              </a:rPr>
              <a:t>LLM question parsing is the end-to-end bottleneck; rules are the fallback</a:t>
            </a:r>
            <a:endParaRPr lang="en-US" sz="1500" dirty="0"/>
          </a:p>
          <a:p>
            <a:pPr marL="342900" indent="-342900">
              <a:spcAft>
                <a:spcPts val="1000"/>
              </a:spcAft>
              <a:buSzPct val="100000"/>
              <a:buChar char="•"/>
            </a:pPr>
            <a:r>
              <a:rPr lang="en-US" sz="1500" dirty="0">
                <a:solidFill>
                  <a:schemeClr val="bg2"/>
                </a:solidFill>
              </a:rPr>
              <a:t>Elastic and dielectric data cover under 20% of materials</a:t>
            </a:r>
            <a:endParaRPr lang="en-US" sz="1500" dirty="0"/>
          </a:p>
        </p:txBody>
      </p:sp>
      <p:sp>
        <p:nvSpPr>
          <p:cNvPr id="11" name="closing-column-350"/>
          <p:cNvSpPr/>
          <p:nvPr/>
        </p:nvSpPr>
        <p:spPr>
          <a:xfrm>
            <a:off x="8083296" y="1463040"/>
            <a:ext cx="3520440" cy="4160520"/>
          </a:xfrm>
          <a:prstGeom prst="roundRect">
            <a:avLst>
              <a:gd name="adj" fmla="val 3117"/>
            </a:avLst>
          </a:prstGeom>
          <a:solidFill>
            <a:schemeClr val="bg1">
              <a:alpha val="7000"/>
            </a:schemeClr>
          </a:solidFill>
          <a:ln/>
        </p:spPr>
      </p:sp>
      <p:sp>
        <p:nvSpPr>
          <p:cNvPr id="12" name="node-351"/>
          <p:cNvSpPr/>
          <p:nvPr/>
        </p:nvSpPr>
        <p:spPr>
          <a:xfrm>
            <a:off x="8357616" y="1719072"/>
            <a:ext cx="274320" cy="274320"/>
          </a:xfrm>
          <a:prstGeom prst="ellipse">
            <a:avLst/>
          </a:prstGeom>
          <a:solidFill>
            <a:schemeClr val="accent4"/>
          </a:solidFill>
          <a:ln/>
        </p:spPr>
      </p:sp>
      <p:sp>
        <p:nvSpPr>
          <p:cNvPr id="13" name="text-352"/>
          <p:cNvSpPr txBox="1"/>
          <p:nvPr/>
        </p:nvSpPr>
        <p:spPr>
          <a:xfrm>
            <a:off x="8769096" y="1645920"/>
            <a:ext cx="2606040" cy="411480"/>
          </a:xfrm>
          <a:prstGeom prst="rect">
            <a:avLst/>
          </a:prstGeom>
          <a:noFill/>
          <a:ln/>
        </p:spPr>
        <p:txBody>
          <a:bodyPr wrap="square" lIns="0" tIns="0" rIns="0" bIns="0" rtlCol="0" anchor="ctr"/>
          <a:lstStyle/>
          <a:p>
            <a:pPr indent="0" marL="0">
              <a:buNone/>
            </a:pPr>
            <a:r>
              <a:rPr lang="en-US" sz="2000" b="1" dirty="0">
                <a:solidFill>
                  <a:schemeClr val="bg1"/>
                </a:solidFill>
              </a:rPr>
              <a:t>Next steps</a:t>
            </a:r>
            <a:endParaRPr lang="en-US" sz="2000" dirty="0"/>
          </a:p>
        </p:txBody>
      </p:sp>
      <p:sp>
        <p:nvSpPr>
          <p:cNvPr id="14" name="text-353"/>
          <p:cNvSpPr txBox="1"/>
          <p:nvPr/>
        </p:nvSpPr>
        <p:spPr>
          <a:xfrm>
            <a:off x="8357616" y="2286000"/>
            <a:ext cx="301752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Structural embeddings and structurally_similar edges</a:t>
            </a:r>
            <a:endParaRPr lang="en-US" sz="1500" dirty="0"/>
          </a:p>
          <a:p>
            <a:pPr marL="342900" indent="-342900">
              <a:spcAft>
                <a:spcPts val="1000"/>
              </a:spcAft>
              <a:buSzPct val="100000"/>
              <a:buChar char="•"/>
            </a:pPr>
            <a:r>
              <a:rPr lang="en-US" sz="1500" dirty="0">
                <a:solidFill>
                  <a:schemeClr val="bg2"/>
                </a:solidFill>
              </a:rPr>
              <a:t>Element substitution (substitutable_with)</a:t>
            </a:r>
            <a:endParaRPr lang="en-US" sz="1500" dirty="0"/>
          </a:p>
          <a:p>
            <a:pPr marL="342900" indent="-342900">
              <a:spcAft>
                <a:spcPts val="1000"/>
              </a:spcAft>
              <a:buSzPct val="100000"/>
              <a:buChar char="•"/>
            </a:pPr>
            <a:r>
              <a:rPr lang="en-US" sz="1500" dirty="0">
                <a:solidFill>
                  <a:schemeClr val="bg2"/>
                </a:solidFill>
              </a:rPr>
              <a:t>Neo4j migration (a configuration swap)</a:t>
            </a:r>
            <a:endParaRPr lang="en-US" sz="1500" dirty="0"/>
          </a:p>
          <a:p>
            <a:pPr marL="342900" indent="-342900">
              <a:spcAft>
                <a:spcPts val="1000"/>
              </a:spcAft>
              <a:buSzPct val="100000"/>
              <a:buChar char="•"/>
            </a:pPr>
            <a:r>
              <a:rPr lang="en-US" sz="1500" dirty="0">
                <a:solidFill>
                  <a:schemeClr val="bg2"/>
                </a:solidFill>
              </a:rPr>
              <a:t>Next.js frontend, Docker and CI/CD</a:t>
            </a:r>
            <a:endParaRPr lang="en-US" sz="1500" dirty="0"/>
          </a:p>
        </p:txBody>
      </p:sp>
      <p:sp>
        <p:nvSpPr>
          <p:cNvPr id="15" name="text-354"/>
          <p:cNvSpPr txBox="1"/>
          <p:nvPr/>
        </p:nvSpPr>
        <p:spPr>
          <a:xfrm>
            <a:off x="548640" y="5806440"/>
            <a:ext cx="11064240" cy="548640"/>
          </a:xfrm>
          <a:prstGeom prst="rect">
            <a:avLst/>
          </a:prstGeom>
          <a:noFill/>
          <a:ln/>
        </p:spPr>
        <p:txBody>
          <a:bodyPr wrap="square" lIns="0" tIns="0" rIns="0" bIns="0" rtlCol="0" anchor="ctr"/>
          <a:lstStyle/>
          <a:p>
            <a:pPr algn="r" indent="0" marL="0">
              <a:buNone/>
            </a:pPr>
            <a:r>
              <a:rPr lang="en-US" sz="2600" b="1" dirty="0">
                <a:solidFill>
                  <a:schemeClr val="bg1"/>
                </a:solidFill>
              </a:rPr>
              <a:t>Thank you — questions?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MatGraphRAG">
      <a:dk1>
        <a:srgbClr val="0B0C11"/>
      </a:dk1>
      <a:lt1>
        <a:srgbClr val="FFFFFF"/>
      </a:lt1>
      <a:dk2>
        <a:srgbClr val="5B6278"/>
      </a:dk2>
      <a:lt2>
        <a:srgbClr val="F1F3F9"/>
      </a:lt2>
      <a:accent1>
        <a:srgbClr val="4C5FD5"/>
      </a:accent1>
      <a:accent2>
        <a:srgbClr val="0CA678"/>
      </a:accent2>
      <a:accent3>
        <a:srgbClr val="E8890C"/>
      </a:accent3>
      <a:accent4>
        <a:srgbClr val="1098AD"/>
      </a:accent4>
      <a:accent5>
        <a:srgbClr val="9C36B5"/>
      </a:accent5>
      <a:accent6>
        <a:srgbClr val="D6336C"/>
      </a:accent6>
      <a:hlink>
        <a:srgbClr val="4C5FD5"/>
      </a:hlink>
      <a:folHlink>
        <a:srgbClr val="9C36B5"/>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MatGraphRAG</dc:title>
  <dc:subject>Explainable graph-based retrieval for materials discovery</dc:subject>
  <dc:creator>PptxGenJS</dc:creator>
  <cp:lastModifiedBy>PptxGenJS</cp:lastModifiedBy>
  <cp:revision>1</cp:revision>
  <dcterms:created xsi:type="dcterms:W3CDTF">2026-10-23T03:29:34Z</dcterms:created>
  <dcterms:modified xsi:type="dcterms:W3CDTF">2026-10-23T03:29:34Z</dcterms:modified>
</cp:coreProperties>
</file>