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phases are complete: the knowledge graph, GraphRAG retrieval with grounded explanations, and crystal structure encoding with the pre-trained CGCNN models wired into material ingestion. The following slides add the architecture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in four layers, top to bottom: data sources, the knowledge graph, reasoning services, and the interfaces that expose them. Every service reads the same Cognee-managed graph and vector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1 build as a diagram. Materials Project data is fetched per cluster, cached, enriched by deterministic rules and written through Cognee into the knowledge graph, which is then verified and visualised.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as a graph. Material is the centre; every grouping dimension is a shared hub node, space groups roll up into crystal systems, and similar_to links materials directly with a cosine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the LLM only parses the question and phrases the explanation. Retrieval enforces every constraint exactly; evidence becomes numbered facts; a deterministic checker verifies every citation and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new material is added. The property source depends on the input and every value keeps its provenance. Deduplication resolves to existing nodes where possible. The same NodeFactory as the full build attaches the material to existing hubs, then relating, reporting, explanation and grounding follow; the result is previewed or persisted.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the running system: LiTaO3 is not in the graph, so it is fetched from Materials Project and related. It attaches to existing hubs, ranked by how few materials share them; the only new node is its chemical system. Related materials come from similar_to on the frozen build-time scale and from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6565392"/>
            <a:ext cx="3048610" cy="292608"/>
          </a:xfrm>
          <a:prstGeom prst="rect">
            <a:avLst/>
          </a:prstGeom>
          <a:solidFill>
            <a:schemeClr val="tx2"/>
          </a:solidFill>
          <a:ln/>
        </p:spPr>
      </p:sp>
      <p:sp>
        <p:nvSpPr>
          <p:cNvPr id="3" name="Shape 1"/>
          <p:cNvSpPr/>
          <p:nvPr/>
        </p:nvSpPr>
        <p:spPr>
          <a:xfrm>
            <a:off x="3048610" y="6565392"/>
            <a:ext cx="3047695" cy="292608"/>
          </a:xfrm>
          <a:prstGeom prst="rect">
            <a:avLst/>
          </a:prstGeom>
          <a:solidFill>
            <a:schemeClr val="accent2"/>
          </a:solidFill>
          <a:ln/>
        </p:spPr>
      </p:sp>
      <p:sp>
        <p:nvSpPr>
          <p:cNvPr id="4" name="Shape 2"/>
          <p:cNvSpPr/>
          <p:nvPr/>
        </p:nvSpPr>
        <p:spPr>
          <a:xfrm>
            <a:off x="6096305" y="6565392"/>
            <a:ext cx="3047695" cy="292608"/>
          </a:xfrm>
          <a:prstGeom prst="rect">
            <a:avLst/>
          </a:prstGeom>
          <a:solidFill>
            <a:schemeClr val="accent1"/>
          </a:solidFill>
          <a:ln/>
        </p:spPr>
      </p:sp>
      <p:sp>
        <p:nvSpPr>
          <p:cNvPr id="5" name="Text 3"/>
          <p:cNvSpPr/>
          <p:nvPr/>
        </p:nvSpPr>
        <p:spPr>
          <a:xfrm>
            <a:off x="0" y="6565392"/>
            <a:ext cx="3048610" cy="292608"/>
          </a:xfrm>
          <a:prstGeom prst="rect">
            <a:avLst/>
          </a:prstGeom>
          <a:noFill/>
          <a:ln/>
        </p:spPr>
        <p:txBody>
          <a:bodyPr wrap="square" lIns="0" tIns="0" rIns="0" bIns="0" rtlCol="0" anchor="ctr"/>
          <a:lstStyle/>
          <a:p>
            <a:pPr algn="ctr" indent="0" marL="0">
              <a:buNone/>
            </a:pPr>
            <a:r>
              <a:rPr lang="en-US" sz="1000" dirty="0">
                <a:solidFill>
                  <a:schemeClr val="bg1"/>
                </a:solidFill>
              </a:rPr>
              <a:t>Group 14 (Amrita Vishwa Vidyapeetham)</a:t>
            </a:r>
            <a:endParaRPr lang="en-US" sz="1000" dirty="0"/>
          </a:p>
        </p:txBody>
      </p:sp>
      <p:sp>
        <p:nvSpPr>
          <p:cNvPr id="6" name="Text 4"/>
          <p:cNvSpPr/>
          <p:nvPr/>
        </p:nvSpPr>
        <p:spPr>
          <a:xfrm>
            <a:off x="3048610" y="6565392"/>
            <a:ext cx="3047695" cy="292608"/>
          </a:xfrm>
          <a:prstGeom prst="rect">
            <a:avLst/>
          </a:prstGeom>
          <a:noFill/>
          <a:ln/>
        </p:spPr>
        <p:txBody>
          <a:bodyPr wrap="square" lIns="0" tIns="0" rIns="0" bIns="0" rtlCol="0" anchor="ctr"/>
          <a:lstStyle/>
          <a:p>
            <a:pPr algn="ctr" indent="0" marL="0">
              <a:buNone/>
            </a:pPr>
            <a:r>
              <a:rPr lang="en-US" sz="1000" dirty="0">
                <a:solidFill>
                  <a:schemeClr val="bg1"/>
                </a:solidFill>
              </a:rPr>
              <a:t>MatGraphRAG</a:t>
            </a:r>
            <a:endParaRPr lang="en-US" sz="1000" dirty="0"/>
          </a:p>
        </p:txBody>
      </p:sp>
      <p:sp>
        <p:nvSpPr>
          <p:cNvPr id="7" name="Text 5"/>
          <p:cNvSpPr/>
          <p:nvPr/>
        </p:nvSpPr>
        <p:spPr>
          <a:xfrm>
            <a:off x="6172200" y="6565392"/>
            <a:ext cx="1828800" cy="292608"/>
          </a:xfrm>
          <a:prstGeom prst="rect">
            <a:avLst/>
          </a:prstGeom>
          <a:noFill/>
          <a:ln/>
        </p:spPr>
        <p:txBody>
          <a:bodyPr wrap="square" lIns="0" tIns="0" rIns="0" bIns="0" rtlCol="0" anchor="ctr"/>
          <a:lstStyle/>
          <a:p>
            <a:pPr algn="ctr" indent="0" marL="0">
              <a:buNone/>
            </a:pPr>
            <a:r>
              <a:rPr lang="en-US" sz="1000" dirty="0">
                <a:solidFill>
                  <a:schemeClr val="bg1"/>
                </a:solidFill>
              </a:rPr>
              <a:t>October 23, 2026</a:t>
            </a:r>
            <a:endParaRPr lang="en-US" sz="1000" dirty="0"/>
          </a:p>
        </p:txBody>
      </p:sp>
      <p:sp>
        <p:nvSpPr>
          <p:cNvPr id="8" name="Text 6"/>
          <p:cNvSpPr/>
          <p:nvPr/>
        </p:nvSpPr>
        <p:spPr>
          <a:xfrm>
            <a:off x="8439912" y="6565392"/>
            <a:ext cx="548640" cy="292608"/>
          </a:xfrm>
          <a:prstGeom prst="rect">
            <a:avLst/>
          </a:prstGeom>
          <a:noFill/>
          <a:ln/>
        </p:spPr>
        <p:txBody>
          <a:bodyPr wrap="square" lIns="0" tIns="0" rIns="0" bIns="0" rtlCol="0" anchor="ctr"/>
          <a:lstStyle/>
          <a:p>
            <a:pPr indent="0" marL="0">
              <a:buNone/>
            </a:pPr>
            <a:r>
              <a:rPr lang="en-US" sz="1000" dirty="0">
                <a:solidFill>
                  <a:schemeClr val="bg1"/>
                </a:solidFill>
              </a:rPr>
              <a:t>/ 23</a:t>
            </a:r>
            <a:endParaRPr lang="en-US" sz="10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AM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chemeClr val="accent1"/>
          </a:solidFill>
          <a:ln/>
        </p:spPr>
      </p:sp>
      <p:sp>
        <p:nvSpPr>
          <p:cNvPr id="3" name="Text 1"/>
          <p:cNvSpPr/>
          <p:nvPr>
            <p:ph idx="101" type="title" hasCustomPrompt="1"/>
          </p:nvPr>
        </p:nvSpPr>
        <p:spPr>
          <a:xfrm>
            <a:off x="201168" y="0"/>
            <a:ext cx="8778240" cy="713232"/>
          </a:xfrm>
          <a:prstGeom prst="rect">
            <a:avLst/>
          </a:prstGeom>
          <a:noFill/>
          <a:ln/>
        </p:spPr>
        <p:txBody>
          <a:bodyPr wrap="square" rtlCol="0"/>
          <a:lstStyle>
            <a:lvl1pPr algn="l" indent="0" marL="0">
              <a:buNone/>
              <a:defRPr lang="en-US" sz="2600" dirty="0">
                <a:solidFill>
                  <a:schemeClr val="bg1"/>
                </a:solidFill>
              </a:defRPr>
            </a:lvl1pPr>
          </a:lstStyle>
          <a:p>
            <a:pPr algn="l" indent="0" marL="0">
              <a:buNone/>
            </a:pPr>
            <a:endParaRPr lang="en-US" sz="2600" dirty="0"/>
          </a:p>
        </p:txBody>
      </p:sp>
      <p:sp>
        <p:nvSpPr>
          <p:cNvPr id="4" name="Shape 1"/>
          <p:cNvSpPr/>
          <p:nvPr/>
        </p:nvSpPr>
        <p:spPr>
          <a:xfrm>
            <a:off x="0" y="6565392"/>
            <a:ext cx="3048610" cy="292608"/>
          </a:xfrm>
          <a:prstGeom prst="rect">
            <a:avLst/>
          </a:prstGeom>
          <a:solidFill>
            <a:schemeClr val="tx2"/>
          </a:solidFill>
          <a:ln/>
        </p:spPr>
      </p:sp>
      <p:sp>
        <p:nvSpPr>
          <p:cNvPr id="5" name="Shape 2"/>
          <p:cNvSpPr/>
          <p:nvPr/>
        </p:nvSpPr>
        <p:spPr>
          <a:xfrm>
            <a:off x="3048610" y="6565392"/>
            <a:ext cx="3047695" cy="292608"/>
          </a:xfrm>
          <a:prstGeom prst="rect">
            <a:avLst/>
          </a:prstGeom>
          <a:solidFill>
            <a:schemeClr val="accent2"/>
          </a:solidFill>
          <a:ln/>
        </p:spPr>
      </p:sp>
      <p:sp>
        <p:nvSpPr>
          <p:cNvPr id="6" name="Shape 3"/>
          <p:cNvSpPr/>
          <p:nvPr/>
        </p:nvSpPr>
        <p:spPr>
          <a:xfrm>
            <a:off x="6096305" y="6565392"/>
            <a:ext cx="3047695" cy="292608"/>
          </a:xfrm>
          <a:prstGeom prst="rect">
            <a:avLst/>
          </a:prstGeom>
          <a:solidFill>
            <a:schemeClr val="accent1"/>
          </a:solidFill>
          <a:ln/>
        </p:spPr>
      </p:sp>
      <p:sp>
        <p:nvSpPr>
          <p:cNvPr id="7" name="Text 4"/>
          <p:cNvSpPr/>
          <p:nvPr/>
        </p:nvSpPr>
        <p:spPr>
          <a:xfrm>
            <a:off x="0" y="6565392"/>
            <a:ext cx="3048610" cy="292608"/>
          </a:xfrm>
          <a:prstGeom prst="rect">
            <a:avLst/>
          </a:prstGeom>
          <a:noFill/>
          <a:ln/>
        </p:spPr>
        <p:txBody>
          <a:bodyPr wrap="square" lIns="0" tIns="0" rIns="0" bIns="0" rtlCol="0" anchor="ctr"/>
          <a:lstStyle/>
          <a:p>
            <a:pPr algn="ctr" indent="0" marL="0">
              <a:buNone/>
            </a:pPr>
            <a:r>
              <a:rPr lang="en-US" sz="1000" dirty="0">
                <a:solidFill>
                  <a:schemeClr val="bg1"/>
                </a:solidFill>
              </a:rPr>
              <a:t>Group 14 (Amrita Vishwa Vidyapeetham)</a:t>
            </a:r>
            <a:endParaRPr lang="en-US" sz="1000" dirty="0"/>
          </a:p>
        </p:txBody>
      </p:sp>
      <p:sp>
        <p:nvSpPr>
          <p:cNvPr id="8" name="Text 5"/>
          <p:cNvSpPr/>
          <p:nvPr/>
        </p:nvSpPr>
        <p:spPr>
          <a:xfrm>
            <a:off x="3048610" y="6565392"/>
            <a:ext cx="3047695" cy="292608"/>
          </a:xfrm>
          <a:prstGeom prst="rect">
            <a:avLst/>
          </a:prstGeom>
          <a:noFill/>
          <a:ln/>
        </p:spPr>
        <p:txBody>
          <a:bodyPr wrap="square" lIns="0" tIns="0" rIns="0" bIns="0" rtlCol="0" anchor="ctr"/>
          <a:lstStyle/>
          <a:p>
            <a:pPr algn="ctr" indent="0" marL="0">
              <a:buNone/>
            </a:pPr>
            <a:r>
              <a:rPr lang="en-US" sz="1000" dirty="0">
                <a:solidFill>
                  <a:schemeClr val="bg1"/>
                </a:solidFill>
              </a:rPr>
              <a:t>MatGraphRAG</a:t>
            </a:r>
            <a:endParaRPr lang="en-US" sz="1000" dirty="0"/>
          </a:p>
        </p:txBody>
      </p:sp>
      <p:sp>
        <p:nvSpPr>
          <p:cNvPr id="9" name="Text 6"/>
          <p:cNvSpPr/>
          <p:nvPr/>
        </p:nvSpPr>
        <p:spPr>
          <a:xfrm>
            <a:off x="6172200" y="6565392"/>
            <a:ext cx="1828800" cy="292608"/>
          </a:xfrm>
          <a:prstGeom prst="rect">
            <a:avLst/>
          </a:prstGeom>
          <a:noFill/>
          <a:ln/>
        </p:spPr>
        <p:txBody>
          <a:bodyPr wrap="square" lIns="0" tIns="0" rIns="0" bIns="0" rtlCol="0" anchor="ctr"/>
          <a:lstStyle/>
          <a:p>
            <a:pPr algn="ctr" indent="0" marL="0">
              <a:buNone/>
            </a:pPr>
            <a:r>
              <a:rPr lang="en-US" sz="1000" dirty="0">
                <a:solidFill>
                  <a:schemeClr val="bg1"/>
                </a:solidFill>
              </a:rPr>
              <a:t>October 23, 2026</a:t>
            </a:r>
            <a:endParaRPr lang="en-US" sz="1000" dirty="0"/>
          </a:p>
        </p:txBody>
      </p:sp>
      <p:sp>
        <p:nvSpPr>
          <p:cNvPr id="10" name="Text 7"/>
          <p:cNvSpPr/>
          <p:nvPr/>
        </p:nvSpPr>
        <p:spPr>
          <a:xfrm>
            <a:off x="8439912" y="6565392"/>
            <a:ext cx="548640" cy="292608"/>
          </a:xfrm>
          <a:prstGeom prst="rect">
            <a:avLst/>
          </a:prstGeom>
          <a:noFill/>
          <a:ln/>
        </p:spPr>
        <p:txBody>
          <a:bodyPr wrap="square" lIns="0" tIns="0" rIns="0" bIns="0" rtlCol="0" anchor="ctr"/>
          <a:lstStyle/>
          <a:p>
            <a:pPr indent="0" marL="0">
              <a:buNone/>
            </a:pPr>
            <a:r>
              <a:rPr lang="en-US" sz="1000" dirty="0">
                <a:solidFill>
                  <a:schemeClr val="bg1"/>
                </a:solidFill>
              </a:rPr>
              <a:t>/ 23</a:t>
            </a:r>
            <a:endParaRPr lang="en-US" sz="10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3.xml"/><Relationship Id="rId10"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box"/>
          <p:cNvSpPr/>
          <p:nvPr/>
        </p:nvSpPr>
        <p:spPr>
          <a:xfrm>
            <a:off x="411480" y="320040"/>
            <a:ext cx="8321040" cy="2011680"/>
          </a:xfrm>
          <a:prstGeom prst="roundRect">
            <a:avLst>
              <a:gd name="adj" fmla="val 5455"/>
            </a:avLst>
          </a:prstGeom>
          <a:solidFill>
            <a:schemeClr val="accent1"/>
          </a:solidFill>
          <a:ln/>
          <a:effectLst>
            <a:outerShdw sx="100000" sy="100000" kx="0" ky="0" algn="bl" rotWithShape="0" blurRad="50800" dist="38100" dir="5400000">
              <a:srgbClr val="9A9A9A">
                <a:alpha val="50000"/>
              </a:srgbClr>
            </a:outerShdw>
          </a:effectLst>
        </p:spPr>
        <p:txBody>
          <a:bodyPr wrap="square" lIns="1905" tIns="1905" rIns="1905" bIns="1905" rtlCol="0" anchor="ctr"/>
          <a:lstStyle/>
          <a:p>
            <a:pPr algn="ctr" indent="0" marL="0">
              <a:spcAft>
                <a:spcPts val="600"/>
              </a:spcAft>
              <a:buNone/>
            </a:pPr>
            <a:r>
              <a:rPr lang="en-US" sz="2400" dirty="0">
                <a:solidFill>
                  <a:schemeClr val="bg1"/>
                </a:solidFill>
              </a:rPr>
              <a:t>MatGraphRAG: An Explainable Graph Based Retrieval Augmented Reasoning System for Intelligent Materials Discovery</a:t>
            </a:r>
            <a:endParaRPr lang="en-US" sz="2400" dirty="0"/>
          </a:p>
          <a:p>
            <a:pPr algn="ctr" indent="0" marL="0">
              <a:spcAft>
                <a:spcPts val="600"/>
              </a:spcAft>
              <a:buNone/>
            </a:pPr>
            <a:r>
              <a:rPr lang="en-US" sz="1600" dirty="0">
                <a:solidFill>
                  <a:schemeClr val="bg1"/>
                </a:solidFill>
              </a:rPr>
              <a:t>Second Review — Phases 1–3: Knowledge Graph Construction, GraphRAG Retrieval &amp; Crystal Structure Encoding</a:t>
            </a:r>
            <a:endParaRPr lang="en-US" sz="2400" dirty="0"/>
          </a:p>
        </p:txBody>
      </p:sp>
      <p:sp>
        <p:nvSpPr>
          <p:cNvPr id="3" name="text-1"/>
          <p:cNvSpPr txBox="1"/>
          <p:nvPr/>
        </p:nvSpPr>
        <p:spPr>
          <a:xfrm>
            <a:off x="914400" y="2697480"/>
            <a:ext cx="7315200" cy="1783080"/>
          </a:xfrm>
          <a:prstGeom prst="rect">
            <a:avLst/>
          </a:prstGeom>
          <a:noFill/>
          <a:ln/>
        </p:spPr>
        <p:txBody>
          <a:bodyPr wrap="square" lIns="0" tIns="0" rIns="0" bIns="0" rtlCol="0" anchor="ctr"/>
          <a:lstStyle/>
          <a:p>
            <a:pPr algn="ctr" indent="0" marL="0">
              <a:spcAft>
                <a:spcPts val="200"/>
              </a:spcAft>
              <a:buNone/>
            </a:pPr>
            <a:r>
              <a:rPr lang="en-US" sz="1800" dirty="0">
                <a:solidFill>
                  <a:schemeClr val="tx1"/>
                </a:solidFill>
              </a:rPr>
              <a:t>Group – 7</a:t>
            </a:r>
            <a:endParaRPr lang="en-US" sz="1800" dirty="0"/>
          </a:p>
          <a:p>
            <a:pPr algn="ctr" indent="0" marL="0">
              <a:spcAft>
                <a:spcPts val="200"/>
              </a:spcAft>
              <a:buNone/>
            </a:pPr>
            <a:r>
              <a:rPr lang="en-US" sz="1800" dirty="0">
                <a:solidFill>
                  <a:schemeClr val="tx1"/>
                </a:solidFill>
              </a:rPr>
              <a:t>Dhakshin – CB.SC.U4AIE24313</a:t>
            </a:r>
            <a:endParaRPr lang="en-US" sz="1800" dirty="0"/>
          </a:p>
          <a:p>
            <a:pPr algn="ctr" indent="0" marL="0">
              <a:spcAft>
                <a:spcPts val="200"/>
              </a:spcAft>
              <a:buNone/>
            </a:pPr>
            <a:r>
              <a:rPr lang="en-US" sz="1800" dirty="0">
                <a:solidFill>
                  <a:schemeClr val="tx1"/>
                </a:solidFill>
              </a:rPr>
              <a:t>Naga Shiva – CB.SC.U4AIE24315</a:t>
            </a:r>
            <a:endParaRPr lang="en-US" sz="1800" dirty="0"/>
          </a:p>
          <a:p>
            <a:pPr algn="ctr" indent="0" marL="0">
              <a:spcAft>
                <a:spcPts val="200"/>
              </a:spcAft>
              <a:buNone/>
            </a:pPr>
            <a:r>
              <a:rPr lang="en-US" sz="1800" dirty="0">
                <a:solidFill>
                  <a:schemeClr val="tx1"/>
                </a:solidFill>
              </a:rPr>
              <a:t>Rajashree T – CB.SC.U4AIE24346</a:t>
            </a:r>
            <a:endParaRPr lang="en-US" sz="1800" dirty="0"/>
          </a:p>
          <a:p>
            <a:pPr algn="ctr" indent="0" marL="0">
              <a:spcAft>
                <a:spcPts val="200"/>
              </a:spcAft>
              <a:buNone/>
            </a:pPr>
            <a:r>
              <a:rPr lang="en-US" sz="1800" dirty="0">
                <a:solidFill>
                  <a:schemeClr val="tx1"/>
                </a:solidFill>
              </a:rPr>
              <a:t>Sharvesh – CB.SC.U4AIE24355</a:t>
            </a:r>
            <a:endParaRPr lang="en-US" sz="1800" dirty="0"/>
          </a:p>
        </p:txBody>
      </p:sp>
      <p:sp>
        <p:nvSpPr>
          <p:cNvPr id="4" name="text-2"/>
          <p:cNvSpPr txBox="1"/>
          <p:nvPr/>
        </p:nvSpPr>
        <p:spPr>
          <a:xfrm>
            <a:off x="457200" y="4709160"/>
            <a:ext cx="8229600" cy="365760"/>
          </a:xfrm>
          <a:prstGeom prst="rect">
            <a:avLst/>
          </a:prstGeom>
          <a:noFill/>
          <a:ln/>
        </p:spPr>
        <p:txBody>
          <a:bodyPr wrap="square" lIns="0" tIns="0" rIns="0" bIns="0" rtlCol="0" anchor="ctr"/>
          <a:lstStyle/>
          <a:p>
            <a:pPr algn="ctr" indent="0" marL="0">
              <a:buNone/>
            </a:pPr>
            <a:r>
              <a:rPr lang="en-US" sz="1300" dirty="0">
                <a:solidFill>
                  <a:schemeClr val="tx1"/>
                </a:solidFill>
              </a:rPr>
              <a:t>Amrita School of Artificial Intelligence, Amrita Vishwa Vidyapeetham, Coimbatore</a:t>
            </a:r>
            <a:endParaRPr lang="en-US" sz="1300" dirty="0"/>
          </a:p>
        </p:txBody>
      </p:sp>
      <p:sp>
        <p:nvSpPr>
          <p:cNvPr id="5" name="text-3"/>
          <p:cNvSpPr txBox="1"/>
          <p:nvPr/>
        </p:nvSpPr>
        <p:spPr>
          <a:xfrm>
            <a:off x="914400" y="5440680"/>
            <a:ext cx="7315200" cy="411480"/>
          </a:xfrm>
          <a:prstGeom prst="rect">
            <a:avLst/>
          </a:prstGeom>
          <a:noFill/>
          <a:ln/>
        </p:spPr>
        <p:txBody>
          <a:bodyPr wrap="square" lIns="0" tIns="0" rIns="0" bIns="0" rtlCol="0" anchor="ctr"/>
          <a:lstStyle/>
          <a:p>
            <a:pPr algn="ctr" indent="0" marL="0">
              <a:buNone/>
            </a:pPr>
            <a:r>
              <a:rPr lang="en-US" sz="1800" dirty="0">
                <a:solidFill>
                  <a:schemeClr val="tx1"/>
                </a:solidFill>
              </a:rPr>
              <a:t>October 23, 2026</a:t>
            </a:r>
            <a:endParaRPr lang="en-US" sz="18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Introduction</a:t>
            </a:r>
            <a:endParaRPr lang="en-US" sz="2600" dirty="0"/>
          </a:p>
        </p:txBody>
      </p:sp>
      <p:sp>
        <p:nvSpPr>
          <p:cNvPr id="3" name="bullets-4"/>
          <p:cNvSpPr txBox="1"/>
          <p:nvPr/>
        </p:nvSpPr>
        <p:spPr>
          <a:xfrm>
            <a:off x="502920" y="1005840"/>
            <a:ext cx="8138160" cy="5303520"/>
          </a:xfrm>
          <a:prstGeom prst="rect">
            <a:avLst/>
          </a:prstGeom>
          <a:noFill/>
          <a:ln/>
        </p:spPr>
        <p:txBody>
          <a:bodyPr wrap="square" lIns="0" tIns="0" rIns="0" bIns="0" rtlCol="0" anchor="ctr"/>
          <a:lstStyle/>
          <a:p>
            <a:pPr marL="279400" indent="-279400">
              <a:spcAft>
                <a:spcPts val="1000"/>
              </a:spcAft>
              <a:buClr>
                <a:schemeClr val="accent1"/>
              </a:buClr>
              <a:buSzPct val="100000"/>
              <a:buChar char="●"/>
            </a:pPr>
            <a:r>
              <a:rPr lang="en-US" sz="2000" b="1" dirty="0">
                <a:solidFill>
                  <a:schemeClr val="tx1"/>
                </a:solidFill>
              </a:rPr>
              <a:t>Materials</a:t>
            </a:r>
            <a:r>
              <a:rPr lang="en-US" sz="2000" dirty="0">
                <a:solidFill>
                  <a:schemeClr val="tx1"/>
                </a:solidFill>
              </a:rPr>
              <a:t> form the foundation of modern technologies — batteries, semiconductors, solar cells and electronic devices.</a:t>
            </a:r>
            <a:endParaRPr lang="en-US" sz="2000" dirty="0"/>
          </a:p>
          <a:p>
            <a:pPr marL="279400" indent="-279400">
              <a:spcAft>
                <a:spcPts val="1000"/>
              </a:spcAft>
              <a:buClr>
                <a:schemeClr val="accent1"/>
              </a:buClr>
              <a:buSzPct val="100000"/>
              <a:buChar char="●"/>
            </a:pPr>
            <a:r>
              <a:rPr lang="en-US" sz="2000" dirty="0">
                <a:solidFill>
                  <a:schemeClr val="tx1"/>
                </a:solidFill>
              </a:rPr>
              <a:t>Their </a:t>
            </a:r>
            <a:r>
              <a:rPr lang="en-US" sz="2000" b="1" dirty="0">
                <a:solidFill>
                  <a:schemeClr val="tx1"/>
                </a:solidFill>
              </a:rPr>
              <a:t>composition and crystal structure</a:t>
            </a:r>
            <a:r>
              <a:rPr lang="en-US" sz="2000" dirty="0">
                <a:solidFill>
                  <a:schemeClr val="tx1"/>
                </a:solidFill>
              </a:rPr>
              <a:t> determine the properties that govern performance.</a:t>
            </a:r>
            <a:endParaRPr lang="en-US" sz="2000" dirty="0"/>
          </a:p>
          <a:p>
            <a:pPr marL="279400" indent="-279400">
              <a:spcAft>
                <a:spcPts val="1000"/>
              </a:spcAft>
              <a:buClr>
                <a:schemeClr val="accent1"/>
              </a:buClr>
              <a:buSzPct val="100000"/>
              <a:buChar char="●"/>
            </a:pPr>
            <a:r>
              <a:rPr lang="en-US" sz="2000" dirty="0">
                <a:solidFill>
                  <a:schemeClr val="tx1"/>
                </a:solidFill>
              </a:rPr>
              <a:t>Finding materials with suitable properties is therefore crucial for designing real-world technologies.</a:t>
            </a:r>
            <a:endParaRPr lang="en-US" sz="2000" dirty="0"/>
          </a:p>
          <a:p>
            <a:pPr marL="279400" indent="-279400">
              <a:spcAft>
                <a:spcPts val="1000"/>
              </a:spcAft>
              <a:buClr>
                <a:schemeClr val="accent1"/>
              </a:buClr>
              <a:buSzPct val="100000"/>
              <a:buChar char="●"/>
            </a:pPr>
            <a:r>
              <a:rPr lang="en-US" sz="2000" dirty="0">
                <a:solidFill>
                  <a:schemeClr val="tx1"/>
                </a:solidFill>
              </a:rPr>
              <a:t>The search space is enormous — the Materials Project indexes </a:t>
            </a:r>
            <a:r>
              <a:rPr lang="en-US" sz="2000" b="1" dirty="0">
                <a:solidFill>
                  <a:schemeClr val="tx1"/>
                </a:solidFill>
              </a:rPr>
              <a:t>154,377</a:t>
            </a:r>
            <a:r>
              <a:rPr lang="en-US" sz="2000" dirty="0">
                <a:solidFill>
                  <a:schemeClr val="tx1"/>
                </a:solidFill>
              </a:rPr>
              <a:t> inorganic materials.</a:t>
            </a:r>
            <a:endParaRPr lang="en-US" sz="2000" dirty="0"/>
          </a:p>
          <a:p>
            <a:pPr marL="279400" indent="-279400">
              <a:spcAft>
                <a:spcPts val="1000"/>
              </a:spcAft>
              <a:buClr>
                <a:schemeClr val="accent1"/>
              </a:buClr>
              <a:buSzPct val="100000"/>
              <a:buChar char="●"/>
            </a:pPr>
            <a:r>
              <a:rPr lang="en-US" sz="2000" dirty="0">
                <a:solidFill>
                  <a:schemeClr val="tx1"/>
                </a:solidFill>
              </a:rPr>
              <a:t>Materials, properties, structures and applications are deeply </a:t>
            </a:r>
            <a:r>
              <a:rPr lang="en-US" sz="2000" b="1" dirty="0">
                <a:solidFill>
                  <a:schemeClr val="tx1"/>
                </a:solidFill>
              </a:rPr>
              <a:t>interrelated</a:t>
            </a:r>
            <a:r>
              <a:rPr lang="en-US" sz="2000" dirty="0">
                <a:solidFill>
                  <a:schemeClr val="tx1"/>
                </a:solidFill>
              </a:rPr>
              <a:t>, yet current tools store them as isolated rows in a table.</a:t>
            </a:r>
            <a:endParaRPr lang="en-US" sz="20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Problem Statement</a:t>
            </a:r>
            <a:endParaRPr lang="en-US" sz="2600" dirty="0"/>
          </a:p>
        </p:txBody>
      </p:sp>
      <p:sp>
        <p:nvSpPr>
          <p:cNvPr id="3" name="bullets-5"/>
          <p:cNvSpPr txBox="1"/>
          <p:nvPr/>
        </p:nvSpPr>
        <p:spPr>
          <a:xfrm>
            <a:off x="502920" y="914400"/>
            <a:ext cx="8138160" cy="5486400"/>
          </a:xfrm>
          <a:prstGeom prst="rect">
            <a:avLst/>
          </a:prstGeom>
          <a:noFill/>
          <a:ln/>
        </p:spPr>
        <p:txBody>
          <a:bodyPr wrap="square" lIns="0" tIns="0" rIns="0" bIns="0" rtlCol="0" anchor="ctr"/>
          <a:lstStyle/>
          <a:p>
            <a:pPr marL="265430" indent="-265430">
              <a:spcAft>
                <a:spcPts val="700"/>
              </a:spcAft>
              <a:buClr>
                <a:schemeClr val="accent1"/>
              </a:buClr>
              <a:buSzPct val="100000"/>
              <a:buChar char="●"/>
            </a:pPr>
            <a:r>
              <a:rPr lang="en-US" sz="1900" dirty="0">
                <a:solidFill>
                  <a:schemeClr val="tx1"/>
                </a:solidFill>
              </a:rPr>
              <a:t>Existing material search tools return </a:t>
            </a:r>
            <a:r>
              <a:rPr lang="en-US" sz="1900" b="1" dirty="0">
                <a:solidFill>
                  <a:schemeClr val="tx1"/>
                </a:solidFill>
              </a:rPr>
              <a:t>raw data</a:t>
            </a:r>
            <a:r>
              <a:rPr lang="en-US" sz="1900" dirty="0">
                <a:solidFill>
                  <a:schemeClr val="tx1"/>
                </a:solidFill>
              </a:rPr>
              <a:t> or </a:t>
            </a:r>
            <a:r>
              <a:rPr lang="en-US" sz="1900" b="1" dirty="0">
                <a:solidFill>
                  <a:schemeClr val="tx1"/>
                </a:solidFill>
              </a:rPr>
              <a:t>text-similarity matches</a:t>
            </a:r>
            <a:r>
              <a:rPr lang="en-US" sz="1900" dirty="0">
                <a:solidFill>
                  <a:schemeClr val="tx1"/>
                </a:solidFill>
              </a:rPr>
              <a:t>.</a:t>
            </a:r>
            <a:endParaRPr lang="en-US" sz="1900" dirty="0"/>
          </a:p>
          <a:p>
            <a:pPr marL="265430" indent="-265430">
              <a:spcAft>
                <a:spcPts val="700"/>
              </a:spcAft>
              <a:buClr>
                <a:schemeClr val="accent1"/>
              </a:buClr>
              <a:buSzPct val="100000"/>
              <a:buChar char="●"/>
            </a:pPr>
            <a:r>
              <a:rPr lang="en-US" sz="1900" dirty="0">
                <a:solidFill>
                  <a:schemeClr val="tx1"/>
                </a:solidFill>
              </a:rPr>
              <a:t>They do not reason about the real relationships between </a:t>
            </a:r>
            <a:r>
              <a:rPr lang="en-US" sz="1900" b="1" dirty="0">
                <a:solidFill>
                  <a:schemeClr val="tx1"/>
                </a:solidFill>
              </a:rPr>
              <a:t>materials</a:t>
            </a:r>
            <a:r>
              <a:rPr lang="en-US" sz="1900" dirty="0">
                <a:solidFill>
                  <a:schemeClr val="tx1"/>
                </a:solidFill>
              </a:rPr>
              <a:t>, </a:t>
            </a:r>
            <a:r>
              <a:rPr lang="en-US" sz="1900" b="1" dirty="0">
                <a:solidFill>
                  <a:schemeClr val="tx1"/>
                </a:solidFill>
              </a:rPr>
              <a:t>properties</a:t>
            </a:r>
            <a:r>
              <a:rPr lang="en-US" sz="1900" dirty="0">
                <a:solidFill>
                  <a:schemeClr val="tx1"/>
                </a:solidFill>
              </a:rPr>
              <a:t>, and </a:t>
            </a:r>
            <a:r>
              <a:rPr lang="en-US" sz="1900" b="1" dirty="0">
                <a:solidFill>
                  <a:schemeClr val="tx1"/>
                </a:solidFill>
              </a:rPr>
              <a:t>applications</a:t>
            </a:r>
            <a:r>
              <a:rPr lang="en-US" sz="1900" dirty="0">
                <a:solidFill>
                  <a:schemeClr val="tx1"/>
                </a:solidFill>
              </a:rPr>
              <a:t>.</a:t>
            </a:r>
            <a:endParaRPr lang="en-US" sz="1900" dirty="0"/>
          </a:p>
          <a:p>
            <a:pPr marL="265430" indent="-265430">
              <a:spcAft>
                <a:spcPts val="700"/>
              </a:spcAft>
              <a:buClr>
                <a:schemeClr val="accent1"/>
              </a:buClr>
              <a:buSzPct val="100000"/>
              <a:buChar char="●"/>
            </a:pPr>
            <a:r>
              <a:rPr lang="en-US" sz="1900" dirty="0">
                <a:solidFill>
                  <a:schemeClr val="tx1"/>
                </a:solidFill>
              </a:rPr>
              <a:t>Recommendations, when produced, are </a:t>
            </a:r>
            <a:r>
              <a:rPr lang="en-US" sz="1900" b="1" dirty="0">
                <a:solidFill>
                  <a:schemeClr val="tx1"/>
                </a:solidFill>
              </a:rPr>
              <a:t>not traceable</a:t>
            </a:r>
            <a:r>
              <a:rPr lang="en-US" sz="1900" dirty="0">
                <a:solidFill>
                  <a:schemeClr val="tx1"/>
                </a:solidFill>
              </a:rPr>
              <a:t> to any underlying evidence.</a:t>
            </a:r>
            <a:endParaRPr lang="en-US" sz="1900" dirty="0"/>
          </a:p>
          <a:p>
            <a:pPr marL="265430" indent="-265430">
              <a:spcAft>
                <a:spcPts val="700"/>
              </a:spcAft>
              <a:buClr>
                <a:schemeClr val="accent1"/>
              </a:buClr>
              <a:buSzPct val="100000"/>
              <a:buChar char="●"/>
            </a:pPr>
            <a:r>
              <a:rPr lang="en-US" sz="1900" b="1" dirty="0">
                <a:solidFill>
                  <a:schemeClr val="tx1"/>
                </a:solidFill>
              </a:rPr>
              <a:t>Consequences:</a:t>
            </a:r>
            <a:endParaRPr lang="en-US" sz="1900" dirty="0"/>
          </a:p>
          <a:p>
            <a:pPr lvl="1" marL="458470" indent="-229235">
              <a:spcAft>
                <a:spcPts val="700"/>
              </a:spcAft>
              <a:buClr>
                <a:schemeClr val="accent1"/>
              </a:buClr>
              <a:buSzPct val="100000"/>
              <a:buChar char="●"/>
            </a:pPr>
            <a:r>
              <a:rPr lang="en-US" sz="1700" dirty="0">
                <a:solidFill>
                  <a:schemeClr val="tx1"/>
                </a:solidFill>
              </a:rPr>
              <a:t>Researchers must manually cross-reference multiple databases.</a:t>
            </a:r>
            <a:endParaRPr lang="en-US" sz="1900" dirty="0"/>
          </a:p>
          <a:p>
            <a:pPr lvl="1" marL="458470" indent="-229235">
              <a:spcAft>
                <a:spcPts val="700"/>
              </a:spcAft>
              <a:buClr>
                <a:schemeClr val="accent1"/>
              </a:buClr>
              <a:buSzPct val="100000"/>
              <a:buChar char="●"/>
            </a:pPr>
            <a:r>
              <a:rPr lang="en-US" sz="1700" dirty="0">
                <a:solidFill>
                  <a:schemeClr val="tx1"/>
                </a:solidFill>
              </a:rPr>
              <a:t>LLM-based answers risk hallucinating unsupported material claims.</a:t>
            </a:r>
            <a:endParaRPr lang="en-US" sz="1900" dirty="0"/>
          </a:p>
          <a:p>
            <a:pPr lvl="1" marL="458470" indent="-229235">
              <a:spcAft>
                <a:spcPts val="700"/>
              </a:spcAft>
              <a:buClr>
                <a:schemeClr val="accent1"/>
              </a:buClr>
              <a:buSzPct val="100000"/>
              <a:buChar char="●"/>
            </a:pPr>
            <a:r>
              <a:rPr lang="en-US" sz="1700" dirty="0">
                <a:solidFill>
                  <a:schemeClr val="tx1"/>
                </a:solidFill>
              </a:rPr>
              <a:t>No audit trail from a recommendation back to the source record.</a:t>
            </a:r>
            <a:endParaRPr lang="en-US" sz="1900" dirty="0"/>
          </a:p>
          <a:p>
            <a:pPr marL="265430" indent="-265430">
              <a:spcAft>
                <a:spcPts val="700"/>
              </a:spcAft>
              <a:buClr>
                <a:schemeClr val="accent1"/>
              </a:buClr>
              <a:buSzPct val="100000"/>
              <a:buChar char="●"/>
            </a:pPr>
            <a:r>
              <a:rPr lang="en-US" sz="1900" b="1" dirty="0">
                <a:solidFill>
                  <a:schemeClr val="tx1"/>
                </a:solidFill>
              </a:rPr>
              <a:t>This project</a:t>
            </a:r>
            <a:r>
              <a:rPr lang="en-US" sz="1900" dirty="0">
                <a:solidFill>
                  <a:schemeClr val="tx1"/>
                </a:solidFill>
              </a:rPr>
              <a:t> builds a materials knowledge graph and a GraphRAG-based retrieval system that answers natural-language queries with </a:t>
            </a:r>
            <a:r>
              <a:rPr lang="en-US" sz="1900" b="1" dirty="0">
                <a:solidFill>
                  <a:schemeClr val="tx1"/>
                </a:solidFill>
              </a:rPr>
              <a:t>explainable, evidence-traceable</a:t>
            </a:r>
            <a:r>
              <a:rPr lang="en-US" sz="1900" dirty="0">
                <a:solidFill>
                  <a:schemeClr val="tx1"/>
                </a:solidFill>
              </a:rPr>
              <a:t> recommendations.</a:t>
            </a:r>
            <a:endParaRPr lang="en-US" sz="19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Objectives</a:t>
            </a:r>
            <a:endParaRPr lang="en-US" sz="2600" dirty="0"/>
          </a:p>
        </p:txBody>
      </p:sp>
      <p:sp>
        <p:nvSpPr>
          <p:cNvPr id="3" name="bullets-6"/>
          <p:cNvSpPr txBox="1"/>
          <p:nvPr/>
        </p:nvSpPr>
        <p:spPr>
          <a:xfrm>
            <a:off x="502920" y="914400"/>
            <a:ext cx="8138160" cy="5486400"/>
          </a:xfrm>
          <a:prstGeom prst="rect">
            <a:avLst/>
          </a:prstGeom>
          <a:noFill/>
          <a:ln/>
        </p:spPr>
        <p:txBody>
          <a:bodyPr wrap="square" lIns="0" tIns="0" rIns="0" bIns="0" rtlCol="0" anchor="ctr"/>
          <a:lstStyle/>
          <a:p>
            <a:pPr marL="251460" indent="-251460">
              <a:spcAft>
                <a:spcPts val="900"/>
              </a:spcAft>
              <a:buClr>
                <a:schemeClr val="accent1"/>
              </a:buClr>
              <a:buSzPct val="100000"/>
              <a:buChar char="●"/>
            </a:pPr>
            <a:r>
              <a:rPr lang="en-US" sz="1800" b="1" dirty="0">
                <a:solidFill>
                  <a:schemeClr val="tx1"/>
                </a:solidFill>
              </a:rPr>
              <a:t>Build (Phase 1):</a:t>
            </a:r>
            <a:r>
              <a:rPr lang="en-US" sz="1800" dirty="0">
                <a:solidFill>
                  <a:schemeClr val="tx1"/>
                </a:solidFill>
              </a:rPr>
              <a:t> construct a Materials Knowledge Graph from real Materials Project data using deterministic, rule-based classification — fully auditable, zero LLM calls.</a:t>
            </a:r>
            <a:endParaRPr lang="en-US" sz="1800" dirty="0"/>
          </a:p>
          <a:p>
            <a:pPr marL="251460" indent="-251460">
              <a:spcAft>
                <a:spcPts val="900"/>
              </a:spcAft>
              <a:buClr>
                <a:schemeClr val="accent1"/>
              </a:buClr>
              <a:buSzPct val="100000"/>
              <a:buChar char="●"/>
            </a:pPr>
            <a:r>
              <a:rPr lang="en-US" sz="1800" b="1" dirty="0">
                <a:solidFill>
                  <a:schemeClr val="tx1"/>
                </a:solidFill>
              </a:rPr>
              <a:t>Retrieve (Phase 2):</a:t>
            </a:r>
            <a:r>
              <a:rPr lang="en-US" sz="1800" dirty="0">
                <a:solidFill>
                  <a:schemeClr val="tx1"/>
                </a:solidFill>
              </a:rPr>
              <a:t> implement GraphRAG relationship-aware retrieval — parse a natural-language question into structured constraints and traverse the graph.</a:t>
            </a:r>
            <a:endParaRPr lang="en-US" sz="1800" dirty="0"/>
          </a:p>
          <a:p>
            <a:pPr marL="251460" indent="-251460">
              <a:spcAft>
                <a:spcPts val="900"/>
              </a:spcAft>
              <a:buClr>
                <a:schemeClr val="accent1"/>
              </a:buClr>
              <a:buSzPct val="100000"/>
              <a:buChar char="●"/>
            </a:pPr>
            <a:r>
              <a:rPr lang="en-US" sz="1800" b="1" dirty="0">
                <a:solidFill>
                  <a:schemeClr val="tx1"/>
                </a:solidFill>
              </a:rPr>
              <a:t>Explain (Phase 2):</a:t>
            </a:r>
            <a:r>
              <a:rPr lang="en-US" sz="1800" dirty="0">
                <a:solidFill>
                  <a:schemeClr val="tx1"/>
                </a:solidFill>
              </a:rPr>
              <a:t> generate recommendations grounded only in retrieved graph evidence — every claim traceable to a specific edge or record.</a:t>
            </a:r>
            <a:endParaRPr lang="en-US" sz="1800" dirty="0"/>
          </a:p>
          <a:p>
            <a:pPr marL="251460" indent="-251460">
              <a:spcAft>
                <a:spcPts val="900"/>
              </a:spcAft>
              <a:buClr>
                <a:schemeClr val="accent1"/>
              </a:buClr>
              <a:buSzPct val="100000"/>
              <a:buChar char="●"/>
            </a:pPr>
            <a:r>
              <a:rPr lang="en-US" sz="1800" b="1" dirty="0">
                <a:solidFill>
                  <a:schemeClr val="tx1"/>
                </a:solidFill>
              </a:rPr>
              <a:t>Encode (Phase 3):</a:t>
            </a:r>
            <a:r>
              <a:rPr lang="en-US" sz="1800" dirty="0">
                <a:solidFill>
                  <a:schemeClr val="tx1"/>
                </a:solidFill>
              </a:rPr>
              <a:t> integrate CGCNN crystal-structure embeddings for structure-aware retrieval and elemental substitutability.</a:t>
            </a:r>
            <a:endParaRPr lang="en-US" sz="1800" dirty="0"/>
          </a:p>
          <a:p>
            <a:pPr marL="251460" indent="-251460">
              <a:spcAft>
                <a:spcPts val="900"/>
              </a:spcAft>
              <a:buClr>
                <a:schemeClr val="accent1"/>
              </a:buClr>
              <a:buSzPct val="100000"/>
              <a:buChar char="●"/>
            </a:pPr>
            <a:r>
              <a:rPr lang="en-US" sz="1800" b="1" dirty="0">
                <a:solidFill>
                  <a:schemeClr val="tx1"/>
                </a:solidFill>
              </a:rPr>
              <a:t>Scale:</a:t>
            </a:r>
            <a:r>
              <a:rPr lang="en-US" sz="1800" dirty="0">
                <a:solidFill>
                  <a:schemeClr val="tx1"/>
                </a:solidFill>
              </a:rPr>
              <a:t> migrate to Neo4j and expose the system through a backend API and visualization dashboard.</a:t>
            </a:r>
            <a:endParaRPr lang="en-US" sz="18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Literature Review</a:t>
            </a:r>
            <a:endParaRPr lang="en-US" sz="2600" dirty="0"/>
          </a:p>
        </p:txBody>
      </p:sp>
      <p:graphicFrame>
        <p:nvGraphicFramePr>
          <p:cNvPr id="6" name="table-7"/>
          <p:cNvGraphicFramePr>
            <a:graphicFrameLocks noGrp="1"/>
          </p:cNvGraphicFramePr>
          <p:nvPr>
            <p:extLst>
              <p:ext uri="{D42A27DB-BD31-4B8C-83A1-F6EECF244321}">
                <p14:modId xmlns:p14="http://schemas.microsoft.com/office/powerpoint/2010/main" val="1579011935"/>
              </p:ext>
            </p:extLst>
          </p:nvPr>
        </p:nvGraphicFramePr>
        <p:xfrm>
          <a:off x="402336" y="1097280"/>
          <a:ext cx="8339328" cy="914400"/>
        </p:xfrm>
        <a:graphic>
          <a:graphicData uri="http://schemas.openxmlformats.org/drawingml/2006/table">
            <a:tbl>
              <a:tblPr/>
              <a:tblGrid>
                <a:gridCol w="292608"/>
                <a:gridCol w="502920"/>
                <a:gridCol w="2148840"/>
                <a:gridCol w="1783080"/>
                <a:gridCol w="1783080"/>
                <a:gridCol w="1828800"/>
              </a:tblGrid>
              <a:tr h="0">
                <a:tc>
                  <a:txBody>
                    <a:bodyPr/>
                    <a:lstStyle/>
                    <a:p>
                      <a:pPr indent="0" marL="0">
                        <a:buNone/>
                      </a:pPr>
                      <a:r>
                        <a:rPr lang="en-US" sz="1350" b="1" dirty="0">
                          <a:solidFill>
                            <a:schemeClr val="tx1"/>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Year</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Title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Technique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Inference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Limitations</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r>
              <a:tr h="0">
                <a:tc>
                  <a:txBody>
                    <a:bodyPr/>
                    <a:lstStyle/>
                    <a:p>
                      <a:pPr indent="0" marL="0">
                        <a:buNone/>
                      </a:pPr>
                      <a:r>
                        <a:rPr lang="en-US" sz="1350" dirty="0">
                          <a:solidFill>
                            <a:schemeClr val="tx1"/>
                          </a:solidFill>
                          <a:latin typeface="Arial" pitchFamily="34" charset="0"/>
                          <a:ea typeface="Arial" pitchFamily="34" charset="-122"/>
                          <a:cs typeface="Arial" pitchFamily="34" charset="-120"/>
                        </a:rPr>
                        <a:t>1</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2024</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LLaMP: Large Language Model Made Powerful for High Fidelity Materials Knowledge Retrieval</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Multi agent LLM system querying trusted scientific databases</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Retrieves materials knowledge and generates grounded responses</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Document retrieval only; no graph based reasoning</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0">
                <a:tc>
                  <a:txBody>
                    <a:bodyPr/>
                    <a:lstStyle/>
                    <a:p>
                      <a:pPr indent="0" marL="0">
                        <a:buNone/>
                      </a:pPr>
                      <a:r>
                        <a:rPr lang="en-US" sz="1350" dirty="0">
                          <a:solidFill>
                            <a:schemeClr val="tx1"/>
                          </a:solidFill>
                          <a:latin typeface="Arial" pitchFamily="34" charset="0"/>
                          <a:ea typeface="Arial" pitchFamily="34" charset="-122"/>
                          <a:cs typeface="Arial" pitchFamily="34" charset="-120"/>
                        </a:rPr>
                        <a:t>2</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2024</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HoneyComb: A Flexible LLM Based Agent System for Materials Science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Extensible LLM agent framework integrating scientific tools</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Flexible tool-augmented materials research assistant</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No explicit knowledge graph; no relationship aware retrieval</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0">
                <a:tc>
                  <a:txBody>
                    <a:bodyPr/>
                    <a:lstStyle/>
                    <a:p>
                      <a:pPr indent="0" marL="0">
                        <a:buNone/>
                      </a:pPr>
                      <a:r>
                        <a:rPr lang="en-US" sz="1350" dirty="0">
                          <a:solidFill>
                            <a:schemeClr val="tx1"/>
                          </a:solidFill>
                          <a:latin typeface="Arial" pitchFamily="34" charset="0"/>
                          <a:ea typeface="Arial" pitchFamily="34" charset="-122"/>
                          <a:cs typeface="Arial" pitchFamily="34" charset="-120"/>
                        </a:rPr>
                        <a:t>3</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2024</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LLaMat: Foundational Large Language Models for Materials Research</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Materials specific foundation model trained on literature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Strong domain specific language understanding</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Knowledge is static; no structured graph reasoning</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0">
                <a:tc>
                  <a:txBody>
                    <a:bodyPr/>
                    <a:lstStyle/>
                    <a:p>
                      <a:pPr indent="0" marL="0">
                        <a:buNone/>
                      </a:pPr>
                      <a:r>
                        <a:rPr lang="en-US" sz="1350" dirty="0">
                          <a:solidFill>
                            <a:schemeClr val="tx1"/>
                          </a:solidFill>
                          <a:latin typeface="Arial" pitchFamily="34" charset="0"/>
                          <a:ea typeface="Arial" pitchFamily="34" charset="-122"/>
                          <a:cs typeface="Arial" pitchFamily="34" charset="-120"/>
                        </a:rPr>
                        <a:t>4</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2024</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From Local to Global: A Graph RAG Approach to Query Focused Summarization</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Entity extraction, graph construction, multi hop retrieval</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Graph structure improves multi hop reasoning over text</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50" dirty="0">
                          <a:solidFill>
                            <a:schemeClr val="tx1"/>
                          </a:solidFill>
                          <a:latin typeface="Arial" pitchFamily="34" charset="0"/>
                          <a:ea typeface="Arial" pitchFamily="34" charset="-122"/>
                          <a:cs typeface="Arial" pitchFamily="34" charset="-120"/>
                        </a:rPr>
                        <a:t>Generic framework; not designed for materials science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Literature Review (Cont.)</a:t>
            </a:r>
            <a:endParaRPr lang="en-US" sz="2600" dirty="0"/>
          </a:p>
        </p:txBody>
      </p:sp>
      <p:graphicFrame>
        <p:nvGraphicFramePr>
          <p:cNvPr id="7" name="table-8"/>
          <p:cNvGraphicFramePr>
            <a:graphicFrameLocks noGrp="1"/>
          </p:cNvGraphicFramePr>
          <p:nvPr>
            <p:extLst>
              <p:ext uri="{D42A27DB-BD31-4B8C-83A1-F6EECF244321}">
                <p14:modId xmlns:p14="http://schemas.microsoft.com/office/powerpoint/2010/main" val="1579011935"/>
              </p:ext>
            </p:extLst>
          </p:nvPr>
        </p:nvGraphicFramePr>
        <p:xfrm>
          <a:off x="402336" y="960120"/>
          <a:ext cx="8339328" cy="914400"/>
        </p:xfrm>
        <a:graphic>
          <a:graphicData uri="http://schemas.openxmlformats.org/drawingml/2006/table">
            <a:tbl>
              <a:tblPr/>
              <a:tblGrid>
                <a:gridCol w="292608"/>
                <a:gridCol w="502920"/>
                <a:gridCol w="2148840"/>
                <a:gridCol w="1783080"/>
                <a:gridCol w="1783080"/>
                <a:gridCol w="1828800"/>
              </a:tblGrid>
              <a:tr h="0">
                <a:tc>
                  <a:txBody>
                    <a:bodyPr/>
                    <a:lstStyle/>
                    <a:p>
                      <a:pPr indent="0" marL="0">
                        <a:buNone/>
                      </a:pPr>
                      <a:r>
                        <a:rPr lang="en-US" sz="1350" b="1" dirty="0">
                          <a:solidFill>
                            <a:schemeClr val="tx1"/>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Year</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Title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Technique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Inference</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350" b="1" dirty="0">
                          <a:solidFill>
                            <a:schemeClr val="tx1"/>
                          </a:solidFill>
                          <a:latin typeface="Arial" pitchFamily="34" charset="0"/>
                          <a:ea typeface="Arial" pitchFamily="34" charset="-122"/>
                          <a:cs typeface="Arial" pitchFamily="34" charset="-120"/>
                        </a:rPr>
                        <a:t>Limitations</a:t>
                      </a:r>
                      <a:endParaRPr lang="en-US" sz="13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2018</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Crystal Graph Convolutional Neural Networks (CGCNN)</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Atoms as nodes, bonds as edges; graph convolution + pooling</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Accurate property prediction from crystal structure</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Prediction only; no retrieval or reasoning</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0">
                <a:tc>
                  <a:txBody>
                    <a:bodyPr/>
                    <a:lstStyle/>
                    <a:p>
                      <a:pPr indent="0" marL="0">
                        <a:buNone/>
                      </a:pPr>
                      <a:r>
                        <a:rPr lang="en-US" sz="1300" dirty="0">
                          <a:solidFill>
                            <a:schemeClr val="tx1"/>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2021</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ALIGNN: Atomistic Line Graph Neural Network</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Line graph encoding of bond angles</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Improved property prediction over CGCNN</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No integration with knowledge graphs or RAG</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0">
                <a:tc>
                  <a:txBody>
                    <a:bodyPr/>
                    <a:lstStyle/>
                    <a:p>
                      <a:pPr indent="0" marL="0">
                        <a:buNone/>
                      </a:pPr>
                      <a:r>
                        <a:rPr lang="en-US" sz="1300" dirty="0">
                          <a:solidFill>
                            <a:schemeClr val="tx1"/>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2013</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Materials Project: A materials genome approach</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Open DFT computed database, 154,377 materials</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Large-scale structured property data freely accessible</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Raw database; no reasoning or recommendation layer</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0">
                <a:tc gridSpan="2">
                  <a:txBody>
                    <a:bodyPr/>
                    <a:lstStyle/>
                    <a:p>
                      <a:pPr indent="0" marL="0">
                        <a:buNone/>
                      </a:pPr>
                      <a:r>
                        <a:rPr lang="en-US" sz="1300" b="1" dirty="0">
                          <a:solidFill>
                            <a:schemeClr val="tx1"/>
                          </a:solidFill>
                          <a:latin typeface="Arial" pitchFamily="34" charset="0"/>
                          <a:ea typeface="Arial" pitchFamily="34" charset="-122"/>
                          <a:cs typeface="Arial" pitchFamily="34" charset="-120"/>
                        </a:rPr>
                        <a:t>Ours</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accent1">
                        <a:alpha val="20000"/>
                      </a:schemeClr>
                    </a:solidFill>
                  </a:tcPr>
                </a:tc>
                <a:tc hMerge="1">
                  <a:tcPr/>
                </a:tc>
                <a:tc>
                  <a:txBody>
                    <a:bodyPr/>
                    <a:lstStyle/>
                    <a:p>
                      <a:pPr indent="0" marL="0">
                        <a:buNone/>
                      </a:pPr>
                      <a:r>
                        <a:rPr lang="en-US" sz="1300" b="1" dirty="0">
                          <a:solidFill>
                            <a:schemeClr val="tx1"/>
                          </a:solidFill>
                          <a:latin typeface="Arial" pitchFamily="34" charset="0"/>
                          <a:ea typeface="Arial" pitchFamily="34" charset="-122"/>
                          <a:cs typeface="Arial" pitchFamily="34" charset="-120"/>
                        </a:rPr>
                        <a:t>MatGraphRAG</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accent1">
                        <a:alpha val="20000"/>
                      </a:schemeClr>
                    </a:solidFill>
                  </a:tcPr>
                </a:tc>
                <a:tc>
                  <a:txBody>
                    <a:bodyPr/>
                    <a:lstStyle/>
                    <a:p>
                      <a:pPr indent="0" marL="0">
                        <a:buNone/>
                      </a:pPr>
                      <a:r>
                        <a:rPr lang="en-US" sz="1300" b="1" dirty="0">
                          <a:solidFill>
                            <a:schemeClr val="tx1"/>
                          </a:solidFill>
                          <a:latin typeface="Arial" pitchFamily="34" charset="0"/>
                          <a:ea typeface="Arial" pitchFamily="34" charset="-122"/>
                          <a:cs typeface="Arial" pitchFamily="34" charset="-120"/>
                        </a:rPr>
                        <a:t>Materials KG + GraphRAG retrieval + CGCNN embeddings</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accent1">
                        <a:alpha val="20000"/>
                      </a:schemeClr>
                    </a:solidFill>
                  </a:tcPr>
                </a:tc>
                <a:tc>
                  <a:txBody>
                    <a:bodyPr/>
                    <a:lstStyle/>
                    <a:p>
                      <a:pPr indent="0" marL="0">
                        <a:buNone/>
                      </a:pPr>
                      <a:r>
                        <a:rPr lang="en-US" sz="1300" b="1" dirty="0">
                          <a:solidFill>
                            <a:schemeClr val="tx1"/>
                          </a:solidFill>
                          <a:latin typeface="Arial" pitchFamily="34" charset="0"/>
                          <a:ea typeface="Arial" pitchFamily="34" charset="-122"/>
                          <a:cs typeface="Arial" pitchFamily="34" charset="-120"/>
                        </a:rPr>
                        <a:t>Explainable, evidence-traceable recommendation</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accent1">
                        <a:alpha val="20000"/>
                      </a:schemeClr>
                    </a:solidFill>
                  </a:tcPr>
                </a:tc>
                <a:tc>
                  <a:txBody>
                    <a:bodyPr/>
                    <a:lstStyle/>
                    <a:p>
                      <a:pPr indent="0" marL="0">
                        <a:buNone/>
                      </a:pPr>
                      <a:r>
                        <a:rPr lang="en-US" sz="1300" b="1"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accent1">
                        <a:alpha val="20000"/>
                      </a:schemeClr>
                    </a:solidFill>
                  </a:tcPr>
                </a:tc>
              </a:tr>
            </a:tbl>
          </a:graphicData>
        </a:graphic>
      </p:graphicFrame>
      <p:sp>
        <p:nvSpPr>
          <p:cNvPr id="4" name="block-head-9"/>
          <p:cNvSpPr/>
          <p:nvPr/>
        </p:nvSpPr>
        <p:spPr>
          <a:xfrm>
            <a:off x="402336" y="5349240"/>
            <a:ext cx="8339328" cy="347472"/>
          </a:xfrm>
          <a:prstGeom prst="rect">
            <a:avLst/>
          </a:prstGeom>
          <a:solidFill>
            <a:schemeClr val="accent1"/>
          </a:solidFill>
          <a:ln/>
        </p:spPr>
      </p:sp>
      <p:sp>
        <p:nvSpPr>
          <p:cNvPr id="5" name="block-body-10"/>
          <p:cNvSpPr/>
          <p:nvPr/>
        </p:nvSpPr>
        <p:spPr>
          <a:xfrm>
            <a:off x="402336" y="5696712"/>
            <a:ext cx="8339328" cy="704088"/>
          </a:xfrm>
          <a:prstGeom prst="rect">
            <a:avLst/>
          </a:prstGeom>
          <a:solidFill>
            <a:schemeClr val="bg2"/>
          </a:solidFill>
          <a:ln/>
        </p:spPr>
      </p:sp>
      <p:sp>
        <p:nvSpPr>
          <p:cNvPr id="6" name="text-11"/>
          <p:cNvSpPr txBox="1"/>
          <p:nvPr/>
        </p:nvSpPr>
        <p:spPr>
          <a:xfrm>
            <a:off x="512064" y="5349240"/>
            <a:ext cx="8119872" cy="347472"/>
          </a:xfrm>
          <a:prstGeom prst="rect">
            <a:avLst/>
          </a:prstGeom>
          <a:noFill/>
          <a:ln/>
        </p:spPr>
        <p:txBody>
          <a:bodyPr wrap="square" lIns="0" tIns="0" rIns="0" bIns="0" rtlCol="0" anchor="ctr"/>
          <a:lstStyle/>
          <a:p>
            <a:pPr indent="0" marL="0">
              <a:buNone/>
            </a:pPr>
            <a:r>
              <a:rPr lang="en-US" sz="1600" dirty="0">
                <a:solidFill>
                  <a:schemeClr val="bg1"/>
                </a:solidFill>
              </a:rPr>
              <a:t>Research Gap</a:t>
            </a:r>
            <a:endParaRPr lang="en-US" sz="1600" dirty="0"/>
          </a:p>
        </p:txBody>
      </p:sp>
      <p:sp>
        <p:nvSpPr>
          <p:cNvPr id="7" name="text-12"/>
          <p:cNvSpPr txBox="1"/>
          <p:nvPr/>
        </p:nvSpPr>
        <p:spPr>
          <a:xfrm>
            <a:off x="512064" y="5760720"/>
            <a:ext cx="8119872" cy="594360"/>
          </a:xfrm>
          <a:prstGeom prst="rect">
            <a:avLst/>
          </a:prstGeom>
          <a:noFill/>
          <a:ln/>
        </p:spPr>
        <p:txBody>
          <a:bodyPr wrap="square" lIns="0" tIns="0" rIns="0" bIns="0" rtlCol="0" anchor="t"/>
          <a:lstStyle/>
          <a:p>
            <a:pPr indent="0" marL="0">
              <a:buNone/>
            </a:pPr>
            <a:r>
              <a:rPr lang="en-US" sz="1400" dirty="0">
                <a:solidFill>
                  <a:schemeClr val="tx1"/>
                </a:solidFill>
              </a:rPr>
              <a:t>No prior system combines a </a:t>
            </a:r>
            <a:r>
              <a:rPr lang="en-US" sz="1400" b="1" dirty="0">
                <a:solidFill>
                  <a:schemeClr val="tx1"/>
                </a:solidFill>
              </a:rPr>
              <a:t>materials knowledge graph</a:t>
            </a:r>
            <a:r>
              <a:rPr lang="en-US" sz="1400" dirty="0">
                <a:solidFill>
                  <a:schemeClr val="tx1"/>
                </a:solidFill>
              </a:rPr>
              <a:t>, </a:t>
            </a:r>
            <a:r>
              <a:rPr lang="en-US" sz="1400" b="1" dirty="0">
                <a:solidFill>
                  <a:schemeClr val="tx1"/>
                </a:solidFill>
              </a:rPr>
              <a:t>relationship-aware GraphRAG retrieval</a:t>
            </a:r>
            <a:r>
              <a:rPr lang="en-US" sz="1400" dirty="0">
                <a:solidFill>
                  <a:schemeClr val="tx1"/>
                </a:solidFill>
              </a:rPr>
              <a:t>, and </a:t>
            </a:r>
            <a:r>
              <a:rPr lang="en-US" sz="1400" b="1" dirty="0">
                <a:solidFill>
                  <a:schemeClr val="tx1"/>
                </a:solidFill>
              </a:rPr>
              <a:t>structure-aware CGCNN encoding</a:t>
            </a:r>
            <a:r>
              <a:rPr lang="en-US" sz="1400" dirty="0">
                <a:solidFill>
                  <a:schemeClr val="tx1"/>
                </a:solidFill>
              </a:rPr>
              <a:t> into a single explainable discovery pipeline.</a:t>
            </a:r>
            <a:endParaRPr lang="en-US" sz="14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Research Gap and Novelty</a:t>
            </a:r>
            <a:endParaRPr lang="en-US" sz="2600" dirty="0"/>
          </a:p>
        </p:txBody>
      </p:sp>
      <p:sp>
        <p:nvSpPr>
          <p:cNvPr id="3" name="bullets-13"/>
          <p:cNvSpPr txBox="1"/>
          <p:nvPr/>
        </p:nvSpPr>
        <p:spPr>
          <a:xfrm>
            <a:off x="411480" y="868680"/>
            <a:ext cx="8321040" cy="557784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Research Gap:</a:t>
            </a:r>
            <a:endParaRPr lang="en-US" sz="1600" dirty="0"/>
          </a:p>
          <a:p>
            <a:pPr marL="223520" indent="-223520">
              <a:spcAft>
                <a:spcPts val="400"/>
              </a:spcAft>
              <a:buClr>
                <a:schemeClr val="accent1"/>
              </a:buClr>
              <a:buSzPct val="100000"/>
              <a:buChar char="●"/>
            </a:pPr>
            <a:r>
              <a:rPr lang="en-US" sz="1600" b="1" dirty="0">
                <a:solidFill>
                  <a:schemeClr val="tx1"/>
                </a:solidFill>
              </a:rPr>
              <a:t>Material databases</a:t>
            </a:r>
            <a:r>
              <a:rPr lang="en-US" sz="1600" dirty="0">
                <a:solidFill>
                  <a:schemeClr val="tx1"/>
                </a:solidFill>
              </a:rPr>
              <a:t> make data available, but only as isolated records.</a:t>
            </a:r>
            <a:endParaRPr lang="en-US" sz="1600" dirty="0"/>
          </a:p>
          <a:p>
            <a:pPr marL="223520" indent="-223520">
              <a:spcAft>
                <a:spcPts val="400"/>
              </a:spcAft>
              <a:buClr>
                <a:schemeClr val="accent1"/>
              </a:buClr>
              <a:buSzPct val="100000"/>
              <a:buChar char="●"/>
            </a:pPr>
            <a:r>
              <a:rPr lang="en-US" sz="1600" b="1" dirty="0">
                <a:solidFill>
                  <a:schemeClr val="tx1"/>
                </a:solidFill>
              </a:rPr>
              <a:t>Traditional RAG</a:t>
            </a:r>
            <a:r>
              <a:rPr lang="en-US" sz="1600" dirty="0">
                <a:solidFill>
                  <a:schemeClr val="tx1"/>
                </a:solidFill>
              </a:rPr>
              <a:t> retrieves by text similarity, not by real relationships.</a:t>
            </a:r>
            <a:endParaRPr lang="en-US" sz="1600" dirty="0"/>
          </a:p>
          <a:p>
            <a:pPr marL="223520" indent="-223520">
              <a:spcAft>
                <a:spcPts val="400"/>
              </a:spcAft>
              <a:buClr>
                <a:schemeClr val="accent1"/>
              </a:buClr>
              <a:buSzPct val="100000"/>
              <a:buChar char="●"/>
            </a:pPr>
            <a:r>
              <a:rPr lang="en-US" sz="1600" b="1" dirty="0">
                <a:solidFill>
                  <a:schemeClr val="tx1"/>
                </a:solidFill>
              </a:rPr>
              <a:t>Knowledge graphs</a:t>
            </a:r>
            <a:r>
              <a:rPr lang="en-US" sz="1600" dirty="0">
                <a:solidFill>
                  <a:schemeClr val="tx1"/>
                </a:solidFill>
              </a:rPr>
              <a:t> encode relationships but are not connected to LLM reasoning.</a:t>
            </a:r>
            <a:endParaRPr lang="en-US" sz="1600" dirty="0"/>
          </a:p>
          <a:p>
            <a:pPr marL="223520" indent="-223520">
              <a:spcAft>
                <a:spcPts val="400"/>
              </a:spcAft>
              <a:buClr>
                <a:schemeClr val="accent1"/>
              </a:buClr>
              <a:buSzPct val="100000"/>
              <a:buChar char="●"/>
            </a:pPr>
            <a:r>
              <a:rPr lang="en-US" sz="1600" b="1" dirty="0">
                <a:solidFill>
                  <a:schemeClr val="tx1"/>
                </a:solidFill>
              </a:rPr>
              <a:t>CGCNN / ALIGNN</a:t>
            </a:r>
            <a:r>
              <a:rPr lang="en-US" sz="1600" dirty="0">
                <a:solidFill>
                  <a:schemeClr val="tx1"/>
                </a:solidFill>
              </a:rPr>
              <a:t> use crystal structure, but only for property prediction.</a:t>
            </a:r>
            <a:endParaRPr lang="en-US" sz="1600" dirty="0"/>
          </a:p>
          <a:p>
            <a:pPr indent="0" marL="0">
              <a:spcBef>
                <a:spcPts val="1000"/>
              </a:spcBef>
              <a:spcAft>
                <a:spcPts val="400"/>
              </a:spcAft>
              <a:buNone/>
            </a:pPr>
            <a:r>
              <a:rPr lang="en-US" sz="1600" b="1" dirty="0">
                <a:solidFill>
                  <a:schemeClr val="tx1"/>
                </a:solidFill>
              </a:rPr>
              <a:t>Novelty of This Work:</a:t>
            </a:r>
            <a:endParaRPr lang="en-US" sz="1600" dirty="0"/>
          </a:p>
          <a:p>
            <a:pPr marL="223520" indent="-223520">
              <a:spcAft>
                <a:spcPts val="400"/>
              </a:spcAft>
              <a:buClr>
                <a:schemeClr val="accent1"/>
              </a:buClr>
              <a:buSzPct val="100000"/>
              <a:buChar char="●"/>
            </a:pPr>
            <a:r>
              <a:rPr lang="en-US" sz="1600" dirty="0">
                <a:solidFill>
                  <a:schemeClr val="tx1"/>
                </a:solidFill>
              </a:rPr>
              <a:t>First system integrating a materials knowledge graph + GraphRAG retrieval + CGCNN structural encoding.</a:t>
            </a:r>
            <a:endParaRPr lang="en-US" sz="1600" dirty="0"/>
          </a:p>
          <a:p>
            <a:pPr marL="223520" indent="-223520">
              <a:spcAft>
                <a:spcPts val="400"/>
              </a:spcAft>
              <a:buClr>
                <a:schemeClr val="accent1"/>
              </a:buClr>
              <a:buSzPct val="100000"/>
              <a:buChar char="●"/>
            </a:pPr>
            <a:r>
              <a:rPr lang="en-US" sz="1600" b="1" dirty="0">
                <a:solidFill>
                  <a:schemeClr val="tx1"/>
                </a:solidFill>
              </a:rPr>
              <a:t>Deterministic construction</a:t>
            </a:r>
            <a:r>
              <a:rPr lang="en-US" sz="1600" dirty="0">
                <a:solidFill>
                  <a:schemeClr val="tx1"/>
                </a:solidFill>
              </a:rPr>
              <a:t> — rule-based, zero LLM calls, so every node and edge is auditable and reproducible.</a:t>
            </a:r>
            <a:endParaRPr lang="en-US" sz="1600" dirty="0"/>
          </a:p>
          <a:p>
            <a:pPr marL="223520" indent="-223520">
              <a:spcAft>
                <a:spcPts val="400"/>
              </a:spcAft>
              <a:buClr>
                <a:schemeClr val="accent1"/>
              </a:buClr>
              <a:buSzPct val="100000"/>
              <a:buChar char="●"/>
            </a:pPr>
            <a:r>
              <a:rPr lang="en-US" sz="1600" b="1" dirty="0">
                <a:solidFill>
                  <a:schemeClr val="tx1"/>
                </a:solidFill>
              </a:rPr>
              <a:t>Explainability built into the edge itself</a:t>
            </a:r>
            <a:r>
              <a:rPr lang="en-US" sz="1600" dirty="0">
                <a:solidFill>
                  <a:schemeClr val="tx1"/>
                </a:solidFill>
              </a:rPr>
              <a:t> — each </a:t>
            </a:r>
            <a:r>
              <a:rPr lang="en-US" sz="1600" dirty="0">
                <a:solidFill>
                  <a:schemeClr val="tx1"/>
                </a:solidFill>
                <a:latin typeface="Courier New" pitchFamily="34" charset="0"/>
                <a:ea typeface="Courier New" pitchFamily="34" charset="-122"/>
                <a:cs typeface="Courier New" pitchFamily="34" charset="-120"/>
              </a:rPr>
              <a:t>suitable_for</a:t>
            </a:r>
            <a:r>
              <a:rPr lang="en-US" sz="1600" dirty="0">
                <a:solidFill>
                  <a:schemeClr val="tx1"/>
                </a:solidFill>
              </a:rPr>
              <a:t> edge stores the exact rule text that fired.</a:t>
            </a:r>
            <a:endParaRPr lang="en-US" sz="1600" dirty="0"/>
          </a:p>
          <a:p>
            <a:pPr marL="223520" indent="-223520">
              <a:spcAft>
                <a:spcPts val="400"/>
              </a:spcAft>
              <a:buClr>
                <a:schemeClr val="accent1"/>
              </a:buClr>
              <a:buSzPct val="100000"/>
              <a:buChar char="●"/>
            </a:pPr>
            <a:r>
              <a:rPr lang="en-US" sz="1600" b="1" dirty="0">
                <a:solidFill>
                  <a:schemeClr val="tx1"/>
                </a:solidFill>
              </a:rPr>
              <a:t>Six grouping axes</a:t>
            </a:r>
            <a:r>
              <a:rPr lang="en-US" sz="1600" dirty="0">
                <a:solidFill>
                  <a:schemeClr val="tx1"/>
                </a:solidFill>
              </a:rPr>
              <a:t> (element, chemical system, symmetry, property bucket, oxidation state, formula pattern) so materials relate even with zero shared elements.</a:t>
            </a:r>
            <a:endParaRPr lang="en-US" sz="16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Dataset — Materials Project</a:t>
            </a:r>
            <a:endParaRPr lang="en-US" sz="2600" dirty="0"/>
          </a:p>
        </p:txBody>
      </p:sp>
      <p:sp>
        <p:nvSpPr>
          <p:cNvPr id="3" name="bullets-14"/>
          <p:cNvSpPr txBox="1"/>
          <p:nvPr/>
        </p:nvSpPr>
        <p:spPr>
          <a:xfrm>
            <a:off x="411480" y="868680"/>
            <a:ext cx="8321040" cy="557784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Source:</a:t>
            </a:r>
            <a:r>
              <a:rPr lang="en-US" sz="1600" dirty="0">
                <a:solidFill>
                  <a:schemeClr val="tx1"/>
                </a:solidFill>
              </a:rPr>
              <a:t> Materials Project REST API — computed properties plus human-readable structure descriptions. MP indexes </a:t>
            </a:r>
            <a:r>
              <a:rPr lang="en-US" sz="1600" b="1" dirty="0">
                <a:solidFill>
                  <a:schemeClr val="tx1"/>
                </a:solidFill>
              </a:rPr>
              <a:t>154,377</a:t>
            </a:r>
            <a:r>
              <a:rPr lang="en-US" sz="1600" dirty="0">
                <a:solidFill>
                  <a:schemeClr val="tx1"/>
                </a:solidFill>
              </a:rPr>
              <a:t> materials in total.</a:t>
            </a:r>
            <a:endParaRPr lang="en-US" sz="1600" dirty="0"/>
          </a:p>
          <a:p>
            <a:pPr indent="0" marL="0">
              <a:spcBef>
                <a:spcPts val="1000"/>
              </a:spcBef>
              <a:spcAft>
                <a:spcPts val="400"/>
              </a:spcAft>
              <a:buNone/>
            </a:pPr>
            <a:r>
              <a:rPr lang="en-US" sz="1600" b="1" dirty="0">
                <a:solidFill>
                  <a:schemeClr val="tx1"/>
                </a:solidFill>
              </a:rPr>
              <a:t>Why not the full catalog?</a:t>
            </a:r>
            <a:endParaRPr lang="en-US" sz="1600" dirty="0"/>
          </a:p>
          <a:p>
            <a:pPr marL="223520" indent="-223520">
              <a:spcAft>
                <a:spcPts val="400"/>
              </a:spcAft>
              <a:buClr>
                <a:schemeClr val="accent1"/>
              </a:buClr>
              <a:buSzPct val="100000"/>
              <a:buChar char="●"/>
            </a:pPr>
            <a:r>
              <a:rPr lang="en-US" sz="1600" dirty="0">
                <a:solidFill>
                  <a:schemeClr val="tx1"/>
                </a:solidFill>
              </a:rPr>
              <a:t>Material–material similarity is </a:t>
            </a:r>
            <a:r>
              <a:rPr lang="en-US" sz="1600" b="1" dirty="0">
                <a:solidFill>
                  <a:schemeClr val="tx1"/>
                </a:solidFill>
              </a:rPr>
              <a:t>quadratic</a:t>
            </a:r>
            <a:r>
              <a:rPr lang="en-US" sz="1600" dirty="0">
                <a:solidFill>
                  <a:schemeClr val="tx1"/>
                </a:solidFill>
              </a:rPr>
              <a:t> — 154,377 materials means ∼11.9 billion pairs.</a:t>
            </a:r>
            <a:endParaRPr lang="en-US" sz="1600" dirty="0"/>
          </a:p>
          <a:p>
            <a:pPr marL="223520" indent="-223520">
              <a:spcAft>
                <a:spcPts val="400"/>
              </a:spcAft>
              <a:buClr>
                <a:schemeClr val="accent1"/>
              </a:buClr>
              <a:buSzPct val="100000"/>
              <a:buChar char="●"/>
            </a:pPr>
            <a:r>
              <a:rPr lang="en-US" sz="1600" dirty="0">
                <a:solidFill>
                  <a:schemeClr val="tx1"/>
                </a:solidFill>
              </a:rPr>
              <a:t>An exhaustive pull produces a </a:t>
            </a:r>
            <a:r>
              <a:rPr lang="en-US" sz="1600" b="1" dirty="0">
                <a:solidFill>
                  <a:schemeClr val="tx1"/>
                </a:solidFill>
              </a:rPr>
              <a:t>sparse, disconnected</a:t>
            </a:r>
            <a:r>
              <a:rPr lang="en-US" sz="1600" dirty="0">
                <a:solidFill>
                  <a:schemeClr val="tx1"/>
                </a:solidFill>
              </a:rPr>
              <a:t> graph; Phase 1’s goal is a densely interconnected one.</a:t>
            </a:r>
            <a:endParaRPr lang="en-US" sz="1600" dirty="0"/>
          </a:p>
          <a:p>
            <a:pPr indent="0" marL="0">
              <a:spcBef>
                <a:spcPts val="1000"/>
              </a:spcBef>
              <a:spcAft>
                <a:spcPts val="400"/>
              </a:spcAft>
              <a:buNone/>
            </a:pPr>
            <a:r>
              <a:rPr lang="en-US" sz="1600" b="1" dirty="0">
                <a:solidFill>
                  <a:schemeClr val="tx1"/>
                </a:solidFill>
              </a:rPr>
              <a:t>Sampling — 8 chemistry-driven clusters:</a:t>
            </a:r>
            <a:r>
              <a:rPr lang="en-US" sz="1600" dirty="0">
                <a:solidFill>
                  <a:schemeClr val="tx1"/>
                </a:solidFill>
              </a:rPr>
              <a:t> battery cathodes (oxide, phosphate), semiconductors (III–V, II–VI, group IV), binary oxides, perovskite oxides, magnetic spinel oxides. Stability cutoff E_hull ≤ 0.08 eV/atom; radioactive and synthetic elements excluded.</a:t>
            </a:r>
            <a:endParaRPr lang="en-US" sz="1600" dirty="0"/>
          </a:p>
          <a:p>
            <a:pPr indent="0" marL="0">
              <a:spcBef>
                <a:spcPts val="1000"/>
              </a:spcBef>
              <a:spcAft>
                <a:spcPts val="400"/>
              </a:spcAft>
              <a:buNone/>
            </a:pPr>
            <a:r>
              <a:rPr lang="en-US" sz="1600" b="1" dirty="0">
                <a:solidFill>
                  <a:schemeClr val="tx1"/>
                </a:solidFill>
              </a:rPr>
              <a:t>Result:</a:t>
            </a:r>
            <a:r>
              <a:rPr lang="en-US" sz="1600" dirty="0">
                <a:solidFill>
                  <a:schemeClr val="tx1"/>
                </a:solidFill>
              </a:rPr>
              <a:t> 8 clusters → ∼2,000 raw candidates → </a:t>
            </a:r>
            <a:r>
              <a:rPr lang="en-US" sz="1600" b="1" dirty="0">
                <a:solidFill>
                  <a:schemeClr val="tx1"/>
                </a:solidFill>
              </a:rPr>
              <a:t>794 unique materials</a:t>
            </a:r>
            <a:r>
              <a:rPr lang="en-US" sz="1600" dirty="0">
                <a:solidFill>
                  <a:schemeClr val="tx1"/>
                </a:solidFill>
              </a:rPr>
              <a:t> after deduplication by formula.</a:t>
            </a:r>
            <a:endParaRPr lang="en-US" sz="1600" dirty="0"/>
          </a:p>
          <a:p>
            <a:pPr indent="0" marL="0">
              <a:spcBef>
                <a:spcPts val="1000"/>
              </a:spcBef>
              <a:spcAft>
                <a:spcPts val="400"/>
              </a:spcAft>
              <a:buNone/>
            </a:pPr>
            <a:r>
              <a:rPr lang="en-US" sz="1600" b="1" dirty="0">
                <a:solidFill>
                  <a:schemeClr val="tx1"/>
                </a:solidFill>
              </a:rPr>
              <a:t>Properties:</a:t>
            </a:r>
            <a:r>
              <a:rPr lang="en-US" sz="1600" dirty="0">
                <a:solidFill>
                  <a:schemeClr val="tx1"/>
                </a:solidFill>
              </a:rPr>
              <a:t> band gap, formation energy, energy above hull, density, magnetization and symmetry at 100% coverage; oxidation states 93%; elastic 18%; dielectric 20%.</a:t>
            </a:r>
            <a:endParaRPr lang="en-US" sz="16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Overview</a:t>
            </a:r>
            <a:endParaRPr lang="en-US" sz="2600" dirty="0"/>
          </a:p>
        </p:txBody>
      </p:sp>
      <p:sp>
        <p:nvSpPr>
          <p:cNvPr id="3" name="bullets-15"/>
          <p:cNvSpPr txBox="1"/>
          <p:nvPr/>
        </p:nvSpPr>
        <p:spPr>
          <a:xfrm>
            <a:off x="411480" y="1097280"/>
            <a:ext cx="8321040" cy="2834640"/>
          </a:xfrm>
          <a:prstGeom prst="rect">
            <a:avLst/>
          </a:prstGeom>
          <a:noFill/>
          <a:ln/>
        </p:spPr>
        <p:txBody>
          <a:bodyPr wrap="square" lIns="0" tIns="0" rIns="0" bIns="0" rtlCol="0" anchor="t"/>
          <a:lstStyle/>
          <a:p>
            <a:pPr indent="0" marL="0">
              <a:spcAft>
                <a:spcPts val="500"/>
              </a:spcAft>
              <a:buNone/>
            </a:pPr>
            <a:r>
              <a:rPr lang="en-US" sz="1800" b="1" dirty="0">
                <a:solidFill>
                  <a:schemeClr val="tx1"/>
                </a:solidFill>
              </a:rPr>
              <a:t>Proposed System Architecture:</a:t>
            </a:r>
            <a:endParaRPr lang="en-US" sz="1800" dirty="0"/>
          </a:p>
          <a:p>
            <a:pPr marL="251460" indent="-251460">
              <a:spcAft>
                <a:spcPts val="500"/>
              </a:spcAft>
              <a:buClr>
                <a:schemeClr val="accent1"/>
              </a:buClr>
              <a:buSzPct val="100000"/>
              <a:buChar char="●"/>
            </a:pPr>
            <a:r>
              <a:rPr lang="en-US" sz="1800" b="1" dirty="0">
                <a:solidFill>
                  <a:schemeClr val="tx1"/>
                </a:solidFill>
              </a:rPr>
              <a:t>Materials Project API</a:t>
            </a:r>
            <a:r>
              <a:rPr lang="en-US" sz="1800" dirty="0">
                <a:solidFill>
                  <a:schemeClr val="tx1"/>
                </a:solidFill>
              </a:rPr>
              <a:t> → material properties.</a:t>
            </a:r>
            <a:endParaRPr lang="en-US" sz="1800" dirty="0"/>
          </a:p>
          <a:p>
            <a:pPr marL="251460" indent="-251460">
              <a:spcAft>
                <a:spcPts val="500"/>
              </a:spcAft>
              <a:buClr>
                <a:schemeClr val="accent1"/>
              </a:buClr>
              <a:buSzPct val="100000"/>
              <a:buChar char="●"/>
            </a:pPr>
            <a:r>
              <a:rPr lang="en-US" sz="1800" b="1" dirty="0">
                <a:solidFill>
                  <a:schemeClr val="tx1"/>
                </a:solidFill>
              </a:rPr>
              <a:t>Knowledge graph construction</a:t>
            </a:r>
            <a:r>
              <a:rPr lang="en-US" sz="1800" dirty="0">
                <a:solidFill>
                  <a:schemeClr val="tx1"/>
                </a:solidFill>
              </a:rPr>
              <a:t> — entities and relationships.</a:t>
            </a:r>
            <a:endParaRPr lang="en-US" sz="1800" dirty="0"/>
          </a:p>
          <a:p>
            <a:pPr marL="251460" indent="-251460">
              <a:spcAft>
                <a:spcPts val="500"/>
              </a:spcAft>
              <a:buClr>
                <a:schemeClr val="accent1"/>
              </a:buClr>
              <a:buSzPct val="100000"/>
              <a:buChar char="●"/>
            </a:pPr>
            <a:r>
              <a:rPr lang="en-US" sz="1800" b="1" dirty="0">
                <a:solidFill>
                  <a:schemeClr val="tx1"/>
                </a:solidFill>
              </a:rPr>
              <a:t>GraphRAG retrieval</a:t>
            </a:r>
            <a:r>
              <a:rPr lang="en-US" sz="1800" dirty="0">
                <a:solidFill>
                  <a:schemeClr val="tx1"/>
                </a:solidFill>
              </a:rPr>
              <a:t> — relationship-aware multi-hop traversal.</a:t>
            </a:r>
            <a:endParaRPr lang="en-US" sz="1800" dirty="0"/>
          </a:p>
          <a:p>
            <a:pPr marL="251460" indent="-251460">
              <a:spcAft>
                <a:spcPts val="500"/>
              </a:spcAft>
              <a:buClr>
                <a:schemeClr val="accent1"/>
              </a:buClr>
              <a:buSzPct val="100000"/>
              <a:buChar char="●"/>
            </a:pPr>
            <a:r>
              <a:rPr lang="en-US" sz="1800" b="1" dirty="0">
                <a:solidFill>
                  <a:schemeClr val="tx1"/>
                </a:solidFill>
              </a:rPr>
              <a:t>LLM reasoning</a:t>
            </a:r>
            <a:r>
              <a:rPr lang="en-US" sz="1800" dirty="0">
                <a:solidFill>
                  <a:schemeClr val="tx1"/>
                </a:solidFill>
              </a:rPr>
              <a:t> — grounded generation over retrieved evidence.</a:t>
            </a:r>
            <a:endParaRPr lang="en-US" sz="1800" dirty="0"/>
          </a:p>
          <a:p>
            <a:pPr marL="251460" indent="-251460">
              <a:spcAft>
                <a:spcPts val="500"/>
              </a:spcAft>
              <a:buClr>
                <a:schemeClr val="accent1"/>
              </a:buClr>
              <a:buSzPct val="100000"/>
              <a:buChar char="●"/>
            </a:pPr>
            <a:r>
              <a:rPr lang="en-US" sz="1800" b="1" dirty="0">
                <a:solidFill>
                  <a:schemeClr val="tx1"/>
                </a:solidFill>
              </a:rPr>
              <a:t>Explainable material recommendation</a:t>
            </a:r>
            <a:r>
              <a:rPr lang="en-US" sz="1800" dirty="0">
                <a:solidFill>
                  <a:schemeClr val="tx1"/>
                </a:solidFill>
              </a:rPr>
              <a:t> — final output.</a:t>
            </a:r>
            <a:endParaRPr lang="en-US" sz="1800" dirty="0"/>
          </a:p>
        </p:txBody>
      </p:sp>
      <p:sp>
        <p:nvSpPr>
          <p:cNvPr id="4" name="text-16"/>
          <p:cNvSpPr txBox="1"/>
          <p:nvPr/>
        </p:nvSpPr>
        <p:spPr>
          <a:xfrm>
            <a:off x="411480" y="4160520"/>
            <a:ext cx="8321040" cy="365760"/>
          </a:xfrm>
          <a:prstGeom prst="rect">
            <a:avLst/>
          </a:prstGeom>
          <a:noFill/>
          <a:ln/>
        </p:spPr>
        <p:txBody>
          <a:bodyPr wrap="square" lIns="0" tIns="0" rIns="0" bIns="0" rtlCol="0" anchor="t"/>
          <a:lstStyle/>
          <a:p>
            <a:pPr indent="0" marL="0">
              <a:buNone/>
            </a:pPr>
            <a:r>
              <a:rPr lang="en-US" sz="1800" b="1" dirty="0">
                <a:solidFill>
                  <a:schemeClr val="tx1"/>
                </a:solidFill>
              </a:rPr>
              <a:t>Three implementation phases:</a:t>
            </a:r>
            <a:endParaRPr lang="en-US" sz="1800" dirty="0"/>
          </a:p>
        </p:txBody>
      </p:sp>
      <p:sp>
        <p:nvSpPr>
          <p:cNvPr id="5" name="text-17"/>
          <p:cNvSpPr txBox="1"/>
          <p:nvPr/>
        </p:nvSpPr>
        <p:spPr>
          <a:xfrm>
            <a:off x="685800" y="4617720"/>
            <a:ext cx="6035040" cy="384048"/>
          </a:xfrm>
          <a:prstGeom prst="rect">
            <a:avLst/>
          </a:prstGeom>
          <a:noFill/>
          <a:ln/>
        </p:spPr>
        <p:txBody>
          <a:bodyPr wrap="square" lIns="0" tIns="0" rIns="0" bIns="0" rtlCol="0" anchor="ctr"/>
          <a:lstStyle/>
          <a:p>
            <a:pPr indent="0" marL="0">
              <a:buNone/>
            </a:pPr>
            <a:r>
              <a:rPr lang="en-US" sz="1700" dirty="0">
                <a:solidFill>
                  <a:schemeClr val="accent1"/>
                </a:solidFill>
              </a:rPr>
              <a:t>●  </a:t>
            </a:r>
            <a:r>
              <a:rPr lang="en-US" sz="1700" b="1" dirty="0">
                <a:solidFill>
                  <a:schemeClr val="tx1"/>
                </a:solidFill>
              </a:rPr>
              <a:t>Phase 1</a:t>
            </a:r>
            <a:r>
              <a:rPr lang="en-US" sz="1700" dirty="0">
                <a:solidFill>
                  <a:schemeClr val="tx1"/>
                </a:solidFill>
              </a:rPr>
              <a:t> — Knowledge Graph Construction</a:t>
            </a:r>
            <a:endParaRPr lang="en-US" sz="1700" dirty="0"/>
          </a:p>
        </p:txBody>
      </p:sp>
      <p:sp>
        <p:nvSpPr>
          <p:cNvPr id="6" name="text-18"/>
          <p:cNvSpPr txBox="1"/>
          <p:nvPr/>
        </p:nvSpPr>
        <p:spPr>
          <a:xfrm>
            <a:off x="6675120" y="4617720"/>
            <a:ext cx="2057400" cy="384048"/>
          </a:xfrm>
          <a:prstGeom prst="rect">
            <a:avLst/>
          </a:prstGeom>
          <a:noFill/>
          <a:ln/>
        </p:spPr>
        <p:txBody>
          <a:bodyPr wrap="square" lIns="0" tIns="0" rIns="0" bIns="0" rtlCol="0" anchor="ctr"/>
          <a:lstStyle/>
          <a:p>
            <a:pPr algn="r" indent="0" marL="0">
              <a:buNone/>
            </a:pPr>
            <a:r>
              <a:rPr lang="en-US" sz="1700" b="1" dirty="0">
                <a:solidFill>
                  <a:schemeClr val="accent1"/>
                </a:solidFill>
              </a:rPr>
              <a:t>[COMPLETE]</a:t>
            </a:r>
            <a:endParaRPr lang="en-US" sz="1700" dirty="0"/>
          </a:p>
        </p:txBody>
      </p:sp>
      <p:sp>
        <p:nvSpPr>
          <p:cNvPr id="7" name="text-19"/>
          <p:cNvSpPr txBox="1"/>
          <p:nvPr/>
        </p:nvSpPr>
        <p:spPr>
          <a:xfrm>
            <a:off x="685800" y="5074920"/>
            <a:ext cx="6035040" cy="384048"/>
          </a:xfrm>
          <a:prstGeom prst="rect">
            <a:avLst/>
          </a:prstGeom>
          <a:noFill/>
          <a:ln/>
        </p:spPr>
        <p:txBody>
          <a:bodyPr wrap="square" lIns="0" tIns="0" rIns="0" bIns="0" rtlCol="0" anchor="ctr"/>
          <a:lstStyle/>
          <a:p>
            <a:pPr indent="0" marL="0">
              <a:buNone/>
            </a:pPr>
            <a:r>
              <a:rPr lang="en-US" sz="1700" dirty="0">
                <a:solidFill>
                  <a:schemeClr val="accent1"/>
                </a:solidFill>
              </a:rPr>
              <a:t>●  </a:t>
            </a:r>
            <a:r>
              <a:rPr lang="en-US" sz="1700" b="1" dirty="0">
                <a:solidFill>
                  <a:schemeClr val="tx1"/>
                </a:solidFill>
              </a:rPr>
              <a:t>Phase 2</a:t>
            </a:r>
            <a:r>
              <a:rPr lang="en-US" sz="1700" dirty="0">
                <a:solidFill>
                  <a:schemeClr val="tx1"/>
                </a:solidFill>
              </a:rPr>
              <a:t> — GraphRAG Retrieval and Recommendation</a:t>
            </a:r>
            <a:endParaRPr lang="en-US" sz="1700" dirty="0"/>
          </a:p>
        </p:txBody>
      </p:sp>
      <p:sp>
        <p:nvSpPr>
          <p:cNvPr id="8" name="text-20"/>
          <p:cNvSpPr txBox="1"/>
          <p:nvPr/>
        </p:nvSpPr>
        <p:spPr>
          <a:xfrm>
            <a:off x="6675120" y="5074920"/>
            <a:ext cx="2057400" cy="384048"/>
          </a:xfrm>
          <a:prstGeom prst="rect">
            <a:avLst/>
          </a:prstGeom>
          <a:noFill/>
          <a:ln/>
        </p:spPr>
        <p:txBody>
          <a:bodyPr wrap="square" lIns="0" tIns="0" rIns="0" bIns="0" rtlCol="0" anchor="ctr"/>
          <a:lstStyle/>
          <a:p>
            <a:pPr algn="r" indent="0" marL="0">
              <a:buNone/>
            </a:pPr>
            <a:r>
              <a:rPr lang="en-US" sz="1700" b="1" dirty="0">
                <a:solidFill>
                  <a:schemeClr val="accent1"/>
                </a:solidFill>
              </a:rPr>
              <a:t>[COMPLETE]</a:t>
            </a:r>
            <a:endParaRPr lang="en-US" sz="1700" dirty="0"/>
          </a:p>
        </p:txBody>
      </p:sp>
      <p:sp>
        <p:nvSpPr>
          <p:cNvPr id="9" name="text-21"/>
          <p:cNvSpPr txBox="1"/>
          <p:nvPr/>
        </p:nvSpPr>
        <p:spPr>
          <a:xfrm>
            <a:off x="685800" y="5532120"/>
            <a:ext cx="6035040" cy="384048"/>
          </a:xfrm>
          <a:prstGeom prst="rect">
            <a:avLst/>
          </a:prstGeom>
          <a:noFill/>
          <a:ln/>
        </p:spPr>
        <p:txBody>
          <a:bodyPr wrap="square" lIns="0" tIns="0" rIns="0" bIns="0" rtlCol="0" anchor="ctr"/>
          <a:lstStyle/>
          <a:p>
            <a:pPr indent="0" marL="0">
              <a:buNone/>
            </a:pPr>
            <a:r>
              <a:rPr lang="en-US" sz="1700" dirty="0">
                <a:solidFill>
                  <a:schemeClr val="accent1"/>
                </a:solidFill>
              </a:rPr>
              <a:t>●  </a:t>
            </a:r>
            <a:r>
              <a:rPr lang="en-US" sz="1700" b="1" dirty="0">
                <a:solidFill>
                  <a:schemeClr val="tx1"/>
                </a:solidFill>
              </a:rPr>
              <a:t>Phase 3</a:t>
            </a:r>
            <a:r>
              <a:rPr lang="en-US" sz="1700" dirty="0">
                <a:solidFill>
                  <a:schemeClr val="tx1"/>
                </a:solidFill>
              </a:rPr>
              <a:t> — Crystal Structure Encoding</a:t>
            </a:r>
            <a:endParaRPr lang="en-US" sz="1700" dirty="0"/>
          </a:p>
        </p:txBody>
      </p:sp>
      <p:sp>
        <p:nvSpPr>
          <p:cNvPr id="10" name="text-22"/>
          <p:cNvSpPr txBox="1"/>
          <p:nvPr/>
        </p:nvSpPr>
        <p:spPr>
          <a:xfrm>
            <a:off x="6675120" y="5532120"/>
            <a:ext cx="2057400" cy="384048"/>
          </a:xfrm>
          <a:prstGeom prst="rect">
            <a:avLst/>
          </a:prstGeom>
          <a:noFill/>
          <a:ln/>
        </p:spPr>
        <p:txBody>
          <a:bodyPr wrap="square" lIns="0" tIns="0" rIns="0" bIns="0" rtlCol="0" anchor="ctr"/>
          <a:lstStyle/>
          <a:p>
            <a:pPr algn="r" indent="0" marL="0">
              <a:buNone/>
            </a:pPr>
            <a:r>
              <a:rPr lang="en-US" sz="1700" b="1" dirty="0">
                <a:solidFill>
                  <a:schemeClr val="accent1"/>
                </a:solidFill>
              </a:rPr>
              <a:t>[COMPLETE]</a:t>
            </a:r>
            <a:endParaRPr lang="en-US" sz="17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Overall System Architecture</a:t>
            </a:r>
            <a:endParaRPr lang="en-US" sz="2600" dirty="0"/>
          </a:p>
        </p:txBody>
      </p:sp>
      <p:sp>
        <p:nvSpPr>
          <p:cNvPr id="3" name="layer-23"/>
          <p:cNvSpPr/>
          <p:nvPr/>
        </p:nvSpPr>
        <p:spPr>
          <a:xfrm>
            <a:off x="365760" y="914400"/>
            <a:ext cx="8412480" cy="1078992"/>
          </a:xfrm>
          <a:prstGeom prst="roundRect">
            <a:avLst>
              <a:gd name="adj" fmla="val 6780"/>
            </a:avLst>
          </a:prstGeom>
          <a:solidFill>
            <a:schemeClr val="accent3">
              <a:alpha val="10000"/>
            </a:schemeClr>
          </a:solidFill>
          <a:ln w="15875">
            <a:solidFill>
              <a:schemeClr val="accent3"/>
            </a:solidFill>
            <a:prstDash val="solid"/>
          </a:ln>
        </p:spPr>
      </p:sp>
      <p:sp>
        <p:nvSpPr>
          <p:cNvPr id="4" name="text-24"/>
          <p:cNvSpPr txBox="1"/>
          <p:nvPr/>
        </p:nvSpPr>
        <p:spPr>
          <a:xfrm>
            <a:off x="457200" y="914400"/>
            <a:ext cx="1325880" cy="1078992"/>
          </a:xfrm>
          <a:prstGeom prst="rect">
            <a:avLst/>
          </a:prstGeom>
          <a:noFill/>
          <a:ln/>
        </p:spPr>
        <p:txBody>
          <a:bodyPr wrap="square" lIns="0" tIns="0" rIns="0" bIns="0" rtlCol="0" anchor="ctr"/>
          <a:lstStyle/>
          <a:p>
            <a:pPr indent="0" marL="0">
              <a:buNone/>
            </a:pPr>
            <a:r>
              <a:rPr lang="en-US" sz="1400" b="1" dirty="0">
                <a:solidFill>
                  <a:schemeClr val="tx1"/>
                </a:solidFill>
              </a:rPr>
              <a:t>Data sources</a:t>
            </a:r>
            <a:endParaRPr lang="en-US" sz="1400" dirty="0"/>
          </a:p>
        </p:txBody>
      </p:sp>
      <p:sp>
        <p:nvSpPr>
          <p:cNvPr id="5" name="box-25"/>
          <p:cNvSpPr/>
          <p:nvPr/>
        </p:nvSpPr>
        <p:spPr>
          <a:xfrm>
            <a:off x="1920240" y="1042416"/>
            <a:ext cx="1632204" cy="822960"/>
          </a:xfrm>
          <a:prstGeom prst="roundRect">
            <a:avLst>
              <a:gd name="adj" fmla="val 8889"/>
            </a:avLst>
          </a:prstGeom>
          <a:solidFill>
            <a:schemeClr val="bg1"/>
          </a:solidFill>
          <a:ln w="15875">
            <a:solidFill>
              <a:schemeClr val="accent3"/>
            </a:solidFill>
            <a:prstDash val="solid"/>
          </a:ln>
        </p:spPr>
      </p:sp>
      <p:sp>
        <p:nvSpPr>
          <p:cNvPr id="6" name="text-26"/>
          <p:cNvSpPr txBox="1"/>
          <p:nvPr/>
        </p:nvSpPr>
        <p:spPr>
          <a:xfrm>
            <a:off x="1993392" y="1078992"/>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Materials Project API</a:t>
            </a:r>
            <a:endParaRPr lang="en-US" sz="1400" dirty="0"/>
          </a:p>
          <a:p>
            <a:pPr algn="ctr" indent="0" marL="0">
              <a:buNone/>
            </a:pPr>
            <a:r>
              <a:rPr lang="en-US" sz="1050" dirty="0">
                <a:solidFill>
                  <a:schemeClr val="tx1"/>
                </a:solidFill>
              </a:rPr>
              <a:t>summary + robocrys</a:t>
            </a:r>
            <a:endParaRPr lang="en-US" sz="1400" dirty="0"/>
          </a:p>
        </p:txBody>
      </p:sp>
      <p:sp>
        <p:nvSpPr>
          <p:cNvPr id="7" name="box-27"/>
          <p:cNvSpPr/>
          <p:nvPr/>
        </p:nvSpPr>
        <p:spPr>
          <a:xfrm>
            <a:off x="3662172" y="1042416"/>
            <a:ext cx="1632204" cy="822960"/>
          </a:xfrm>
          <a:prstGeom prst="roundRect">
            <a:avLst>
              <a:gd name="adj" fmla="val 8889"/>
            </a:avLst>
          </a:prstGeom>
          <a:solidFill>
            <a:schemeClr val="bg1"/>
          </a:solidFill>
          <a:ln w="15875">
            <a:solidFill>
              <a:schemeClr val="accent3"/>
            </a:solidFill>
            <a:prstDash val="solid"/>
          </a:ln>
        </p:spPr>
      </p:sp>
      <p:sp>
        <p:nvSpPr>
          <p:cNvPr id="8" name="text-28"/>
          <p:cNvSpPr txBox="1"/>
          <p:nvPr/>
        </p:nvSpPr>
        <p:spPr>
          <a:xfrm>
            <a:off x="3735324" y="1078992"/>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Cached raw JSON</a:t>
            </a:r>
            <a:endParaRPr lang="en-US" sz="1400" dirty="0"/>
          </a:p>
          <a:p>
            <a:pPr algn="ctr" indent="0" marL="0">
              <a:buNone/>
            </a:pPr>
            <a:r>
              <a:rPr lang="en-US" sz="1050" dirty="0">
                <a:solidFill>
                  <a:schemeClr val="tx1"/>
                </a:solidFill>
              </a:rPr>
              <a:t>794 records</a:t>
            </a:r>
            <a:endParaRPr lang="en-US" sz="1400" dirty="0"/>
          </a:p>
        </p:txBody>
      </p:sp>
      <p:sp>
        <p:nvSpPr>
          <p:cNvPr id="9" name="box-29"/>
          <p:cNvSpPr/>
          <p:nvPr/>
        </p:nvSpPr>
        <p:spPr>
          <a:xfrm>
            <a:off x="5404104" y="1042416"/>
            <a:ext cx="1632204" cy="822960"/>
          </a:xfrm>
          <a:prstGeom prst="roundRect">
            <a:avLst>
              <a:gd name="adj" fmla="val 8889"/>
            </a:avLst>
          </a:prstGeom>
          <a:solidFill>
            <a:schemeClr val="bg1"/>
          </a:solidFill>
          <a:ln w="15875">
            <a:solidFill>
              <a:schemeClr val="accent3"/>
            </a:solidFill>
            <a:prstDash val="solid"/>
          </a:ln>
        </p:spPr>
      </p:sp>
      <p:sp>
        <p:nvSpPr>
          <p:cNvPr id="10" name="text-30"/>
          <p:cNvSpPr txBox="1"/>
          <p:nvPr/>
        </p:nvSpPr>
        <p:spPr>
          <a:xfrm>
            <a:off x="5477256" y="1078992"/>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User input</a:t>
            </a:r>
            <a:endParaRPr lang="en-US" sz="1400" dirty="0"/>
          </a:p>
          <a:p>
            <a:pPr algn="ctr" indent="0" marL="0">
              <a:buNone/>
            </a:pPr>
            <a:r>
              <a:rPr lang="en-US" sz="1050" dirty="0">
                <a:solidFill>
                  <a:schemeClr val="tx1"/>
                </a:solidFill>
              </a:rPr>
              <a:t>MP id · formula · CIF</a:t>
            </a:r>
            <a:endParaRPr lang="en-US" sz="1400" dirty="0"/>
          </a:p>
        </p:txBody>
      </p:sp>
      <p:sp>
        <p:nvSpPr>
          <p:cNvPr id="11" name="box-31"/>
          <p:cNvSpPr/>
          <p:nvPr/>
        </p:nvSpPr>
        <p:spPr>
          <a:xfrm>
            <a:off x="7146036" y="1042416"/>
            <a:ext cx="1632204" cy="822960"/>
          </a:xfrm>
          <a:prstGeom prst="roundRect">
            <a:avLst>
              <a:gd name="adj" fmla="val 8889"/>
            </a:avLst>
          </a:prstGeom>
          <a:solidFill>
            <a:schemeClr val="bg1"/>
          </a:solidFill>
          <a:ln w="15875">
            <a:solidFill>
              <a:schemeClr val="accent3"/>
            </a:solidFill>
            <a:prstDash val="solid"/>
          </a:ln>
        </p:spPr>
      </p:sp>
      <p:sp>
        <p:nvSpPr>
          <p:cNvPr id="12" name="text-32"/>
          <p:cNvSpPr txBox="1"/>
          <p:nvPr/>
        </p:nvSpPr>
        <p:spPr>
          <a:xfrm>
            <a:off x="7219188" y="1078992"/>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materials.yaml</a:t>
            </a:r>
            <a:endParaRPr lang="en-US" sz="1400" dirty="0"/>
          </a:p>
          <a:p>
            <a:pPr algn="ctr" indent="0" marL="0">
              <a:buNone/>
            </a:pPr>
            <a:r>
              <a:rPr lang="en-US" sz="1050" dirty="0">
                <a:solidFill>
                  <a:schemeClr val="tx1"/>
                </a:solidFill>
              </a:rPr>
              <a:t>clusters · buckets · rules</a:t>
            </a:r>
            <a:endParaRPr lang="en-US" sz="1400" dirty="0"/>
          </a:p>
        </p:txBody>
      </p:sp>
      <p:sp>
        <p:nvSpPr>
          <p:cNvPr id="13" name="edge-33"/>
          <p:cNvSpPr/>
          <p:nvPr/>
        </p:nvSpPr>
        <p:spPr>
          <a:xfrm>
            <a:off x="4572000" y="1993392"/>
            <a:ext cx="0" cy="274320"/>
          </a:xfrm>
          <a:prstGeom prst="line">
            <a:avLst/>
          </a:prstGeom>
          <a:noFill/>
          <a:ln w="25400">
            <a:solidFill>
              <a:srgbClr val="555555"/>
            </a:solidFill>
            <a:prstDash val="solid"/>
            <a:tailEnd type="triangle"/>
          </a:ln>
        </p:spPr>
      </p:sp>
      <p:sp>
        <p:nvSpPr>
          <p:cNvPr id="14" name="layer-34"/>
          <p:cNvSpPr/>
          <p:nvPr/>
        </p:nvSpPr>
        <p:spPr>
          <a:xfrm>
            <a:off x="365760" y="2267712"/>
            <a:ext cx="8412480" cy="1078992"/>
          </a:xfrm>
          <a:prstGeom prst="roundRect">
            <a:avLst>
              <a:gd name="adj" fmla="val 6780"/>
            </a:avLst>
          </a:prstGeom>
          <a:solidFill>
            <a:schemeClr val="accent5">
              <a:alpha val="10000"/>
            </a:schemeClr>
          </a:solidFill>
          <a:ln w="15875">
            <a:solidFill>
              <a:schemeClr val="accent5"/>
            </a:solidFill>
            <a:prstDash val="solid"/>
          </a:ln>
        </p:spPr>
      </p:sp>
      <p:sp>
        <p:nvSpPr>
          <p:cNvPr id="15" name="text-35"/>
          <p:cNvSpPr txBox="1"/>
          <p:nvPr/>
        </p:nvSpPr>
        <p:spPr>
          <a:xfrm>
            <a:off x="457200" y="2267712"/>
            <a:ext cx="1325880" cy="1078992"/>
          </a:xfrm>
          <a:prstGeom prst="rect">
            <a:avLst/>
          </a:prstGeom>
          <a:noFill/>
          <a:ln/>
        </p:spPr>
        <p:txBody>
          <a:bodyPr wrap="square" lIns="0" tIns="0" rIns="0" bIns="0" rtlCol="0" anchor="ctr"/>
          <a:lstStyle/>
          <a:p>
            <a:pPr indent="0" marL="0">
              <a:buNone/>
            </a:pPr>
            <a:r>
              <a:rPr lang="en-US" sz="1400" b="1" dirty="0">
                <a:solidFill>
                  <a:schemeClr val="tx1"/>
                </a:solidFill>
              </a:rPr>
              <a:t>Knowledge graph</a:t>
            </a:r>
            <a:endParaRPr lang="en-US" sz="1400" dirty="0"/>
          </a:p>
        </p:txBody>
      </p:sp>
      <p:sp>
        <p:nvSpPr>
          <p:cNvPr id="16" name="box-36"/>
          <p:cNvSpPr/>
          <p:nvPr/>
        </p:nvSpPr>
        <p:spPr>
          <a:xfrm>
            <a:off x="1920240" y="2395728"/>
            <a:ext cx="1632204" cy="822960"/>
          </a:xfrm>
          <a:prstGeom prst="roundRect">
            <a:avLst>
              <a:gd name="adj" fmla="val 8889"/>
            </a:avLst>
          </a:prstGeom>
          <a:solidFill>
            <a:schemeClr val="bg1"/>
          </a:solidFill>
          <a:ln w="15875">
            <a:solidFill>
              <a:schemeClr val="accent5"/>
            </a:solidFill>
            <a:prstDash val="solid"/>
          </a:ln>
        </p:spPr>
      </p:sp>
      <p:sp>
        <p:nvSpPr>
          <p:cNvPr id="17" name="text-37"/>
          <p:cNvSpPr txBox="1"/>
          <p:nvPr/>
        </p:nvSpPr>
        <p:spPr>
          <a:xfrm>
            <a:off x="1993392" y="2432304"/>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Build pipeline</a:t>
            </a:r>
            <a:endParaRPr lang="en-US" sz="1400" dirty="0"/>
          </a:p>
          <a:p>
            <a:pPr algn="ctr" indent="0" marL="0">
              <a:buNone/>
            </a:pPr>
            <a:r>
              <a:rPr lang="en-US" sz="1050" dirty="0">
                <a:solidFill>
                  <a:schemeClr val="tx1"/>
                </a:solidFill>
              </a:rPr>
              <a:t>fetch → enrich → write</a:t>
            </a:r>
            <a:endParaRPr lang="en-US" sz="1400" dirty="0"/>
          </a:p>
        </p:txBody>
      </p:sp>
      <p:sp>
        <p:nvSpPr>
          <p:cNvPr id="18" name="box-38"/>
          <p:cNvSpPr/>
          <p:nvPr/>
        </p:nvSpPr>
        <p:spPr>
          <a:xfrm>
            <a:off x="3662172" y="2395728"/>
            <a:ext cx="1632204" cy="822960"/>
          </a:xfrm>
          <a:prstGeom prst="roundRect">
            <a:avLst>
              <a:gd name="adj" fmla="val 8889"/>
            </a:avLst>
          </a:prstGeom>
          <a:solidFill>
            <a:schemeClr val="bg1"/>
          </a:solidFill>
          <a:ln w="15875">
            <a:solidFill>
              <a:schemeClr val="accent5"/>
            </a:solidFill>
            <a:prstDash val="solid"/>
          </a:ln>
        </p:spPr>
      </p:sp>
      <p:sp>
        <p:nvSpPr>
          <p:cNvPr id="19" name="text-39"/>
          <p:cNvSpPr txBox="1"/>
          <p:nvPr/>
        </p:nvSpPr>
        <p:spPr>
          <a:xfrm>
            <a:off x="3735324" y="2432304"/>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Cognee DataPoints</a:t>
            </a:r>
            <a:endParaRPr lang="en-US" sz="1400" dirty="0"/>
          </a:p>
          <a:p>
            <a:pPr algn="ctr" indent="0" marL="0">
              <a:buNone/>
            </a:pPr>
            <a:r>
              <a:rPr lang="en-US" sz="1050" dirty="0">
                <a:solidFill>
                  <a:schemeClr val="tx1"/>
                </a:solidFill>
              </a:rPr>
              <a:t>identity-keyed nodes</a:t>
            </a:r>
            <a:endParaRPr lang="en-US" sz="1400" dirty="0"/>
          </a:p>
        </p:txBody>
      </p:sp>
      <p:sp>
        <p:nvSpPr>
          <p:cNvPr id="20" name="box-40"/>
          <p:cNvSpPr/>
          <p:nvPr/>
        </p:nvSpPr>
        <p:spPr>
          <a:xfrm>
            <a:off x="5404104" y="2395728"/>
            <a:ext cx="1632204" cy="822960"/>
          </a:xfrm>
          <a:prstGeom prst="roundRect">
            <a:avLst>
              <a:gd name="adj" fmla="val 8889"/>
            </a:avLst>
          </a:prstGeom>
          <a:solidFill>
            <a:schemeClr val="bg1"/>
          </a:solidFill>
          <a:ln w="15875">
            <a:solidFill>
              <a:schemeClr val="accent5"/>
            </a:solidFill>
            <a:prstDash val="solid"/>
          </a:ln>
        </p:spPr>
      </p:sp>
      <p:sp>
        <p:nvSpPr>
          <p:cNvPr id="21" name="text-41"/>
          <p:cNvSpPr txBox="1"/>
          <p:nvPr/>
        </p:nvSpPr>
        <p:spPr>
          <a:xfrm>
            <a:off x="5477256" y="2432304"/>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Kuzu + LanceDB</a:t>
            </a:r>
            <a:endParaRPr lang="en-US" sz="1400" dirty="0"/>
          </a:p>
          <a:p>
            <a:pPr algn="ctr" indent="0" marL="0">
              <a:buNone/>
            </a:pPr>
            <a:r>
              <a:rPr lang="en-US" sz="1050" dirty="0">
                <a:solidFill>
                  <a:schemeClr val="tx1"/>
                </a:solidFill>
              </a:rPr>
              <a:t>graph + vector stores</a:t>
            </a:r>
            <a:endParaRPr lang="en-US" sz="1400" dirty="0"/>
          </a:p>
        </p:txBody>
      </p:sp>
      <p:sp>
        <p:nvSpPr>
          <p:cNvPr id="22" name="box-42"/>
          <p:cNvSpPr/>
          <p:nvPr/>
        </p:nvSpPr>
        <p:spPr>
          <a:xfrm>
            <a:off x="7146036" y="2395728"/>
            <a:ext cx="1632204" cy="822960"/>
          </a:xfrm>
          <a:prstGeom prst="roundRect">
            <a:avLst>
              <a:gd name="adj" fmla="val 8889"/>
            </a:avLst>
          </a:prstGeom>
          <a:solidFill>
            <a:schemeClr val="bg1"/>
          </a:solidFill>
          <a:ln w="15875">
            <a:solidFill>
              <a:schemeClr val="accent5"/>
            </a:solidFill>
            <a:prstDash val="solid"/>
          </a:ln>
        </p:spPr>
      </p:sp>
      <p:sp>
        <p:nvSpPr>
          <p:cNvPr id="23" name="text-43"/>
          <p:cNvSpPr txBox="1"/>
          <p:nvPr/>
        </p:nvSpPr>
        <p:spPr>
          <a:xfrm>
            <a:off x="7219188" y="2432304"/>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BGE-M3 embeddings</a:t>
            </a:r>
            <a:endParaRPr lang="en-US" sz="1400" dirty="0"/>
          </a:p>
          <a:p>
            <a:pPr algn="ctr" indent="0" marL="0">
              <a:buNone/>
            </a:pPr>
            <a:r>
              <a:rPr lang="en-US" sz="1050" dirty="0">
                <a:solidFill>
                  <a:schemeClr val="tx1"/>
                </a:solidFill>
              </a:rPr>
              <a:t>local Ollama, 1024-d</a:t>
            </a:r>
            <a:endParaRPr lang="en-US" sz="1400" dirty="0"/>
          </a:p>
        </p:txBody>
      </p:sp>
      <p:sp>
        <p:nvSpPr>
          <p:cNvPr id="24" name="edge-44"/>
          <p:cNvSpPr/>
          <p:nvPr/>
        </p:nvSpPr>
        <p:spPr>
          <a:xfrm>
            <a:off x="4572000" y="3346704"/>
            <a:ext cx="0" cy="274320"/>
          </a:xfrm>
          <a:prstGeom prst="line">
            <a:avLst/>
          </a:prstGeom>
          <a:noFill/>
          <a:ln w="25400">
            <a:solidFill>
              <a:srgbClr val="555555"/>
            </a:solidFill>
            <a:prstDash val="solid"/>
            <a:tailEnd type="triangle"/>
          </a:ln>
        </p:spPr>
      </p:sp>
      <p:sp>
        <p:nvSpPr>
          <p:cNvPr id="25" name="layer-45"/>
          <p:cNvSpPr/>
          <p:nvPr/>
        </p:nvSpPr>
        <p:spPr>
          <a:xfrm>
            <a:off x="365760" y="3621024"/>
            <a:ext cx="8412480" cy="1078992"/>
          </a:xfrm>
          <a:prstGeom prst="roundRect">
            <a:avLst>
              <a:gd name="adj" fmla="val 6780"/>
            </a:avLst>
          </a:prstGeom>
          <a:solidFill>
            <a:schemeClr val="accent6">
              <a:alpha val="10000"/>
            </a:schemeClr>
          </a:solidFill>
          <a:ln w="15875">
            <a:solidFill>
              <a:schemeClr val="accent6"/>
            </a:solidFill>
            <a:prstDash val="solid"/>
          </a:ln>
        </p:spPr>
      </p:sp>
      <p:sp>
        <p:nvSpPr>
          <p:cNvPr id="26" name="text-46"/>
          <p:cNvSpPr txBox="1"/>
          <p:nvPr/>
        </p:nvSpPr>
        <p:spPr>
          <a:xfrm>
            <a:off x="457200" y="3621024"/>
            <a:ext cx="1325880" cy="1078992"/>
          </a:xfrm>
          <a:prstGeom prst="rect">
            <a:avLst/>
          </a:prstGeom>
          <a:noFill/>
          <a:ln/>
        </p:spPr>
        <p:txBody>
          <a:bodyPr wrap="square" lIns="0" tIns="0" rIns="0" bIns="0" rtlCol="0" anchor="ctr"/>
          <a:lstStyle/>
          <a:p>
            <a:pPr indent="0" marL="0">
              <a:buNone/>
            </a:pPr>
            <a:r>
              <a:rPr lang="en-US" sz="1400" b="1" dirty="0">
                <a:solidFill>
                  <a:schemeClr val="tx1"/>
                </a:solidFill>
              </a:rPr>
              <a:t>Reasoning services</a:t>
            </a:r>
            <a:endParaRPr lang="en-US" sz="1400" dirty="0"/>
          </a:p>
        </p:txBody>
      </p:sp>
      <p:sp>
        <p:nvSpPr>
          <p:cNvPr id="27" name="box-47"/>
          <p:cNvSpPr/>
          <p:nvPr/>
        </p:nvSpPr>
        <p:spPr>
          <a:xfrm>
            <a:off x="1920240" y="3749040"/>
            <a:ext cx="1632204" cy="822960"/>
          </a:xfrm>
          <a:prstGeom prst="roundRect">
            <a:avLst>
              <a:gd name="adj" fmla="val 8889"/>
            </a:avLst>
          </a:prstGeom>
          <a:solidFill>
            <a:schemeClr val="bg1"/>
          </a:solidFill>
          <a:ln w="15875">
            <a:solidFill>
              <a:schemeClr val="accent6"/>
            </a:solidFill>
            <a:prstDash val="solid"/>
          </a:ln>
        </p:spPr>
      </p:sp>
      <p:sp>
        <p:nvSpPr>
          <p:cNvPr id="28" name="text-48"/>
          <p:cNvSpPr txBox="1"/>
          <p:nvPr/>
        </p:nvSpPr>
        <p:spPr>
          <a:xfrm>
            <a:off x="1993392" y="3785616"/>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Query parser</a:t>
            </a:r>
            <a:endParaRPr lang="en-US" sz="1400" dirty="0"/>
          </a:p>
          <a:p>
            <a:pPr algn="ctr" indent="0" marL="0">
              <a:buNone/>
            </a:pPr>
            <a:r>
              <a:rPr lang="en-US" sz="1050" dirty="0">
                <a:solidFill>
                  <a:schemeClr val="tx1"/>
                </a:solidFill>
              </a:rPr>
              <a:t>LLM + rule fallback</a:t>
            </a:r>
            <a:endParaRPr lang="en-US" sz="1400" dirty="0"/>
          </a:p>
        </p:txBody>
      </p:sp>
      <p:sp>
        <p:nvSpPr>
          <p:cNvPr id="29" name="box-49"/>
          <p:cNvSpPr/>
          <p:nvPr/>
        </p:nvSpPr>
        <p:spPr>
          <a:xfrm>
            <a:off x="3662172" y="3749040"/>
            <a:ext cx="1632204" cy="822960"/>
          </a:xfrm>
          <a:prstGeom prst="roundRect">
            <a:avLst>
              <a:gd name="adj" fmla="val 8889"/>
            </a:avLst>
          </a:prstGeom>
          <a:solidFill>
            <a:schemeClr val="bg1"/>
          </a:solidFill>
          <a:ln w="15875">
            <a:solidFill>
              <a:schemeClr val="accent6"/>
            </a:solidFill>
            <a:prstDash val="solid"/>
          </a:ln>
        </p:spPr>
      </p:sp>
      <p:sp>
        <p:nvSpPr>
          <p:cNvPr id="30" name="text-50"/>
          <p:cNvSpPr txBox="1"/>
          <p:nvPr/>
        </p:nvSpPr>
        <p:spPr>
          <a:xfrm>
            <a:off x="3735324" y="3785616"/>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Graph retriever</a:t>
            </a:r>
            <a:endParaRPr lang="en-US" sz="1400" dirty="0"/>
          </a:p>
          <a:p>
            <a:pPr algn="ctr" indent="0" marL="0">
              <a:buNone/>
            </a:pPr>
            <a:r>
              <a:rPr lang="en-US" sz="1050" dirty="0">
                <a:solidFill>
                  <a:schemeClr val="tx1"/>
                </a:solidFill>
              </a:rPr>
              <a:t>traverse · filter · rank</a:t>
            </a:r>
            <a:endParaRPr lang="en-US" sz="1400" dirty="0"/>
          </a:p>
        </p:txBody>
      </p:sp>
      <p:sp>
        <p:nvSpPr>
          <p:cNvPr id="31" name="box-51"/>
          <p:cNvSpPr/>
          <p:nvPr/>
        </p:nvSpPr>
        <p:spPr>
          <a:xfrm>
            <a:off x="5404104" y="3749040"/>
            <a:ext cx="1632204" cy="822960"/>
          </a:xfrm>
          <a:prstGeom prst="roundRect">
            <a:avLst>
              <a:gd name="adj" fmla="val 8889"/>
            </a:avLst>
          </a:prstGeom>
          <a:solidFill>
            <a:schemeClr val="bg1"/>
          </a:solidFill>
          <a:ln w="15875">
            <a:solidFill>
              <a:schemeClr val="accent6"/>
            </a:solidFill>
            <a:prstDash val="solid"/>
          </a:ln>
        </p:spPr>
      </p:sp>
      <p:sp>
        <p:nvSpPr>
          <p:cNvPr id="32" name="text-52"/>
          <p:cNvSpPr txBox="1"/>
          <p:nvPr/>
        </p:nvSpPr>
        <p:spPr>
          <a:xfrm>
            <a:off x="5477256" y="3785616"/>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Evidence → grounding</a:t>
            </a:r>
            <a:endParaRPr lang="en-US" sz="1400" dirty="0"/>
          </a:p>
          <a:p>
            <a:pPr algn="ctr" indent="0" marL="0">
              <a:buNone/>
            </a:pPr>
            <a:r>
              <a:rPr lang="en-US" sz="1050" dirty="0">
                <a:solidFill>
                  <a:schemeClr val="tx1"/>
                </a:solidFill>
              </a:rPr>
              <a:t>cited, checked claims</a:t>
            </a:r>
            <a:endParaRPr lang="en-US" sz="1400" dirty="0"/>
          </a:p>
        </p:txBody>
      </p:sp>
      <p:sp>
        <p:nvSpPr>
          <p:cNvPr id="33" name="box-53"/>
          <p:cNvSpPr/>
          <p:nvPr/>
        </p:nvSpPr>
        <p:spPr>
          <a:xfrm>
            <a:off x="7146036" y="3749040"/>
            <a:ext cx="1632204" cy="822960"/>
          </a:xfrm>
          <a:prstGeom prst="roundRect">
            <a:avLst>
              <a:gd name="adj" fmla="val 8889"/>
            </a:avLst>
          </a:prstGeom>
          <a:solidFill>
            <a:schemeClr val="bg1"/>
          </a:solidFill>
          <a:ln w="15875">
            <a:solidFill>
              <a:schemeClr val="accent6"/>
            </a:solidFill>
            <a:prstDash val="solid"/>
          </a:ln>
        </p:spPr>
      </p:sp>
      <p:sp>
        <p:nvSpPr>
          <p:cNvPr id="34" name="text-54"/>
          <p:cNvSpPr txBox="1"/>
          <p:nvPr/>
        </p:nvSpPr>
        <p:spPr>
          <a:xfrm>
            <a:off x="7219188" y="3785616"/>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Material ingestion</a:t>
            </a:r>
            <a:endParaRPr lang="en-US" sz="1400" dirty="0"/>
          </a:p>
          <a:p>
            <a:pPr algn="ctr" indent="0" marL="0">
              <a:buNone/>
            </a:pPr>
            <a:r>
              <a:rPr lang="en-US" sz="1050" dirty="0">
                <a:solidFill>
                  <a:schemeClr val="tx1"/>
                </a:solidFill>
              </a:rPr>
              <a:t>MP · formula · CGCNN</a:t>
            </a:r>
            <a:endParaRPr lang="en-US" sz="1400" dirty="0"/>
          </a:p>
        </p:txBody>
      </p:sp>
      <p:sp>
        <p:nvSpPr>
          <p:cNvPr id="35" name="edge-55"/>
          <p:cNvSpPr/>
          <p:nvPr/>
        </p:nvSpPr>
        <p:spPr>
          <a:xfrm>
            <a:off x="4572000" y="4700016"/>
            <a:ext cx="0" cy="274320"/>
          </a:xfrm>
          <a:prstGeom prst="line">
            <a:avLst/>
          </a:prstGeom>
          <a:noFill/>
          <a:ln w="25400">
            <a:solidFill>
              <a:srgbClr val="555555"/>
            </a:solidFill>
            <a:prstDash val="solid"/>
            <a:tailEnd type="triangle"/>
          </a:ln>
        </p:spPr>
      </p:sp>
      <p:sp>
        <p:nvSpPr>
          <p:cNvPr id="36" name="layer-56"/>
          <p:cNvSpPr/>
          <p:nvPr/>
        </p:nvSpPr>
        <p:spPr>
          <a:xfrm>
            <a:off x="365760" y="4974336"/>
            <a:ext cx="8412480" cy="1078992"/>
          </a:xfrm>
          <a:prstGeom prst="roundRect">
            <a:avLst>
              <a:gd name="adj" fmla="val 6780"/>
            </a:avLst>
          </a:prstGeom>
          <a:solidFill>
            <a:schemeClr val="accent4">
              <a:alpha val="10000"/>
            </a:schemeClr>
          </a:solidFill>
          <a:ln w="15875">
            <a:solidFill>
              <a:schemeClr val="accent4"/>
            </a:solidFill>
            <a:prstDash val="solid"/>
          </a:ln>
        </p:spPr>
      </p:sp>
      <p:sp>
        <p:nvSpPr>
          <p:cNvPr id="37" name="text-57"/>
          <p:cNvSpPr txBox="1"/>
          <p:nvPr/>
        </p:nvSpPr>
        <p:spPr>
          <a:xfrm>
            <a:off x="457200" y="4974336"/>
            <a:ext cx="1325880" cy="1078992"/>
          </a:xfrm>
          <a:prstGeom prst="rect">
            <a:avLst/>
          </a:prstGeom>
          <a:noFill/>
          <a:ln/>
        </p:spPr>
        <p:txBody>
          <a:bodyPr wrap="square" lIns="0" tIns="0" rIns="0" bIns="0" rtlCol="0" anchor="ctr"/>
          <a:lstStyle/>
          <a:p>
            <a:pPr indent="0" marL="0">
              <a:buNone/>
            </a:pPr>
            <a:r>
              <a:rPr lang="en-US" sz="1400" b="1" dirty="0">
                <a:solidFill>
                  <a:schemeClr val="tx1"/>
                </a:solidFill>
              </a:rPr>
              <a:t>Interfaces</a:t>
            </a:r>
            <a:endParaRPr lang="en-US" sz="1400" dirty="0"/>
          </a:p>
        </p:txBody>
      </p:sp>
      <p:sp>
        <p:nvSpPr>
          <p:cNvPr id="38" name="box-58"/>
          <p:cNvSpPr/>
          <p:nvPr/>
        </p:nvSpPr>
        <p:spPr>
          <a:xfrm>
            <a:off x="1920240" y="5102352"/>
            <a:ext cx="1632204" cy="822960"/>
          </a:xfrm>
          <a:prstGeom prst="roundRect">
            <a:avLst>
              <a:gd name="adj" fmla="val 8889"/>
            </a:avLst>
          </a:prstGeom>
          <a:solidFill>
            <a:schemeClr val="bg1"/>
          </a:solidFill>
          <a:ln w="15875">
            <a:solidFill>
              <a:schemeClr val="accent4"/>
            </a:solidFill>
            <a:prstDash val="solid"/>
          </a:ln>
        </p:spPr>
      </p:sp>
      <p:sp>
        <p:nvSpPr>
          <p:cNvPr id="39" name="text-59"/>
          <p:cNvSpPr txBox="1"/>
          <p:nvPr/>
        </p:nvSpPr>
        <p:spPr>
          <a:xfrm>
            <a:off x="1993392" y="5138928"/>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FastAPI service</a:t>
            </a:r>
            <a:endParaRPr lang="en-US" sz="1400" dirty="0"/>
          </a:p>
          <a:p>
            <a:pPr algn="ctr" indent="0" marL="0">
              <a:buNone/>
            </a:pPr>
            <a:r>
              <a:rPr lang="en-US" sz="1050" dirty="0">
                <a:solidFill>
                  <a:schemeClr val="tx1"/>
                </a:solidFill>
              </a:rPr>
              <a:t>/query · /ingest · /graph</a:t>
            </a:r>
            <a:endParaRPr lang="en-US" sz="1400" dirty="0"/>
          </a:p>
        </p:txBody>
      </p:sp>
      <p:sp>
        <p:nvSpPr>
          <p:cNvPr id="40" name="box-60"/>
          <p:cNvSpPr/>
          <p:nvPr/>
        </p:nvSpPr>
        <p:spPr>
          <a:xfrm>
            <a:off x="3662172" y="5102352"/>
            <a:ext cx="1632204" cy="822960"/>
          </a:xfrm>
          <a:prstGeom prst="roundRect">
            <a:avLst>
              <a:gd name="adj" fmla="val 8889"/>
            </a:avLst>
          </a:prstGeom>
          <a:solidFill>
            <a:schemeClr val="bg1"/>
          </a:solidFill>
          <a:ln w="15875">
            <a:solidFill>
              <a:schemeClr val="accent4"/>
            </a:solidFill>
            <a:prstDash val="solid"/>
          </a:ln>
        </p:spPr>
      </p:sp>
      <p:sp>
        <p:nvSpPr>
          <p:cNvPr id="41" name="text-61"/>
          <p:cNvSpPr txBox="1"/>
          <p:nvPr/>
        </p:nvSpPr>
        <p:spPr>
          <a:xfrm>
            <a:off x="3735324" y="5138928"/>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Dashboard</a:t>
            </a:r>
            <a:endParaRPr lang="en-US" sz="1400" dirty="0"/>
          </a:p>
          <a:p>
            <a:pPr algn="ctr" indent="0" marL="0">
              <a:buNone/>
            </a:pPr>
            <a:r>
              <a:rPr lang="en-US" sz="1050" dirty="0">
                <a:solidFill>
                  <a:schemeClr val="tx1"/>
                </a:solidFill>
              </a:rPr>
              <a:t>ask · add · structure</a:t>
            </a:r>
            <a:endParaRPr lang="en-US" sz="1400" dirty="0"/>
          </a:p>
        </p:txBody>
      </p:sp>
      <p:sp>
        <p:nvSpPr>
          <p:cNvPr id="42" name="box-62"/>
          <p:cNvSpPr/>
          <p:nvPr/>
        </p:nvSpPr>
        <p:spPr>
          <a:xfrm>
            <a:off x="5404104" y="5102352"/>
            <a:ext cx="1632204" cy="822960"/>
          </a:xfrm>
          <a:prstGeom prst="roundRect">
            <a:avLst>
              <a:gd name="adj" fmla="val 8889"/>
            </a:avLst>
          </a:prstGeom>
          <a:solidFill>
            <a:schemeClr val="bg1"/>
          </a:solidFill>
          <a:ln w="15875">
            <a:solidFill>
              <a:schemeClr val="accent4"/>
            </a:solidFill>
            <a:prstDash val="solid"/>
          </a:ln>
        </p:spPr>
      </p:sp>
      <p:sp>
        <p:nvSpPr>
          <p:cNvPr id="43" name="text-63"/>
          <p:cNvSpPr txBox="1"/>
          <p:nvPr/>
        </p:nvSpPr>
        <p:spPr>
          <a:xfrm>
            <a:off x="5477256" y="5138928"/>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Graph explorer</a:t>
            </a:r>
            <a:endParaRPr lang="en-US" sz="1400" dirty="0"/>
          </a:p>
          <a:p>
            <a:pPr algn="ctr" indent="0" marL="0">
              <a:buNone/>
            </a:pPr>
            <a:r>
              <a:rPr lang="en-US" sz="1050" dirty="0">
                <a:solidFill>
                  <a:schemeClr val="tx1"/>
                </a:solidFill>
              </a:rPr>
              <a:t>import &amp; match</a:t>
            </a:r>
            <a:endParaRPr lang="en-US" sz="1400" dirty="0"/>
          </a:p>
        </p:txBody>
      </p:sp>
      <p:sp>
        <p:nvSpPr>
          <p:cNvPr id="44" name="box-64"/>
          <p:cNvSpPr/>
          <p:nvPr/>
        </p:nvSpPr>
        <p:spPr>
          <a:xfrm>
            <a:off x="7146036" y="5102352"/>
            <a:ext cx="1632204" cy="822960"/>
          </a:xfrm>
          <a:prstGeom prst="roundRect">
            <a:avLst>
              <a:gd name="adj" fmla="val 8889"/>
            </a:avLst>
          </a:prstGeom>
          <a:solidFill>
            <a:schemeClr val="bg1"/>
          </a:solidFill>
          <a:ln w="15875">
            <a:solidFill>
              <a:schemeClr val="accent4"/>
            </a:solidFill>
            <a:prstDash val="solid"/>
          </a:ln>
        </p:spPr>
      </p:sp>
      <p:sp>
        <p:nvSpPr>
          <p:cNvPr id="45" name="text-65"/>
          <p:cNvSpPr txBox="1"/>
          <p:nvPr/>
        </p:nvSpPr>
        <p:spPr>
          <a:xfrm>
            <a:off x="7219188" y="5138928"/>
            <a:ext cx="1485900" cy="749808"/>
          </a:xfrm>
          <a:prstGeom prst="rect">
            <a:avLst/>
          </a:prstGeom>
          <a:noFill/>
          <a:ln/>
        </p:spPr>
        <p:txBody>
          <a:bodyPr wrap="square" lIns="0" tIns="0" rIns="0" bIns="0" rtlCol="0" anchor="ctr"/>
          <a:lstStyle/>
          <a:p>
            <a:pPr algn="ctr" indent="0" marL="0">
              <a:buNone/>
            </a:pPr>
            <a:r>
              <a:rPr lang="en-US" sz="1200" b="1" dirty="0">
                <a:solidFill>
                  <a:schemeClr val="tx1"/>
                </a:solidFill>
              </a:rPr>
              <a:t>CLI scripts</a:t>
            </a:r>
            <a:endParaRPr lang="en-US" sz="1400" dirty="0"/>
          </a:p>
          <a:p>
            <a:pPr algn="ctr" indent="0" marL="0">
              <a:buNone/>
            </a:pPr>
            <a:r>
              <a:rPr lang="en-US" sz="1050" dirty="0">
                <a:solidFill>
                  <a:schemeClr val="tx1"/>
                </a:solidFill>
              </a:rPr>
              <a:t>build · ask · evaluate</a:t>
            </a:r>
            <a:endParaRPr lang="en-US" sz="14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Phase 1 Construction Pipeline</a:t>
            </a:r>
            <a:endParaRPr lang="en-US" sz="2600" dirty="0"/>
          </a:p>
        </p:txBody>
      </p:sp>
      <p:sp>
        <p:nvSpPr>
          <p:cNvPr id="3" name="bullets-66"/>
          <p:cNvSpPr txBox="1"/>
          <p:nvPr/>
        </p:nvSpPr>
        <p:spPr>
          <a:xfrm>
            <a:off x="411480" y="868680"/>
            <a:ext cx="8321040" cy="5577840"/>
          </a:xfrm>
          <a:prstGeom prst="rect">
            <a:avLst/>
          </a:prstGeom>
          <a:noFill/>
          <a:ln/>
        </p:spPr>
        <p:txBody>
          <a:bodyPr wrap="square" lIns="0" tIns="0" rIns="0" bIns="0" rtlCol="0" anchor="ctr"/>
          <a:lstStyle/>
          <a:p>
            <a:pPr marL="209550" indent="-209550">
              <a:spcAft>
                <a:spcPts val="400"/>
              </a:spcAft>
              <a:buClr>
                <a:schemeClr val="accent1"/>
              </a:buClr>
              <a:buSzPct val="100000"/>
              <a:buChar char="●"/>
            </a:pPr>
            <a:r>
              <a:rPr lang="en-US" sz="1500" b="1" dirty="0">
                <a:solidFill>
                  <a:schemeClr val="tx1"/>
                </a:solidFill>
              </a:rPr>
              <a:t>1. FETCH</a:t>
            </a:r>
            <a:r>
              <a:rPr lang="en-US" sz="1500" dirty="0">
                <a:solidFill>
                  <a:schemeClr val="tx1"/>
                </a:solidFill>
              </a:rPr>
              <a:t> (</a:t>
            </a:r>
            <a:r>
              <a:rPr lang="en-US" sz="1500" dirty="0">
                <a:solidFill>
                  <a:schemeClr val="tx1"/>
                </a:solidFill>
                <a:latin typeface="Courier New" pitchFamily="34" charset="0"/>
                <a:ea typeface="Courier New" pitchFamily="34" charset="-122"/>
                <a:cs typeface="Courier New" pitchFamily="34" charset="-120"/>
              </a:rPr>
              <a:t>mp_client.py</a:t>
            </a:r>
            <a:r>
              <a:rPr lang="en-US" sz="1500" dirty="0">
                <a:solidFill>
                  <a:schemeClr val="tx1"/>
                </a:solidFill>
              </a:rPr>
              <a:t>) — one query per cluster pattern, sorted by stability; deduplicate by formula; cache to </a:t>
            </a:r>
            <a:r>
              <a:rPr lang="en-US" sz="1500" dirty="0">
                <a:solidFill>
                  <a:schemeClr val="tx1"/>
                </a:solidFill>
                <a:latin typeface="Courier New" pitchFamily="34" charset="0"/>
                <a:ea typeface="Courier New" pitchFamily="34" charset="-122"/>
                <a:cs typeface="Courier New" pitchFamily="34" charset="-120"/>
              </a:rPr>
              <a:t>data/raw/</a:t>
            </a:r>
            <a:r>
              <a:rPr lang="en-US" sz="1500" dirty="0">
                <a:solidFill>
                  <a:schemeClr val="tx1"/>
                </a:solidFill>
              </a:rPr>
              <a:t> for reproducibility.</a:t>
            </a:r>
            <a:endParaRPr lang="en-US" sz="1500" dirty="0"/>
          </a:p>
          <a:p>
            <a:pPr marL="209550" indent="-209550">
              <a:spcAft>
                <a:spcPts val="400"/>
              </a:spcAft>
              <a:buClr>
                <a:schemeClr val="accent1"/>
              </a:buClr>
              <a:buSzPct val="100000"/>
              <a:buChar char="●"/>
            </a:pPr>
            <a:r>
              <a:rPr lang="en-US" sz="1500" b="1" dirty="0">
                <a:solidFill>
                  <a:schemeClr val="tx1"/>
                </a:solidFill>
              </a:rPr>
              <a:t>2. ENRICH</a:t>
            </a:r>
            <a:r>
              <a:rPr lang="en-US" sz="1500" dirty="0">
                <a:solidFill>
                  <a:schemeClr val="tx1"/>
                </a:solidFill>
              </a:rPr>
              <a:t> (</a:t>
            </a:r>
            <a:r>
              <a:rPr lang="en-US" sz="1500" dirty="0">
                <a:solidFill>
                  <a:schemeClr val="tx1"/>
                </a:solidFill>
                <a:latin typeface="Courier New" pitchFamily="34" charset="0"/>
                <a:ea typeface="Courier New" pitchFamily="34" charset="-122"/>
                <a:cs typeface="Courier New" pitchFamily="34" charset="-120"/>
              </a:rPr>
              <a:t>enrich.py</a:t>
            </a:r>
            <a:r>
              <a:rPr lang="en-US" sz="1500" dirty="0">
                <a:solidFill>
                  <a:schemeClr val="tx1"/>
                </a:solidFill>
              </a:rPr>
              <a:t>) — </a:t>
            </a:r>
            <a:r>
              <a:rPr lang="en-US" sz="1500" b="1" dirty="0">
                <a:solidFill>
                  <a:schemeClr val="tx1"/>
                </a:solidFill>
              </a:rPr>
              <a:t>no LLM</a:t>
            </a:r>
            <a:r>
              <a:rPr lang="en-US" sz="1500" dirty="0">
                <a:solidFill>
                  <a:schemeClr val="tx1"/>
                </a:solidFill>
              </a:rPr>
              <a:t>: classify band gap / stability / magnetic ordering into buckets, apply application-domain rules, compute </a:t>
            </a:r>
            <a:r>
              <a:rPr lang="en-US" sz="1500" dirty="0">
                <a:solidFill>
                  <a:schemeClr val="tx1"/>
                </a:solidFill>
                <a:latin typeface="Courier New" pitchFamily="34" charset="0"/>
                <a:ea typeface="Courier New" pitchFamily="34" charset="-122"/>
                <a:cs typeface="Courier New" pitchFamily="34" charset="-120"/>
              </a:rPr>
              <a:t>similar_to</a:t>
            </a:r>
            <a:r>
              <a:rPr lang="en-US" sz="1500" dirty="0">
                <a:solidFill>
                  <a:schemeClr val="tx1"/>
                </a:solidFill>
              </a:rPr>
              <a:t> neighbours.</a:t>
            </a:r>
            <a:endParaRPr lang="en-US" sz="1500" dirty="0"/>
          </a:p>
          <a:p>
            <a:pPr marL="209550" indent="-209550">
              <a:spcAft>
                <a:spcPts val="400"/>
              </a:spcAft>
              <a:buClr>
                <a:schemeClr val="accent1"/>
              </a:buClr>
              <a:buSzPct val="100000"/>
              <a:buChar char="●"/>
            </a:pPr>
            <a:r>
              <a:rPr lang="en-US" sz="1500" b="1" dirty="0">
                <a:solidFill>
                  <a:schemeClr val="tx1"/>
                </a:solidFill>
              </a:rPr>
              <a:t>3. WRITE</a:t>
            </a:r>
            <a:r>
              <a:rPr lang="en-US" sz="1500" dirty="0">
                <a:solidFill>
                  <a:schemeClr val="tx1"/>
                </a:solidFill>
              </a:rPr>
              <a:t> (</a:t>
            </a:r>
            <a:r>
              <a:rPr lang="en-US" sz="1500" dirty="0">
                <a:solidFill>
                  <a:schemeClr val="tx1"/>
                </a:solidFill>
                <a:latin typeface="Courier New" pitchFamily="34" charset="0"/>
                <a:ea typeface="Courier New" pitchFamily="34" charset="-122"/>
                <a:cs typeface="Courier New" pitchFamily="34" charset="-120"/>
              </a:rPr>
              <a:t>pipeline.py</a:t>
            </a:r>
            <a:r>
              <a:rPr lang="en-US" sz="1500" dirty="0">
                <a:solidFill>
                  <a:schemeClr val="tx1"/>
                </a:solidFill>
              </a:rPr>
              <a:t>) — Cognee pipeline writes the graph store and vector store together, deduplicating on each node’s identity key.</a:t>
            </a:r>
            <a:endParaRPr lang="en-US" sz="1500" dirty="0"/>
          </a:p>
          <a:p>
            <a:pPr marL="209550" indent="-209550">
              <a:spcAft>
                <a:spcPts val="400"/>
              </a:spcAft>
              <a:buClr>
                <a:schemeClr val="accent1"/>
              </a:buClr>
              <a:buSzPct val="100000"/>
              <a:buChar char="●"/>
            </a:pPr>
            <a:r>
              <a:rPr lang="en-US" sz="1500" b="1" dirty="0">
                <a:solidFill>
                  <a:schemeClr val="tx1"/>
                </a:solidFill>
              </a:rPr>
              <a:t>4. VERIFY</a:t>
            </a:r>
            <a:r>
              <a:rPr lang="en-US" sz="1500" dirty="0">
                <a:solidFill>
                  <a:schemeClr val="tx1"/>
                </a:solidFill>
              </a:rPr>
              <a:t> (</a:t>
            </a:r>
            <a:r>
              <a:rPr lang="en-US" sz="1500" dirty="0">
                <a:solidFill>
                  <a:schemeClr val="tx1"/>
                </a:solidFill>
                <a:latin typeface="Courier New" pitchFamily="34" charset="0"/>
                <a:ea typeface="Courier New" pitchFamily="34" charset="-122"/>
                <a:cs typeface="Courier New" pitchFamily="34" charset="-120"/>
              </a:rPr>
              <a:t>verify.py</a:t>
            </a:r>
            <a:r>
              <a:rPr lang="en-US" sz="1500" dirty="0">
                <a:solidFill>
                  <a:schemeClr val="tx1"/>
                </a:solidFill>
              </a:rPr>
              <a:t>) — node/edge counts and structural queries read directly from the graph store; renders an interactive visualization.</a:t>
            </a:r>
            <a:endParaRPr lang="en-US" sz="1500" dirty="0"/>
          </a:p>
          <a:p>
            <a:pPr indent="0" marL="0">
              <a:spcBef>
                <a:spcPts val="800"/>
              </a:spcBef>
              <a:spcAft>
                <a:spcPts val="400"/>
              </a:spcAft>
              <a:buNone/>
            </a:pPr>
            <a:r>
              <a:rPr lang="en-US" sz="1500" b="1" dirty="0">
                <a:solidFill>
                  <a:schemeClr val="tx1"/>
                </a:solidFill>
              </a:rPr>
              <a:t>Grouping mechanisms (all deterministic):</a:t>
            </a:r>
            <a:endParaRPr lang="en-US" sz="1500" dirty="0"/>
          </a:p>
          <a:p>
            <a:pPr marL="209550" indent="-209550">
              <a:spcAft>
                <a:spcPts val="400"/>
              </a:spcAft>
              <a:buClr>
                <a:schemeClr val="accent1"/>
              </a:buClr>
              <a:buSzPct val="100000"/>
              <a:buChar char="●"/>
            </a:pPr>
            <a:r>
              <a:rPr lang="en-US" sz="1500" b="1" dirty="0">
                <a:solidFill>
                  <a:schemeClr val="tx1"/>
                </a:solidFill>
              </a:rPr>
              <a:t>Buckets:</a:t>
            </a:r>
            <a:r>
              <a:rPr lang="en-US" sz="1500" dirty="0">
                <a:solidFill>
                  <a:schemeClr val="tx1"/>
                </a:solidFill>
              </a:rPr>
              <a:t> band gap (metal / narrow / semiconductor / wide), stability (stable / metastable / unstable), magnetic ordering.</a:t>
            </a:r>
            <a:endParaRPr lang="en-US" sz="1500" dirty="0"/>
          </a:p>
          <a:p>
            <a:pPr marL="209550" indent="-209550">
              <a:spcAft>
                <a:spcPts val="400"/>
              </a:spcAft>
              <a:buClr>
                <a:schemeClr val="accent1"/>
              </a:buClr>
              <a:buSzPct val="100000"/>
              <a:buChar char="●"/>
            </a:pPr>
            <a:r>
              <a:rPr lang="en-US" sz="1500" b="1" dirty="0">
                <a:solidFill>
                  <a:schemeClr val="tx1"/>
                </a:solidFill>
              </a:rPr>
              <a:t>Domain rules:</a:t>
            </a:r>
            <a:r>
              <a:rPr lang="en-US" sz="1500" dirty="0">
                <a:solidFill>
                  <a:schemeClr val="tx1"/>
                </a:solidFill>
              </a:rPr>
              <a:t> battery cathode, semiconductor device, photocatalyst, dielectric, magnetic material — each rule’s text stored on the edge.</a:t>
            </a:r>
            <a:endParaRPr lang="en-US" sz="1500" dirty="0"/>
          </a:p>
          <a:p>
            <a:pPr marL="209550" indent="-209550">
              <a:spcAft>
                <a:spcPts val="400"/>
              </a:spcAft>
              <a:buClr>
                <a:schemeClr val="accent1"/>
              </a:buClr>
              <a:buSzPct val="100000"/>
              <a:buChar char="●"/>
            </a:pPr>
            <a:r>
              <a:rPr lang="en-US" sz="1500" b="1" dirty="0">
                <a:solidFill>
                  <a:schemeClr val="tx1"/>
                </a:solidFill>
              </a:rPr>
              <a:t>Categorical fields:</a:t>
            </a:r>
            <a:r>
              <a:rPr lang="en-US" sz="1500" dirty="0">
                <a:solidFill>
                  <a:schemeClr val="tx1"/>
                </a:solidFill>
              </a:rPr>
              <a:t> oxidation states and formula patterns group directly, no thresholds needed.</a:t>
            </a:r>
            <a:endParaRPr lang="en-US" sz="15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Phase 1 Architecture</a:t>
            </a:r>
            <a:endParaRPr lang="en-US" sz="2600" dirty="0"/>
          </a:p>
        </p:txBody>
      </p:sp>
      <p:sp>
        <p:nvSpPr>
          <p:cNvPr id="3" name="box-67"/>
          <p:cNvSpPr/>
          <p:nvPr/>
        </p:nvSpPr>
        <p:spPr>
          <a:xfrm>
            <a:off x="411480" y="960120"/>
            <a:ext cx="2103120" cy="658368"/>
          </a:xfrm>
          <a:prstGeom prst="roundRect">
            <a:avLst>
              <a:gd name="adj" fmla="val 11111"/>
            </a:avLst>
          </a:prstGeom>
          <a:solidFill>
            <a:schemeClr val="accent5">
              <a:alpha val="18000"/>
            </a:schemeClr>
          </a:solidFill>
          <a:ln w="15875">
            <a:solidFill>
              <a:schemeClr val="accent5"/>
            </a:solidFill>
            <a:prstDash val="solid"/>
          </a:ln>
        </p:spPr>
      </p:sp>
      <p:sp>
        <p:nvSpPr>
          <p:cNvPr id="4" name="text-68"/>
          <p:cNvSpPr txBox="1"/>
          <p:nvPr/>
        </p:nvSpPr>
        <p:spPr>
          <a:xfrm>
            <a:off x="484632" y="996696"/>
            <a:ext cx="1956816" cy="585216"/>
          </a:xfrm>
          <a:prstGeom prst="rect">
            <a:avLst/>
          </a:prstGeom>
          <a:noFill/>
          <a:ln/>
        </p:spPr>
        <p:txBody>
          <a:bodyPr wrap="square" lIns="0" tIns="0" rIns="0" bIns="0" rtlCol="0" anchor="ctr"/>
          <a:lstStyle/>
          <a:p>
            <a:pPr algn="ctr" indent="0" marL="0">
              <a:buNone/>
            </a:pPr>
            <a:r>
              <a:rPr lang="en-US" sz="1200" b="1" dirty="0">
                <a:solidFill>
                  <a:schemeClr val="tx1"/>
                </a:solidFill>
              </a:rPr>
              <a:t>Materials Project API</a:t>
            </a:r>
            <a:endParaRPr lang="en-US" sz="1400" dirty="0"/>
          </a:p>
          <a:p>
            <a:pPr algn="ctr" indent="0" marL="0">
              <a:buNone/>
            </a:pPr>
            <a:r>
              <a:rPr lang="en-US" sz="1000" dirty="0">
                <a:solidFill>
                  <a:schemeClr val="tx1"/>
                </a:solidFill>
              </a:rPr>
              <a:t>154,377 inorganic materials</a:t>
            </a:r>
            <a:endParaRPr lang="en-US" sz="1400" dirty="0"/>
          </a:p>
        </p:txBody>
      </p:sp>
      <p:sp>
        <p:nvSpPr>
          <p:cNvPr id="5" name="edge-69"/>
          <p:cNvSpPr/>
          <p:nvPr/>
        </p:nvSpPr>
        <p:spPr>
          <a:xfrm>
            <a:off x="1463040" y="1618488"/>
            <a:ext cx="0" cy="274320"/>
          </a:xfrm>
          <a:prstGeom prst="line">
            <a:avLst/>
          </a:prstGeom>
          <a:noFill/>
          <a:ln w="22225">
            <a:solidFill>
              <a:srgbClr val="555555"/>
            </a:solidFill>
            <a:prstDash val="solid"/>
            <a:tailEnd type="triangle"/>
          </a:ln>
        </p:spPr>
      </p:sp>
      <p:sp>
        <p:nvSpPr>
          <p:cNvPr id="6" name="box-70"/>
          <p:cNvSpPr/>
          <p:nvPr/>
        </p:nvSpPr>
        <p:spPr>
          <a:xfrm>
            <a:off x="411480" y="1892808"/>
            <a:ext cx="2103120" cy="658368"/>
          </a:xfrm>
          <a:prstGeom prst="roundRect">
            <a:avLst>
              <a:gd name="adj" fmla="val 11111"/>
            </a:avLst>
          </a:prstGeom>
          <a:solidFill>
            <a:schemeClr val="accent3">
              <a:alpha val="18000"/>
            </a:schemeClr>
          </a:solidFill>
          <a:ln w="15875">
            <a:solidFill>
              <a:schemeClr val="accent3"/>
            </a:solidFill>
            <a:prstDash val="solid"/>
          </a:ln>
        </p:spPr>
      </p:sp>
      <p:sp>
        <p:nvSpPr>
          <p:cNvPr id="7" name="text-71"/>
          <p:cNvSpPr txBox="1"/>
          <p:nvPr/>
        </p:nvSpPr>
        <p:spPr>
          <a:xfrm>
            <a:off x="484632" y="1929384"/>
            <a:ext cx="1956816" cy="585216"/>
          </a:xfrm>
          <a:prstGeom prst="rect">
            <a:avLst/>
          </a:prstGeom>
          <a:noFill/>
          <a:ln/>
        </p:spPr>
        <p:txBody>
          <a:bodyPr wrap="square" lIns="0" tIns="0" rIns="0" bIns="0" rtlCol="0" anchor="ctr"/>
          <a:lstStyle/>
          <a:p>
            <a:pPr algn="ctr" indent="0" marL="0">
              <a:buNone/>
            </a:pPr>
            <a:r>
              <a:rPr lang="en-US" sz="1200" b="1" dirty="0">
                <a:solidFill>
                  <a:schemeClr val="tx1"/>
                </a:solidFill>
              </a:rPr>
              <a:t>1 · FETCH</a:t>
            </a:r>
            <a:endParaRPr lang="en-US" sz="1400" dirty="0"/>
          </a:p>
          <a:p>
            <a:pPr algn="ctr" indent="0" marL="0">
              <a:buNone/>
            </a:pPr>
            <a:r>
              <a:rPr lang="en-US" sz="1000" dirty="0">
                <a:solidFill>
                  <a:schemeClr val="tx1"/>
                </a:solidFill>
              </a:rPr>
              <a:t>cluster queries · dedupe by formula</a:t>
            </a:r>
            <a:endParaRPr lang="en-US" sz="1400" dirty="0"/>
          </a:p>
        </p:txBody>
      </p:sp>
      <p:sp>
        <p:nvSpPr>
          <p:cNvPr id="8" name="edge-72"/>
          <p:cNvSpPr/>
          <p:nvPr/>
        </p:nvSpPr>
        <p:spPr>
          <a:xfrm>
            <a:off x="1463040" y="2551176"/>
            <a:ext cx="0" cy="274320"/>
          </a:xfrm>
          <a:prstGeom prst="line">
            <a:avLst/>
          </a:prstGeom>
          <a:noFill/>
          <a:ln w="22225">
            <a:solidFill>
              <a:srgbClr val="555555"/>
            </a:solidFill>
            <a:prstDash val="solid"/>
            <a:tailEnd type="triangle"/>
          </a:ln>
        </p:spPr>
      </p:sp>
      <p:sp>
        <p:nvSpPr>
          <p:cNvPr id="9" name="box-73"/>
          <p:cNvSpPr/>
          <p:nvPr/>
        </p:nvSpPr>
        <p:spPr>
          <a:xfrm>
            <a:off x="411480" y="2825496"/>
            <a:ext cx="2103120" cy="658368"/>
          </a:xfrm>
          <a:prstGeom prst="can">
            <a:avLst>
              <a:gd name="adj" fmla="val 11111"/>
            </a:avLst>
          </a:prstGeom>
          <a:solidFill>
            <a:schemeClr val="accent4">
              <a:alpha val="18000"/>
            </a:schemeClr>
          </a:solidFill>
          <a:ln w="15875">
            <a:solidFill>
              <a:schemeClr val="accent4"/>
            </a:solidFill>
            <a:prstDash val="solid"/>
          </a:ln>
        </p:spPr>
      </p:sp>
      <p:sp>
        <p:nvSpPr>
          <p:cNvPr id="10" name="text-74"/>
          <p:cNvSpPr txBox="1"/>
          <p:nvPr/>
        </p:nvSpPr>
        <p:spPr>
          <a:xfrm>
            <a:off x="484632" y="2862072"/>
            <a:ext cx="1956816" cy="585216"/>
          </a:xfrm>
          <a:prstGeom prst="rect">
            <a:avLst/>
          </a:prstGeom>
          <a:noFill/>
          <a:ln/>
        </p:spPr>
        <p:txBody>
          <a:bodyPr wrap="square" lIns="0" tIns="0" rIns="0" bIns="0" rtlCol="0" anchor="ctr"/>
          <a:lstStyle/>
          <a:p>
            <a:pPr algn="ctr" indent="0" marL="0">
              <a:buNone/>
            </a:pPr>
            <a:r>
              <a:rPr lang="en-US" sz="1200" b="1" dirty="0">
                <a:solidFill>
                  <a:schemeClr val="tx1"/>
                </a:solidFill>
              </a:rPr>
              <a:t>794 cached records</a:t>
            </a:r>
            <a:endParaRPr lang="en-US" sz="1400" dirty="0"/>
          </a:p>
          <a:p>
            <a:pPr algn="ctr" indent="0" marL="0">
              <a:buNone/>
            </a:pPr>
            <a:r>
              <a:rPr lang="en-US" sz="1000" dirty="0">
                <a:solidFill>
                  <a:schemeClr val="tx1"/>
                </a:solidFill>
              </a:rPr>
              <a:t>properties + crystal structures</a:t>
            </a:r>
            <a:endParaRPr lang="en-US" sz="1400" dirty="0"/>
          </a:p>
        </p:txBody>
      </p:sp>
      <p:sp>
        <p:nvSpPr>
          <p:cNvPr id="11" name="edge-75"/>
          <p:cNvSpPr/>
          <p:nvPr/>
        </p:nvSpPr>
        <p:spPr>
          <a:xfrm>
            <a:off x="1463040" y="3483864"/>
            <a:ext cx="0" cy="274320"/>
          </a:xfrm>
          <a:prstGeom prst="line">
            <a:avLst/>
          </a:prstGeom>
          <a:noFill/>
          <a:ln w="22225">
            <a:solidFill>
              <a:srgbClr val="555555"/>
            </a:solidFill>
            <a:prstDash val="solid"/>
            <a:tailEnd type="triangle"/>
          </a:ln>
        </p:spPr>
      </p:sp>
      <p:sp>
        <p:nvSpPr>
          <p:cNvPr id="12" name="box-76"/>
          <p:cNvSpPr/>
          <p:nvPr/>
        </p:nvSpPr>
        <p:spPr>
          <a:xfrm>
            <a:off x="411480" y="3758184"/>
            <a:ext cx="2103120" cy="658368"/>
          </a:xfrm>
          <a:prstGeom prst="roundRect">
            <a:avLst>
              <a:gd name="adj" fmla="val 11111"/>
            </a:avLst>
          </a:prstGeom>
          <a:solidFill>
            <a:schemeClr val="accent3">
              <a:alpha val="18000"/>
            </a:schemeClr>
          </a:solidFill>
          <a:ln w="15875">
            <a:solidFill>
              <a:schemeClr val="accent3"/>
            </a:solidFill>
            <a:prstDash val="solid"/>
          </a:ln>
        </p:spPr>
      </p:sp>
      <p:sp>
        <p:nvSpPr>
          <p:cNvPr id="13" name="text-77"/>
          <p:cNvSpPr txBox="1"/>
          <p:nvPr/>
        </p:nvSpPr>
        <p:spPr>
          <a:xfrm>
            <a:off x="484632" y="3794760"/>
            <a:ext cx="1956816" cy="585216"/>
          </a:xfrm>
          <a:prstGeom prst="rect">
            <a:avLst/>
          </a:prstGeom>
          <a:noFill/>
          <a:ln/>
        </p:spPr>
        <p:txBody>
          <a:bodyPr wrap="square" lIns="0" tIns="0" rIns="0" bIns="0" rtlCol="0" anchor="ctr"/>
          <a:lstStyle/>
          <a:p>
            <a:pPr algn="ctr" indent="0" marL="0">
              <a:buNone/>
            </a:pPr>
            <a:r>
              <a:rPr lang="en-US" sz="1200" b="1" dirty="0">
                <a:solidFill>
                  <a:schemeClr val="tx1"/>
                </a:solidFill>
              </a:rPr>
              <a:t>2 · ENRICH  (no LLM)</a:t>
            </a:r>
            <a:endParaRPr lang="en-US" sz="1400" dirty="0"/>
          </a:p>
          <a:p>
            <a:pPr algn="ctr" indent="0" marL="0">
              <a:buNone/>
            </a:pPr>
            <a:r>
              <a:rPr lang="en-US" sz="1000" dirty="0">
                <a:solidFill>
                  <a:schemeClr val="tx1"/>
                </a:solidFill>
              </a:rPr>
              <a:t>buckets · domain rules · similar_to</a:t>
            </a:r>
            <a:endParaRPr lang="en-US" sz="1400" dirty="0"/>
          </a:p>
        </p:txBody>
      </p:sp>
      <p:sp>
        <p:nvSpPr>
          <p:cNvPr id="14" name="edge-78"/>
          <p:cNvSpPr/>
          <p:nvPr/>
        </p:nvSpPr>
        <p:spPr>
          <a:xfrm>
            <a:off x="1463040" y="4416552"/>
            <a:ext cx="0" cy="274320"/>
          </a:xfrm>
          <a:prstGeom prst="line">
            <a:avLst/>
          </a:prstGeom>
          <a:noFill/>
          <a:ln w="22225">
            <a:solidFill>
              <a:srgbClr val="555555"/>
            </a:solidFill>
            <a:prstDash val="solid"/>
            <a:tailEnd type="triangle"/>
          </a:ln>
        </p:spPr>
      </p:sp>
      <p:sp>
        <p:nvSpPr>
          <p:cNvPr id="15" name="box-79"/>
          <p:cNvSpPr/>
          <p:nvPr/>
        </p:nvSpPr>
        <p:spPr>
          <a:xfrm>
            <a:off x="411480" y="4690872"/>
            <a:ext cx="2103120" cy="658368"/>
          </a:xfrm>
          <a:prstGeom prst="roundRect">
            <a:avLst>
              <a:gd name="adj" fmla="val 11111"/>
            </a:avLst>
          </a:prstGeom>
          <a:solidFill>
            <a:schemeClr val="accent3">
              <a:alpha val="18000"/>
            </a:schemeClr>
          </a:solidFill>
          <a:ln w="15875">
            <a:solidFill>
              <a:schemeClr val="accent3"/>
            </a:solidFill>
            <a:prstDash val="solid"/>
          </a:ln>
        </p:spPr>
      </p:sp>
      <p:sp>
        <p:nvSpPr>
          <p:cNvPr id="16" name="text-80"/>
          <p:cNvSpPr txBox="1"/>
          <p:nvPr/>
        </p:nvSpPr>
        <p:spPr>
          <a:xfrm>
            <a:off x="484632" y="4727448"/>
            <a:ext cx="1956816" cy="585216"/>
          </a:xfrm>
          <a:prstGeom prst="rect">
            <a:avLst/>
          </a:prstGeom>
          <a:noFill/>
          <a:ln/>
        </p:spPr>
        <p:txBody>
          <a:bodyPr wrap="square" lIns="0" tIns="0" rIns="0" bIns="0" rtlCol="0" anchor="ctr"/>
          <a:lstStyle/>
          <a:p>
            <a:pPr algn="ctr" indent="0" marL="0">
              <a:buNone/>
            </a:pPr>
            <a:r>
              <a:rPr lang="en-US" sz="1200" b="1" dirty="0">
                <a:solidFill>
                  <a:schemeClr val="tx1"/>
                </a:solidFill>
              </a:rPr>
              <a:t>3 · BUILD GRAPH</a:t>
            </a:r>
            <a:endParaRPr lang="en-US" sz="1400" dirty="0"/>
          </a:p>
          <a:p>
            <a:pPr algn="ctr" indent="0" marL="0">
              <a:buNone/>
            </a:pPr>
            <a:r>
              <a:rPr lang="en-US" sz="1000" dirty="0">
                <a:solidFill>
                  <a:schemeClr val="tx1"/>
                </a:solidFill>
              </a:rPr>
              <a:t>Cognee pipeline → Kuzu + LanceDB</a:t>
            </a:r>
            <a:endParaRPr lang="en-US" sz="1400" dirty="0"/>
          </a:p>
        </p:txBody>
      </p:sp>
      <p:sp>
        <p:nvSpPr>
          <p:cNvPr id="17" name="knowledge-graph-81"/>
          <p:cNvSpPr/>
          <p:nvPr/>
        </p:nvSpPr>
        <p:spPr>
          <a:xfrm>
            <a:off x="2971800" y="2423160"/>
            <a:ext cx="3657600" cy="3401568"/>
          </a:xfrm>
          <a:prstGeom prst="roundRect">
            <a:avLst>
              <a:gd name="adj" fmla="val 2151"/>
            </a:avLst>
          </a:prstGeom>
          <a:solidFill>
            <a:schemeClr val="accent3">
              <a:alpha val="12000"/>
            </a:schemeClr>
          </a:solidFill>
          <a:ln w="28575">
            <a:solidFill>
              <a:schemeClr val="accent3"/>
            </a:solidFill>
            <a:prstDash val="solid"/>
          </a:ln>
        </p:spPr>
      </p:sp>
      <p:sp>
        <p:nvSpPr>
          <p:cNvPr id="18" name="text-82"/>
          <p:cNvSpPr txBox="1"/>
          <p:nvPr/>
        </p:nvSpPr>
        <p:spPr>
          <a:xfrm>
            <a:off x="3063240" y="2532888"/>
            <a:ext cx="3474720" cy="594360"/>
          </a:xfrm>
          <a:prstGeom prst="rect">
            <a:avLst/>
          </a:prstGeom>
          <a:noFill/>
          <a:ln/>
        </p:spPr>
        <p:txBody>
          <a:bodyPr wrap="square" lIns="0" tIns="0" rIns="0" bIns="0" rtlCol="0" anchor="t"/>
          <a:lstStyle/>
          <a:p>
            <a:pPr algn="ctr" indent="0" marL="0">
              <a:buNone/>
            </a:pPr>
            <a:r>
              <a:rPr lang="en-US" sz="1400" b="1" dirty="0">
                <a:solidFill>
                  <a:schemeClr val="tx1"/>
                </a:solidFill>
              </a:rPr>
              <a:t>MATERIALS KNOWLEDGE GRAPH</a:t>
            </a:r>
            <a:endParaRPr lang="en-US" sz="1400" dirty="0"/>
          </a:p>
          <a:p>
            <a:pPr algn="ctr" indent="0" marL="0">
              <a:buNone/>
            </a:pPr>
            <a:r>
              <a:rPr lang="en-US" sz="1300" b="1" dirty="0">
                <a:solidFill>
                  <a:schemeClr val="accent1"/>
                </a:solidFill>
              </a:rPr>
              <a:t>1,504 nodes · 14,686 edges</a:t>
            </a:r>
            <a:endParaRPr lang="en-US" sz="1400" dirty="0"/>
          </a:p>
        </p:txBody>
      </p:sp>
      <p:sp>
        <p:nvSpPr>
          <p:cNvPr id="19" name="pill-83"/>
          <p:cNvSpPr/>
          <p:nvPr/>
        </p:nvSpPr>
        <p:spPr>
          <a:xfrm>
            <a:off x="3154680" y="3291840"/>
            <a:ext cx="16002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Material 794</a:t>
            </a:r>
            <a:endParaRPr lang="en-US" sz="1050" dirty="0"/>
          </a:p>
        </p:txBody>
      </p:sp>
      <p:sp>
        <p:nvSpPr>
          <p:cNvPr id="20" name="pill-84"/>
          <p:cNvSpPr/>
          <p:nvPr/>
        </p:nvSpPr>
        <p:spPr>
          <a:xfrm>
            <a:off x="4846320" y="3291840"/>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FormulaPattern 261</a:t>
            </a:r>
            <a:endParaRPr lang="en-US" sz="1050" dirty="0"/>
          </a:p>
        </p:txBody>
      </p:sp>
      <p:sp>
        <p:nvSpPr>
          <p:cNvPr id="21" name="pill-85"/>
          <p:cNvSpPr/>
          <p:nvPr/>
        </p:nvSpPr>
        <p:spPr>
          <a:xfrm>
            <a:off x="3154680" y="3767328"/>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ChemicalSystem 143</a:t>
            </a:r>
            <a:endParaRPr lang="en-US" sz="1050" dirty="0"/>
          </a:p>
        </p:txBody>
      </p:sp>
      <p:sp>
        <p:nvSpPr>
          <p:cNvPr id="22" name="pill-86"/>
          <p:cNvSpPr/>
          <p:nvPr/>
        </p:nvSpPr>
        <p:spPr>
          <a:xfrm>
            <a:off x="4846320" y="3767328"/>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OxidationState 131</a:t>
            </a:r>
            <a:endParaRPr lang="en-US" sz="1050" dirty="0"/>
          </a:p>
        </p:txBody>
      </p:sp>
      <p:sp>
        <p:nvSpPr>
          <p:cNvPr id="23" name="pill-87"/>
          <p:cNvSpPr/>
          <p:nvPr/>
        </p:nvSpPr>
        <p:spPr>
          <a:xfrm>
            <a:off x="3154680" y="4242816"/>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SpaceGroup 106</a:t>
            </a:r>
            <a:endParaRPr lang="en-US" sz="1050" dirty="0"/>
          </a:p>
        </p:txBody>
      </p:sp>
      <p:sp>
        <p:nvSpPr>
          <p:cNvPr id="24" name="pill-88"/>
          <p:cNvSpPr/>
          <p:nvPr/>
        </p:nvSpPr>
        <p:spPr>
          <a:xfrm>
            <a:off x="4846320" y="4242816"/>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Element 46</a:t>
            </a:r>
            <a:endParaRPr lang="en-US" sz="1050" dirty="0"/>
          </a:p>
        </p:txBody>
      </p:sp>
      <p:sp>
        <p:nvSpPr>
          <p:cNvPr id="25" name="pill-89"/>
          <p:cNvSpPr/>
          <p:nvPr/>
        </p:nvSpPr>
        <p:spPr>
          <a:xfrm>
            <a:off x="3154680" y="4718304"/>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PropertyClass 11</a:t>
            </a:r>
            <a:endParaRPr lang="en-US" sz="1050" dirty="0"/>
          </a:p>
        </p:txBody>
      </p:sp>
      <p:sp>
        <p:nvSpPr>
          <p:cNvPr id="26" name="pill-90"/>
          <p:cNvSpPr/>
          <p:nvPr/>
        </p:nvSpPr>
        <p:spPr>
          <a:xfrm>
            <a:off x="4846320" y="4718304"/>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CrystalSystem 7</a:t>
            </a:r>
            <a:endParaRPr lang="en-US" sz="1050" dirty="0"/>
          </a:p>
        </p:txBody>
      </p:sp>
      <p:sp>
        <p:nvSpPr>
          <p:cNvPr id="27" name="pill-91"/>
          <p:cNvSpPr/>
          <p:nvPr/>
        </p:nvSpPr>
        <p:spPr>
          <a:xfrm>
            <a:off x="3154680" y="5193792"/>
            <a:ext cx="16002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dirty="0">
                <a:solidFill>
                  <a:schemeClr val="bg1"/>
                </a:solidFill>
              </a:rPr>
              <a:t>ApplicationDomain 5</a:t>
            </a:r>
            <a:endParaRPr lang="en-US" sz="1050" dirty="0"/>
          </a:p>
        </p:txBody>
      </p:sp>
      <p:sp>
        <p:nvSpPr>
          <p:cNvPr id="28" name="edge-92"/>
          <p:cNvSpPr/>
          <p:nvPr/>
        </p:nvSpPr>
        <p:spPr>
          <a:xfrm>
            <a:off x="2514600" y="5020056"/>
            <a:ext cx="457200" cy="0"/>
          </a:xfrm>
          <a:prstGeom prst="line">
            <a:avLst/>
          </a:prstGeom>
          <a:noFill/>
          <a:ln w="22225">
            <a:solidFill>
              <a:srgbClr val="555555"/>
            </a:solidFill>
            <a:prstDash val="solid"/>
            <a:tailEnd type="triangle"/>
          </a:ln>
        </p:spPr>
      </p:sp>
      <p:sp>
        <p:nvSpPr>
          <p:cNvPr id="29" name="box-93"/>
          <p:cNvSpPr/>
          <p:nvPr/>
        </p:nvSpPr>
        <p:spPr>
          <a:xfrm>
            <a:off x="2971800" y="960120"/>
            <a:ext cx="1828800" cy="777240"/>
          </a:xfrm>
          <a:prstGeom prst="roundRect">
            <a:avLst>
              <a:gd name="adj" fmla="val 9412"/>
            </a:avLst>
          </a:prstGeom>
          <a:solidFill>
            <a:schemeClr val="accent4">
              <a:alpha val="20000"/>
            </a:schemeClr>
          </a:solidFill>
          <a:ln w="15875">
            <a:solidFill>
              <a:schemeClr val="accent4"/>
            </a:solidFill>
            <a:prstDash val="dash"/>
          </a:ln>
        </p:spPr>
      </p:sp>
      <p:sp>
        <p:nvSpPr>
          <p:cNvPr id="30" name="text-94"/>
          <p:cNvSpPr txBox="1"/>
          <p:nvPr/>
        </p:nvSpPr>
        <p:spPr>
          <a:xfrm>
            <a:off x="3044952" y="996696"/>
            <a:ext cx="1682496" cy="704088"/>
          </a:xfrm>
          <a:prstGeom prst="rect">
            <a:avLst/>
          </a:prstGeom>
          <a:noFill/>
          <a:ln/>
        </p:spPr>
        <p:txBody>
          <a:bodyPr wrap="square" lIns="0" tIns="0" rIns="0" bIns="0" rtlCol="0" anchor="ctr"/>
          <a:lstStyle/>
          <a:p>
            <a:pPr algn="ctr" indent="0" marL="0">
              <a:buNone/>
            </a:pPr>
            <a:r>
              <a:rPr lang="en-US" sz="1200" b="1" dirty="0">
                <a:solidFill>
                  <a:schemeClr val="tx1"/>
                </a:solidFill>
              </a:rPr>
              <a:t>materials.yaml</a:t>
            </a:r>
            <a:endParaRPr lang="en-US" sz="1400" dirty="0"/>
          </a:p>
          <a:p>
            <a:pPr algn="ctr" indent="0" marL="0">
              <a:buNone/>
            </a:pPr>
            <a:r>
              <a:rPr lang="en-US" sz="1000" dirty="0">
                <a:solidFill>
                  <a:schemeClr val="tx1"/>
                </a:solidFill>
              </a:rPr>
              <a:t>8 clusters · buckets · rules</a:t>
            </a:r>
            <a:endParaRPr lang="en-US" sz="1400" dirty="0"/>
          </a:p>
        </p:txBody>
      </p:sp>
      <p:sp>
        <p:nvSpPr>
          <p:cNvPr id="31" name="edge-95"/>
          <p:cNvSpPr/>
          <p:nvPr/>
        </p:nvSpPr>
        <p:spPr>
          <a:xfrm flipH="1">
            <a:off x="2514600" y="1344168"/>
            <a:ext cx="457200" cy="877824"/>
          </a:xfrm>
          <a:prstGeom prst="line">
            <a:avLst/>
          </a:prstGeom>
          <a:noFill/>
          <a:ln w="15875">
            <a:solidFill>
              <a:srgbClr val="555555"/>
            </a:solidFill>
            <a:prstDash val="dash"/>
            <a:tailEnd type="triangle"/>
          </a:ln>
        </p:spPr>
      </p:sp>
      <p:sp>
        <p:nvSpPr>
          <p:cNvPr id="32" name="text-96"/>
          <p:cNvSpPr txBox="1"/>
          <p:nvPr/>
        </p:nvSpPr>
        <p:spPr>
          <a:xfrm>
            <a:off x="2743200" y="1828800"/>
            <a:ext cx="914400" cy="219456"/>
          </a:xfrm>
          <a:prstGeom prst="rect">
            <a:avLst/>
          </a:prstGeom>
          <a:noFill/>
          <a:ln/>
        </p:spPr>
        <p:txBody>
          <a:bodyPr wrap="square" lIns="0" tIns="0" rIns="0" bIns="0" rtlCol="0" anchor="t"/>
          <a:lstStyle/>
          <a:p>
            <a:pPr indent="0" marL="0">
              <a:buNone/>
            </a:pPr>
            <a:r>
              <a:rPr lang="en-US" sz="1000" i="1" dirty="0">
                <a:solidFill>
                  <a:schemeClr val="tx2"/>
                </a:solidFill>
              </a:rPr>
              <a:t>configures</a:t>
            </a:r>
            <a:endParaRPr lang="en-US" sz="1000" dirty="0"/>
          </a:p>
        </p:txBody>
      </p:sp>
      <p:sp>
        <p:nvSpPr>
          <p:cNvPr id="33" name="box-97"/>
          <p:cNvSpPr/>
          <p:nvPr/>
        </p:nvSpPr>
        <p:spPr>
          <a:xfrm>
            <a:off x="6949440" y="2423160"/>
            <a:ext cx="1783080" cy="868680"/>
          </a:xfrm>
          <a:prstGeom prst="roundRect">
            <a:avLst>
              <a:gd name="adj" fmla="val 8421"/>
            </a:avLst>
          </a:prstGeom>
          <a:solidFill>
            <a:schemeClr val="accent3">
              <a:alpha val="18000"/>
            </a:schemeClr>
          </a:solidFill>
          <a:ln w="15875">
            <a:solidFill>
              <a:schemeClr val="accent3"/>
            </a:solidFill>
            <a:prstDash val="solid"/>
          </a:ln>
        </p:spPr>
      </p:sp>
      <p:sp>
        <p:nvSpPr>
          <p:cNvPr id="34" name="text-98"/>
          <p:cNvSpPr txBox="1"/>
          <p:nvPr/>
        </p:nvSpPr>
        <p:spPr>
          <a:xfrm>
            <a:off x="7022592" y="2459736"/>
            <a:ext cx="1636776" cy="795528"/>
          </a:xfrm>
          <a:prstGeom prst="rect">
            <a:avLst/>
          </a:prstGeom>
          <a:noFill/>
          <a:ln/>
        </p:spPr>
        <p:txBody>
          <a:bodyPr wrap="square" lIns="0" tIns="0" rIns="0" bIns="0" rtlCol="0" anchor="ctr"/>
          <a:lstStyle/>
          <a:p>
            <a:pPr algn="ctr" indent="0" marL="0">
              <a:buNone/>
            </a:pPr>
            <a:r>
              <a:rPr lang="en-US" sz="1200" b="1" dirty="0">
                <a:solidFill>
                  <a:schemeClr val="tx1"/>
                </a:solidFill>
              </a:rPr>
              <a:t>4 · VERIFY</a:t>
            </a:r>
            <a:endParaRPr lang="en-US" sz="1400" dirty="0"/>
          </a:p>
          <a:p>
            <a:pPr algn="ctr" indent="0" marL="0">
              <a:buNone/>
            </a:pPr>
            <a:r>
              <a:rPr lang="en-US" sz="1000" dirty="0">
                <a:solidFill>
                  <a:schemeClr val="tx1"/>
                </a:solidFill>
              </a:rPr>
              <a:t>counts · structural checks</a:t>
            </a:r>
            <a:endParaRPr lang="en-US" sz="1400" dirty="0"/>
          </a:p>
        </p:txBody>
      </p:sp>
      <p:sp>
        <p:nvSpPr>
          <p:cNvPr id="35" name="edge-99"/>
          <p:cNvSpPr/>
          <p:nvPr/>
        </p:nvSpPr>
        <p:spPr>
          <a:xfrm>
            <a:off x="6629400" y="2852928"/>
            <a:ext cx="320040" cy="0"/>
          </a:xfrm>
          <a:prstGeom prst="line">
            <a:avLst/>
          </a:prstGeom>
          <a:noFill/>
          <a:ln w="19050">
            <a:solidFill>
              <a:srgbClr val="555555"/>
            </a:solidFill>
            <a:prstDash val="solid"/>
            <a:tailEnd type="triangle"/>
          </a:ln>
        </p:spPr>
      </p:sp>
      <p:sp>
        <p:nvSpPr>
          <p:cNvPr id="36" name="box-100"/>
          <p:cNvSpPr/>
          <p:nvPr/>
        </p:nvSpPr>
        <p:spPr>
          <a:xfrm>
            <a:off x="6949440" y="3611880"/>
            <a:ext cx="1783080" cy="868680"/>
          </a:xfrm>
          <a:prstGeom prst="roundRect">
            <a:avLst>
              <a:gd name="adj" fmla="val 8421"/>
            </a:avLst>
          </a:prstGeom>
          <a:solidFill>
            <a:schemeClr val="accent5">
              <a:alpha val="18000"/>
            </a:schemeClr>
          </a:solidFill>
          <a:ln w="15875">
            <a:solidFill>
              <a:schemeClr val="accent5"/>
            </a:solidFill>
            <a:prstDash val="solid"/>
          </a:ln>
        </p:spPr>
      </p:sp>
      <p:sp>
        <p:nvSpPr>
          <p:cNvPr id="37" name="text-101"/>
          <p:cNvSpPr txBox="1"/>
          <p:nvPr/>
        </p:nvSpPr>
        <p:spPr>
          <a:xfrm>
            <a:off x="7022592" y="3648456"/>
            <a:ext cx="1636776" cy="795528"/>
          </a:xfrm>
          <a:prstGeom prst="rect">
            <a:avLst/>
          </a:prstGeom>
          <a:noFill/>
          <a:ln/>
        </p:spPr>
        <p:txBody>
          <a:bodyPr wrap="square" lIns="0" tIns="0" rIns="0" bIns="0" rtlCol="0" anchor="ctr"/>
          <a:lstStyle/>
          <a:p>
            <a:pPr algn="ctr" indent="0" marL="0">
              <a:buNone/>
            </a:pPr>
            <a:r>
              <a:rPr lang="en-US" sz="1200" b="1" dirty="0">
                <a:solidFill>
                  <a:schemeClr val="tx1"/>
                </a:solidFill>
              </a:rPr>
              <a:t>graph.html</a:t>
            </a:r>
            <a:endParaRPr lang="en-US" sz="1400" dirty="0"/>
          </a:p>
          <a:p>
            <a:pPr algn="ctr" indent="0" marL="0">
              <a:buNone/>
            </a:pPr>
            <a:r>
              <a:rPr lang="en-US" sz="1000" dirty="0">
                <a:solidFill>
                  <a:schemeClr val="tx1"/>
                </a:solidFill>
              </a:rPr>
              <a:t>interactive visualization</a:t>
            </a:r>
            <a:endParaRPr lang="en-US" sz="1400" dirty="0"/>
          </a:p>
        </p:txBody>
      </p:sp>
      <p:sp>
        <p:nvSpPr>
          <p:cNvPr id="38" name="edge-102"/>
          <p:cNvSpPr/>
          <p:nvPr/>
        </p:nvSpPr>
        <p:spPr>
          <a:xfrm>
            <a:off x="7840980" y="3291840"/>
            <a:ext cx="0" cy="320040"/>
          </a:xfrm>
          <a:prstGeom prst="line">
            <a:avLst/>
          </a:prstGeom>
          <a:noFill/>
          <a:ln w="19050">
            <a:solidFill>
              <a:srgbClr val="555555"/>
            </a:solidFill>
            <a:prstDash val="solid"/>
            <a:tailEnd type="triangle"/>
          </a:ln>
        </p:spPr>
      </p:sp>
      <p:sp>
        <p:nvSpPr>
          <p:cNvPr id="39" name="box-103"/>
          <p:cNvSpPr/>
          <p:nvPr/>
        </p:nvSpPr>
        <p:spPr>
          <a:xfrm>
            <a:off x="6949440" y="4846320"/>
            <a:ext cx="1783080" cy="978408"/>
          </a:xfrm>
          <a:prstGeom prst="roundRect">
            <a:avLst>
              <a:gd name="adj" fmla="val 7477"/>
            </a:avLst>
          </a:prstGeom>
          <a:solidFill>
            <a:schemeClr val="accent4">
              <a:alpha val="20000"/>
            </a:schemeClr>
          </a:solidFill>
          <a:ln w="15875">
            <a:solidFill>
              <a:schemeClr val="accent4"/>
            </a:solidFill>
            <a:prstDash val="dash"/>
          </a:ln>
        </p:spPr>
      </p:sp>
      <p:sp>
        <p:nvSpPr>
          <p:cNvPr id="40" name="text-104"/>
          <p:cNvSpPr txBox="1"/>
          <p:nvPr/>
        </p:nvSpPr>
        <p:spPr>
          <a:xfrm>
            <a:off x="7022592" y="4882896"/>
            <a:ext cx="1636776" cy="905256"/>
          </a:xfrm>
          <a:prstGeom prst="rect">
            <a:avLst/>
          </a:prstGeom>
          <a:noFill/>
          <a:ln/>
        </p:spPr>
        <p:txBody>
          <a:bodyPr wrap="square" lIns="0" tIns="0" rIns="0" bIns="0" rtlCol="0" anchor="ctr"/>
          <a:lstStyle/>
          <a:p>
            <a:pPr algn="ctr" indent="0" marL="0">
              <a:buNone/>
            </a:pPr>
            <a:r>
              <a:rPr lang="en-US" sz="1200" b="1" dirty="0">
                <a:solidFill>
                  <a:schemeClr val="tx1"/>
                </a:solidFill>
              </a:rPr>
              <a:t>Explainability</a:t>
            </a:r>
            <a:endParaRPr lang="en-US" sz="1400" dirty="0"/>
          </a:p>
          <a:p>
            <a:pPr algn="ctr" indent="0" marL="0">
              <a:buNone/>
            </a:pPr>
            <a:r>
              <a:rPr lang="en-US" sz="1000" dirty="0">
                <a:solidFill>
                  <a:schemeClr val="tx1"/>
                </a:solidFill>
              </a:rPr>
              <a:t>each suitable_for edge stores the rule text that fired</a:t>
            </a:r>
            <a:endParaRPr lang="en-US" sz="1400" dirty="0"/>
          </a:p>
        </p:txBody>
      </p:sp>
      <p:sp>
        <p:nvSpPr>
          <p:cNvPr id="41" name="edge-105"/>
          <p:cNvSpPr/>
          <p:nvPr/>
        </p:nvSpPr>
        <p:spPr>
          <a:xfrm flipH="1">
            <a:off x="6629400" y="5340096"/>
            <a:ext cx="320040" cy="0"/>
          </a:xfrm>
          <a:prstGeom prst="line">
            <a:avLst/>
          </a:prstGeom>
          <a:noFill/>
          <a:ln w="15875">
            <a:solidFill>
              <a:srgbClr val="555555"/>
            </a:solidFill>
            <a:prstDash val="dash"/>
            <a:tailEnd type="triangle"/>
          </a:ln>
        </p:spPr>
      </p:sp>
      <p:sp>
        <p:nvSpPr>
          <p:cNvPr id="42" name="text-106"/>
          <p:cNvSpPr txBox="1"/>
          <p:nvPr/>
        </p:nvSpPr>
        <p:spPr>
          <a:xfrm>
            <a:off x="411480" y="5989320"/>
            <a:ext cx="8321040" cy="320040"/>
          </a:xfrm>
          <a:prstGeom prst="rect">
            <a:avLst/>
          </a:prstGeom>
          <a:noFill/>
          <a:ln/>
        </p:spPr>
        <p:txBody>
          <a:bodyPr wrap="square" lIns="0" tIns="0" rIns="0" bIns="0" rtlCol="0" anchor="ctr"/>
          <a:lstStyle/>
          <a:p>
            <a:pPr algn="ctr" indent="0" marL="0">
              <a:buNone/>
            </a:pPr>
            <a:r>
              <a:rPr lang="en-US" sz="1300" i="1" dirty="0">
                <a:solidFill>
                  <a:schemeClr val="tx2"/>
                </a:solidFill>
              </a:rPr>
              <a:t>Zero LLM calls · every node and edge reproducible from the local cache</a:t>
            </a:r>
            <a:endParaRPr lang="en-US" sz="13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Graph Schema</a:t>
            </a:r>
            <a:endParaRPr lang="en-US" sz="2600" dirty="0"/>
          </a:p>
        </p:txBody>
      </p:sp>
      <p:sp>
        <p:nvSpPr>
          <p:cNvPr id="3" name="text-107"/>
          <p:cNvSpPr txBox="1"/>
          <p:nvPr/>
        </p:nvSpPr>
        <p:spPr>
          <a:xfrm>
            <a:off x="457200" y="960120"/>
            <a:ext cx="3749040" cy="365760"/>
          </a:xfrm>
          <a:prstGeom prst="rect">
            <a:avLst/>
          </a:prstGeom>
          <a:noFill/>
          <a:ln/>
        </p:spPr>
        <p:txBody>
          <a:bodyPr wrap="square" lIns="0" tIns="0" rIns="0" bIns="0" rtlCol="0" anchor="t"/>
          <a:lstStyle/>
          <a:p>
            <a:pPr algn="ctr" indent="0" marL="0">
              <a:buNone/>
            </a:pPr>
            <a:r>
              <a:rPr lang="en-US" sz="1700" b="1" dirty="0">
                <a:solidFill>
                  <a:schemeClr val="tx1"/>
                </a:solidFill>
              </a:rPr>
              <a:t>Node types — 1,504</a:t>
            </a:r>
            <a:endParaRPr lang="en-US" sz="1700" dirty="0"/>
          </a:p>
        </p:txBody>
      </p:sp>
      <p:sp>
        <p:nvSpPr>
          <p:cNvPr id="4" name="text-108"/>
          <p:cNvSpPr txBox="1"/>
          <p:nvPr/>
        </p:nvSpPr>
        <p:spPr>
          <a:xfrm>
            <a:off x="4572000" y="960120"/>
            <a:ext cx="4114800" cy="365760"/>
          </a:xfrm>
          <a:prstGeom prst="rect">
            <a:avLst/>
          </a:prstGeom>
          <a:noFill/>
          <a:ln/>
        </p:spPr>
        <p:txBody>
          <a:bodyPr wrap="square" lIns="0" tIns="0" rIns="0" bIns="0" rtlCol="0" anchor="t"/>
          <a:lstStyle/>
          <a:p>
            <a:pPr algn="ctr" indent="0" marL="0">
              <a:buNone/>
            </a:pPr>
            <a:r>
              <a:rPr lang="en-US" sz="1700" b="1" dirty="0">
                <a:solidFill>
                  <a:schemeClr val="tx1"/>
                </a:solidFill>
              </a:rPr>
              <a:t>Relationship types</a:t>
            </a:r>
            <a:endParaRPr lang="en-US" sz="1700" dirty="0"/>
          </a:p>
        </p:txBody>
      </p:sp>
      <p:graphicFrame>
        <p:nvGraphicFramePr>
          <p:cNvPr id="14" name="table-109"/>
          <p:cNvGraphicFramePr>
            <a:graphicFrameLocks noGrp="1"/>
          </p:cNvGraphicFramePr>
          <p:nvPr>
            <p:extLst>
              <p:ext uri="{D42A27DB-BD31-4B8C-83A1-F6EECF244321}">
                <p14:modId xmlns:p14="http://schemas.microsoft.com/office/powerpoint/2010/main" val="1579011935"/>
              </p:ext>
            </p:extLst>
          </p:nvPr>
        </p:nvGraphicFramePr>
        <p:xfrm>
          <a:off x="457200" y="1371600"/>
          <a:ext cx="3749040" cy="914400"/>
        </p:xfrm>
        <a:graphic>
          <a:graphicData uri="http://schemas.openxmlformats.org/drawingml/2006/table">
            <a:tbl>
              <a:tblPr/>
              <a:tblGrid>
                <a:gridCol w="2651760"/>
                <a:gridCol w="1097280"/>
              </a:tblGrid>
              <a:tr h="292608">
                <a:tc>
                  <a:txBody>
                    <a:bodyPr/>
                    <a:lstStyle/>
                    <a:p>
                      <a:pPr indent="0" marL="0">
                        <a:buNone/>
                      </a:pPr>
                      <a:r>
                        <a:rPr lang="en-US" sz="1250" b="1" dirty="0">
                          <a:solidFill>
                            <a:schemeClr val="tx1"/>
                          </a:solidFill>
                          <a:latin typeface="Arial" pitchFamily="34" charset="0"/>
                          <a:ea typeface="Arial" pitchFamily="34" charset="-122"/>
                          <a:cs typeface="Arial" pitchFamily="34" charset="-120"/>
                        </a:rPr>
                        <a:t>Type</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algn="r" indent="0" marL="0">
                        <a:buNone/>
                      </a:pPr>
                      <a:r>
                        <a:rPr lang="en-US" sz="1250" b="1" dirty="0">
                          <a:solidFill>
                            <a:schemeClr val="tx1"/>
                          </a:solidFill>
                          <a:latin typeface="Arial" pitchFamily="34" charset="0"/>
                          <a:ea typeface="Arial" pitchFamily="34" charset="-122"/>
                          <a:cs typeface="Arial" pitchFamily="34" charset="-120"/>
                        </a:rPr>
                        <a:t>Count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Material</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794</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FormulaPattern</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261</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ChemicalSystem</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143</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OxidationState</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131</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SpaceGroup</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106</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Element</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46</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PropertyClass</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11</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CrystalSystem</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7</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ApplicationDomain</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bl>
          </a:graphicData>
        </a:graphic>
      </p:graphicFrame>
      <p:graphicFrame>
        <p:nvGraphicFramePr>
          <p:cNvPr id="27" name="table-110"/>
          <p:cNvGraphicFramePr>
            <a:graphicFrameLocks noGrp="1"/>
          </p:cNvGraphicFramePr>
          <p:nvPr>
            <p:extLst>
              <p:ext uri="{D42A27DB-BD31-4B8C-83A1-F6EECF244321}">
                <p14:modId xmlns:p14="http://schemas.microsoft.com/office/powerpoint/2010/main" val="1579011935"/>
              </p:ext>
            </p:extLst>
          </p:nvPr>
        </p:nvGraphicFramePr>
        <p:xfrm>
          <a:off x="4572000" y="1371600"/>
          <a:ext cx="4114800" cy="914400"/>
        </p:xfrm>
        <a:graphic>
          <a:graphicData uri="http://schemas.openxmlformats.org/drawingml/2006/table">
            <a:tbl>
              <a:tblPr/>
              <a:tblGrid>
                <a:gridCol w="2286000"/>
                <a:gridCol w="1828800"/>
              </a:tblGrid>
              <a:tr h="292608">
                <a:tc>
                  <a:txBody>
                    <a:bodyPr/>
                    <a:lstStyle/>
                    <a:p>
                      <a:pPr indent="0" marL="0">
                        <a:buNone/>
                      </a:pPr>
                      <a:r>
                        <a:rPr lang="en-US" sz="1250" b="1" dirty="0">
                          <a:solidFill>
                            <a:schemeClr val="tx1"/>
                          </a:solidFill>
                          <a:latin typeface="Arial" pitchFamily="34" charset="0"/>
                          <a:ea typeface="Arial" pitchFamily="34" charset="-122"/>
                          <a:cs typeface="Arial" pitchFamily="34" charset="-120"/>
                        </a:rPr>
                        <a:t>Edge</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latin typeface="Arial" pitchFamily="34" charset="0"/>
                          <a:ea typeface="Arial" pitchFamily="34" charset="-122"/>
                          <a:cs typeface="Arial" pitchFamily="34" charset="-120"/>
                        </a:rPr>
                        <a:t>Properties</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contains</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has_space_group</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member_of</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classified_as</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suitable_for</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rule: fired text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similar_to</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weight: cosine</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crystal_system</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has_oxidation_state</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has_formula_pattern</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indent="0" marL="0">
                        <a:buNone/>
                      </a:pPr>
                      <a:r>
                        <a:rPr lang="en-US" sz="1250" dirty="0">
                          <a:solidFill>
                            <a:schemeClr val="tx1"/>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bl>
          </a:graphicData>
        </a:graphic>
      </p:graphicFrame>
      <p:sp>
        <p:nvSpPr>
          <p:cNvPr id="7" name="text-111"/>
          <p:cNvSpPr txBox="1"/>
          <p:nvPr/>
        </p:nvSpPr>
        <p:spPr>
          <a:xfrm>
            <a:off x="457200" y="4572000"/>
            <a:ext cx="8229600" cy="1280160"/>
          </a:xfrm>
          <a:prstGeom prst="rect">
            <a:avLst/>
          </a:prstGeom>
          <a:noFill/>
          <a:ln/>
        </p:spPr>
        <p:txBody>
          <a:bodyPr wrap="square" lIns="0" tIns="0" rIns="0" bIns="0" rtlCol="0" anchor="t"/>
          <a:lstStyle/>
          <a:p>
            <a:pPr indent="0" marL="0">
              <a:buNone/>
            </a:pPr>
            <a:r>
              <a:rPr lang="en-US" sz="1500" b="1" dirty="0">
                <a:solidFill>
                  <a:schemeClr val="tx1"/>
                </a:solidFill>
              </a:rPr>
              <a:t>Design principle:</a:t>
            </a:r>
            <a:r>
              <a:rPr lang="en-US" sz="1500" dirty="0">
                <a:solidFill>
                  <a:schemeClr val="tx1"/>
                </a:solidFill>
              </a:rPr>
              <a:t> continuous values stay as </a:t>
            </a:r>
            <a:r>
              <a:rPr lang="en-US" sz="1500" b="1" dirty="0">
                <a:solidFill>
                  <a:schemeClr val="tx1"/>
                </a:solidFill>
              </a:rPr>
              <a:t>attributes</a:t>
            </a:r>
            <a:r>
              <a:rPr lang="en-US" sz="1500" dirty="0">
                <a:solidFill>
                  <a:schemeClr val="tx1"/>
                </a:solidFill>
              </a:rPr>
              <a:t>; anything used for </a:t>
            </a:r>
            <a:r>
              <a:rPr lang="en-US" sz="1500" b="1" dirty="0">
                <a:solidFill>
                  <a:schemeClr val="tx1"/>
                </a:solidFill>
              </a:rPr>
              <a:t>grouping</a:t>
            </a:r>
            <a:r>
              <a:rPr lang="en-US" sz="1500" dirty="0">
                <a:solidFill>
                  <a:schemeClr val="tx1"/>
                </a:solidFill>
              </a:rPr>
              <a:t> becomes a </a:t>
            </a:r>
            <a:r>
              <a:rPr lang="en-US" sz="1500" b="1" dirty="0">
                <a:solidFill>
                  <a:schemeClr val="tx1"/>
                </a:solidFill>
              </a:rPr>
              <a:t>node</a:t>
            </a:r>
            <a:r>
              <a:rPr lang="en-US" sz="1500" dirty="0">
                <a:solidFill>
                  <a:schemeClr val="tx1"/>
                </a:solidFill>
              </a:rPr>
              <a:t>; derived material–material relations become </a:t>
            </a:r>
            <a:r>
              <a:rPr lang="en-US" sz="1500" b="1" dirty="0">
                <a:solidFill>
                  <a:schemeClr val="tx1"/>
                </a:solidFill>
              </a:rPr>
              <a:t>weighted edges</a:t>
            </a:r>
            <a:r>
              <a:rPr lang="en-US" sz="1500" dirty="0">
                <a:solidFill>
                  <a:schemeClr val="tx1"/>
                </a:solidFill>
              </a:rPr>
              <a:t>. </a:t>
            </a:r>
            <a:r>
              <a:rPr lang="en-US" sz="1500" dirty="0">
                <a:solidFill>
                  <a:schemeClr val="tx1"/>
                </a:solidFill>
                <a:latin typeface="Courier New" pitchFamily="34" charset="0"/>
                <a:ea typeface="Courier New" pitchFamily="34" charset="-122"/>
                <a:cs typeface="Courier New" pitchFamily="34" charset="-120"/>
              </a:rPr>
              <a:t>similar_to</a:t>
            </a:r>
            <a:r>
              <a:rPr lang="en-US" sz="1500" dirty="0">
                <a:solidFill>
                  <a:schemeClr val="tx1"/>
                </a:solidFill>
              </a:rPr>
              <a:t> uses top-5 nearest neighbours by cosine similarity over a 10-dimensional z-scored property vector.</a:t>
            </a:r>
            <a:endParaRPr lang="en-US" sz="15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Graph Schema Diagram</a:t>
            </a:r>
            <a:endParaRPr lang="en-US" sz="2600" dirty="0"/>
          </a:p>
        </p:txBody>
      </p:sp>
      <p:sp>
        <p:nvSpPr>
          <p:cNvPr id="3" name="edge-112"/>
          <p:cNvSpPr/>
          <p:nvPr/>
        </p:nvSpPr>
        <p:spPr>
          <a:xfrm flipH="1" flipV="1">
            <a:off x="1600200" y="1463040"/>
            <a:ext cx="2971800" cy="2148840"/>
          </a:xfrm>
          <a:prstGeom prst="line">
            <a:avLst/>
          </a:prstGeom>
          <a:noFill/>
          <a:ln w="15875">
            <a:solidFill>
              <a:srgbClr val="666666"/>
            </a:solidFill>
            <a:prstDash val="solid"/>
          </a:ln>
        </p:spPr>
      </p:sp>
      <p:sp>
        <p:nvSpPr>
          <p:cNvPr id="4" name="edge-113"/>
          <p:cNvSpPr/>
          <p:nvPr/>
        </p:nvSpPr>
        <p:spPr>
          <a:xfrm flipV="1">
            <a:off x="4572000" y="1234440"/>
            <a:ext cx="0" cy="2377440"/>
          </a:xfrm>
          <a:prstGeom prst="line">
            <a:avLst/>
          </a:prstGeom>
          <a:noFill/>
          <a:ln w="15875">
            <a:solidFill>
              <a:srgbClr val="666666"/>
            </a:solidFill>
            <a:prstDash val="solid"/>
          </a:ln>
        </p:spPr>
      </p:sp>
      <p:sp>
        <p:nvSpPr>
          <p:cNvPr id="5" name="edge-114"/>
          <p:cNvSpPr/>
          <p:nvPr/>
        </p:nvSpPr>
        <p:spPr>
          <a:xfrm flipV="1">
            <a:off x="4572000" y="1463040"/>
            <a:ext cx="2971800" cy="2148840"/>
          </a:xfrm>
          <a:prstGeom prst="line">
            <a:avLst/>
          </a:prstGeom>
          <a:noFill/>
          <a:ln w="15875">
            <a:solidFill>
              <a:srgbClr val="666666"/>
            </a:solidFill>
            <a:prstDash val="solid"/>
          </a:ln>
        </p:spPr>
      </p:sp>
      <p:sp>
        <p:nvSpPr>
          <p:cNvPr id="6" name="edge-115"/>
          <p:cNvSpPr/>
          <p:nvPr/>
        </p:nvSpPr>
        <p:spPr>
          <a:xfrm flipH="1">
            <a:off x="1188720" y="3611880"/>
            <a:ext cx="3383280" cy="0"/>
          </a:xfrm>
          <a:prstGeom prst="line">
            <a:avLst/>
          </a:prstGeom>
          <a:noFill/>
          <a:ln w="15875">
            <a:solidFill>
              <a:srgbClr val="666666"/>
            </a:solidFill>
            <a:prstDash val="solid"/>
          </a:ln>
        </p:spPr>
      </p:sp>
      <p:sp>
        <p:nvSpPr>
          <p:cNvPr id="7" name="edge-116"/>
          <p:cNvSpPr/>
          <p:nvPr/>
        </p:nvSpPr>
        <p:spPr>
          <a:xfrm>
            <a:off x="4572000" y="3611880"/>
            <a:ext cx="3154680" cy="0"/>
          </a:xfrm>
          <a:prstGeom prst="line">
            <a:avLst/>
          </a:prstGeom>
          <a:noFill/>
          <a:ln w="15875">
            <a:solidFill>
              <a:srgbClr val="666666"/>
            </a:solidFill>
            <a:prstDash val="solid"/>
          </a:ln>
        </p:spPr>
      </p:sp>
      <p:sp>
        <p:nvSpPr>
          <p:cNvPr id="8" name="edge-117"/>
          <p:cNvSpPr/>
          <p:nvPr/>
        </p:nvSpPr>
        <p:spPr>
          <a:xfrm flipH="1">
            <a:off x="1600200" y="3611880"/>
            <a:ext cx="2971800" cy="2194560"/>
          </a:xfrm>
          <a:prstGeom prst="line">
            <a:avLst/>
          </a:prstGeom>
          <a:noFill/>
          <a:ln w="15875">
            <a:solidFill>
              <a:srgbClr val="666666"/>
            </a:solidFill>
            <a:prstDash val="solid"/>
          </a:ln>
        </p:spPr>
      </p:sp>
      <p:sp>
        <p:nvSpPr>
          <p:cNvPr id="9" name="edge-118"/>
          <p:cNvSpPr/>
          <p:nvPr/>
        </p:nvSpPr>
        <p:spPr>
          <a:xfrm>
            <a:off x="4572000" y="3611880"/>
            <a:ext cx="0" cy="2331720"/>
          </a:xfrm>
          <a:prstGeom prst="line">
            <a:avLst/>
          </a:prstGeom>
          <a:noFill/>
          <a:ln w="15875">
            <a:solidFill>
              <a:srgbClr val="666666"/>
            </a:solidFill>
            <a:prstDash val="solid"/>
          </a:ln>
        </p:spPr>
      </p:sp>
      <p:sp>
        <p:nvSpPr>
          <p:cNvPr id="10" name="edge-119"/>
          <p:cNvSpPr/>
          <p:nvPr/>
        </p:nvSpPr>
        <p:spPr>
          <a:xfrm>
            <a:off x="4572000" y="3611880"/>
            <a:ext cx="2971800" cy="2194560"/>
          </a:xfrm>
          <a:prstGeom prst="line">
            <a:avLst/>
          </a:prstGeom>
          <a:noFill/>
          <a:ln w="15875">
            <a:solidFill>
              <a:srgbClr val="666666"/>
            </a:solidFill>
            <a:prstDash val="solid"/>
          </a:ln>
        </p:spPr>
      </p:sp>
      <p:sp>
        <p:nvSpPr>
          <p:cNvPr id="11" name="edge-120"/>
          <p:cNvSpPr/>
          <p:nvPr/>
        </p:nvSpPr>
        <p:spPr>
          <a:xfrm>
            <a:off x="7726680" y="3611880"/>
            <a:ext cx="0" cy="1097280"/>
          </a:xfrm>
          <a:prstGeom prst="line">
            <a:avLst/>
          </a:prstGeom>
          <a:noFill/>
          <a:ln w="15875">
            <a:solidFill>
              <a:srgbClr val="666666"/>
            </a:solidFill>
            <a:prstDash val="solid"/>
          </a:ln>
        </p:spPr>
      </p:sp>
      <p:sp>
        <p:nvSpPr>
          <p:cNvPr id="12" name="pill-121"/>
          <p:cNvSpPr/>
          <p:nvPr/>
        </p:nvSpPr>
        <p:spPr>
          <a:xfrm>
            <a:off x="548640" y="1234440"/>
            <a:ext cx="210312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Oxidation state · 131</a:t>
            </a:r>
            <a:endParaRPr lang="en-US" sz="1200" dirty="0"/>
          </a:p>
        </p:txBody>
      </p:sp>
      <p:sp>
        <p:nvSpPr>
          <p:cNvPr id="13" name="text-122"/>
          <p:cNvSpPr txBox="1"/>
          <p:nvPr/>
        </p:nvSpPr>
        <p:spPr>
          <a:xfrm>
            <a:off x="1188720" y="2487168"/>
            <a:ext cx="1920240" cy="237744"/>
          </a:xfrm>
          <a:prstGeom prst="rect">
            <a:avLst/>
          </a:prstGeom>
          <a:noFill/>
          <a:ln/>
        </p:spPr>
        <p:txBody>
          <a:bodyPr wrap="square" lIns="0" tIns="0" rIns="0" bIns="0" rtlCol="0" anchor="ctr"/>
          <a:lstStyle/>
          <a:p>
            <a:pPr algn="r" indent="0" marL="0">
              <a:buNone/>
            </a:pPr>
            <a:r>
              <a:rPr lang="en-US" sz="1100" i="1" dirty="0">
                <a:solidFill>
                  <a:schemeClr val="tx2"/>
                </a:solidFill>
              </a:rPr>
              <a:t>has_oxidation_state</a:t>
            </a:r>
            <a:endParaRPr lang="en-US" sz="1100" dirty="0"/>
          </a:p>
        </p:txBody>
      </p:sp>
      <p:sp>
        <p:nvSpPr>
          <p:cNvPr id="14" name="pill-123"/>
          <p:cNvSpPr/>
          <p:nvPr/>
        </p:nvSpPr>
        <p:spPr>
          <a:xfrm>
            <a:off x="3520440" y="1005840"/>
            <a:ext cx="2103120" cy="45720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Chemical system · 143</a:t>
            </a:r>
            <a:endParaRPr lang="en-US" sz="1200" dirty="0"/>
          </a:p>
        </p:txBody>
      </p:sp>
      <p:sp>
        <p:nvSpPr>
          <p:cNvPr id="15" name="text-124"/>
          <p:cNvSpPr txBox="1"/>
          <p:nvPr/>
        </p:nvSpPr>
        <p:spPr>
          <a:xfrm>
            <a:off x="4681728" y="2194560"/>
            <a:ext cx="1188720" cy="237744"/>
          </a:xfrm>
          <a:prstGeom prst="rect">
            <a:avLst/>
          </a:prstGeom>
          <a:noFill/>
          <a:ln/>
        </p:spPr>
        <p:txBody>
          <a:bodyPr wrap="square" lIns="0" tIns="0" rIns="0" bIns="0" rtlCol="0" anchor="ctr"/>
          <a:lstStyle/>
          <a:p>
            <a:pPr algn="l" indent="0" marL="0">
              <a:buNone/>
            </a:pPr>
            <a:r>
              <a:rPr lang="en-US" sz="1100" i="1" dirty="0">
                <a:solidFill>
                  <a:schemeClr val="tx2"/>
                </a:solidFill>
              </a:rPr>
              <a:t>member_of</a:t>
            </a:r>
            <a:endParaRPr lang="en-US" sz="1100" dirty="0"/>
          </a:p>
        </p:txBody>
      </p:sp>
      <p:sp>
        <p:nvSpPr>
          <p:cNvPr id="16" name="pill-125"/>
          <p:cNvSpPr/>
          <p:nvPr/>
        </p:nvSpPr>
        <p:spPr>
          <a:xfrm>
            <a:off x="6492240" y="1234440"/>
            <a:ext cx="2103120" cy="45720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Formula pattern · 261</a:t>
            </a:r>
            <a:endParaRPr lang="en-US" sz="1200" dirty="0"/>
          </a:p>
        </p:txBody>
      </p:sp>
      <p:sp>
        <p:nvSpPr>
          <p:cNvPr id="17" name="text-126"/>
          <p:cNvSpPr txBox="1"/>
          <p:nvPr/>
        </p:nvSpPr>
        <p:spPr>
          <a:xfrm>
            <a:off x="6035040" y="2487168"/>
            <a:ext cx="1920240" cy="237744"/>
          </a:xfrm>
          <a:prstGeom prst="rect">
            <a:avLst/>
          </a:prstGeom>
          <a:noFill/>
          <a:ln/>
        </p:spPr>
        <p:txBody>
          <a:bodyPr wrap="square" lIns="0" tIns="0" rIns="0" bIns="0" rtlCol="0" anchor="ctr"/>
          <a:lstStyle/>
          <a:p>
            <a:pPr algn="l" indent="0" marL="0">
              <a:buNone/>
            </a:pPr>
            <a:r>
              <a:rPr lang="en-US" sz="1100" i="1" dirty="0">
                <a:solidFill>
                  <a:schemeClr val="tx2"/>
                </a:solidFill>
              </a:rPr>
              <a:t>has_formula_pattern</a:t>
            </a:r>
            <a:endParaRPr lang="en-US" sz="1100" dirty="0"/>
          </a:p>
        </p:txBody>
      </p:sp>
      <p:sp>
        <p:nvSpPr>
          <p:cNvPr id="18" name="pill-127"/>
          <p:cNvSpPr/>
          <p:nvPr/>
        </p:nvSpPr>
        <p:spPr>
          <a:xfrm>
            <a:off x="411480" y="3383280"/>
            <a:ext cx="1554480" cy="45720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Element · 46</a:t>
            </a:r>
            <a:endParaRPr lang="en-US" sz="1200" dirty="0"/>
          </a:p>
        </p:txBody>
      </p:sp>
      <p:sp>
        <p:nvSpPr>
          <p:cNvPr id="19" name="text-128"/>
          <p:cNvSpPr txBox="1"/>
          <p:nvPr/>
        </p:nvSpPr>
        <p:spPr>
          <a:xfrm>
            <a:off x="1965960" y="3291840"/>
            <a:ext cx="1600200" cy="237744"/>
          </a:xfrm>
          <a:prstGeom prst="rect">
            <a:avLst/>
          </a:prstGeom>
          <a:noFill/>
          <a:ln/>
        </p:spPr>
        <p:txBody>
          <a:bodyPr wrap="square" lIns="0" tIns="0" rIns="0" bIns="0" rtlCol="0" anchor="ctr"/>
          <a:lstStyle/>
          <a:p>
            <a:pPr algn="ctr" indent="0" marL="0">
              <a:buNone/>
            </a:pPr>
            <a:r>
              <a:rPr lang="en-US" sz="1100" i="1" dirty="0">
                <a:solidFill>
                  <a:schemeClr val="tx2"/>
                </a:solidFill>
              </a:rPr>
              <a:t>contains</a:t>
            </a:r>
            <a:endParaRPr lang="en-US" sz="1100" dirty="0"/>
          </a:p>
        </p:txBody>
      </p:sp>
      <p:sp>
        <p:nvSpPr>
          <p:cNvPr id="20" name="pill-129"/>
          <p:cNvSpPr/>
          <p:nvPr/>
        </p:nvSpPr>
        <p:spPr>
          <a:xfrm>
            <a:off x="6766560" y="3383280"/>
            <a:ext cx="1920240" cy="45720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Space group · 106</a:t>
            </a:r>
            <a:endParaRPr lang="en-US" sz="1200" dirty="0"/>
          </a:p>
        </p:txBody>
      </p:sp>
      <p:sp>
        <p:nvSpPr>
          <p:cNvPr id="21" name="text-130"/>
          <p:cNvSpPr txBox="1"/>
          <p:nvPr/>
        </p:nvSpPr>
        <p:spPr>
          <a:xfrm>
            <a:off x="5577840" y="3291840"/>
            <a:ext cx="1188720" cy="237744"/>
          </a:xfrm>
          <a:prstGeom prst="rect">
            <a:avLst/>
          </a:prstGeom>
          <a:noFill/>
          <a:ln/>
        </p:spPr>
        <p:txBody>
          <a:bodyPr wrap="square" lIns="0" tIns="0" rIns="0" bIns="0" rtlCol="0" anchor="ctr"/>
          <a:lstStyle/>
          <a:p>
            <a:pPr algn="ctr" indent="0" marL="0">
              <a:buNone/>
            </a:pPr>
            <a:r>
              <a:rPr lang="en-US" sz="1100" i="1" dirty="0">
                <a:solidFill>
                  <a:schemeClr val="tx2"/>
                </a:solidFill>
              </a:rPr>
              <a:t>has_space_group</a:t>
            </a:r>
            <a:endParaRPr lang="en-US" sz="1100" dirty="0"/>
          </a:p>
        </p:txBody>
      </p:sp>
      <p:sp>
        <p:nvSpPr>
          <p:cNvPr id="22" name="pill-131"/>
          <p:cNvSpPr/>
          <p:nvPr/>
        </p:nvSpPr>
        <p:spPr>
          <a:xfrm>
            <a:off x="548640" y="5577840"/>
            <a:ext cx="210312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Property class · 11</a:t>
            </a:r>
            <a:endParaRPr lang="en-US" sz="1200" dirty="0"/>
          </a:p>
        </p:txBody>
      </p:sp>
      <p:sp>
        <p:nvSpPr>
          <p:cNvPr id="23" name="text-132"/>
          <p:cNvSpPr txBox="1"/>
          <p:nvPr/>
        </p:nvSpPr>
        <p:spPr>
          <a:xfrm>
            <a:off x="1188720" y="4617720"/>
            <a:ext cx="1691640" cy="237744"/>
          </a:xfrm>
          <a:prstGeom prst="rect">
            <a:avLst/>
          </a:prstGeom>
          <a:noFill/>
          <a:ln/>
        </p:spPr>
        <p:txBody>
          <a:bodyPr wrap="square" lIns="0" tIns="0" rIns="0" bIns="0" rtlCol="0" anchor="ctr"/>
          <a:lstStyle/>
          <a:p>
            <a:pPr algn="r" indent="0" marL="0">
              <a:buNone/>
            </a:pPr>
            <a:r>
              <a:rPr lang="en-US" sz="1100" i="1" dirty="0">
                <a:solidFill>
                  <a:schemeClr val="tx2"/>
                </a:solidFill>
              </a:rPr>
              <a:t>classified_as</a:t>
            </a:r>
            <a:endParaRPr lang="en-US" sz="1100" dirty="0"/>
          </a:p>
        </p:txBody>
      </p:sp>
      <p:sp>
        <p:nvSpPr>
          <p:cNvPr id="24" name="pill-133"/>
          <p:cNvSpPr/>
          <p:nvPr/>
        </p:nvSpPr>
        <p:spPr>
          <a:xfrm>
            <a:off x="3383280" y="5715000"/>
            <a:ext cx="237744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Application domain · 5</a:t>
            </a:r>
            <a:endParaRPr lang="en-US" sz="1200" dirty="0"/>
          </a:p>
        </p:txBody>
      </p:sp>
      <p:sp>
        <p:nvSpPr>
          <p:cNvPr id="25" name="text-134"/>
          <p:cNvSpPr txBox="1"/>
          <p:nvPr/>
        </p:nvSpPr>
        <p:spPr>
          <a:xfrm>
            <a:off x="4681728" y="4617720"/>
            <a:ext cx="1554480" cy="237744"/>
          </a:xfrm>
          <a:prstGeom prst="rect">
            <a:avLst/>
          </a:prstGeom>
          <a:noFill/>
          <a:ln/>
        </p:spPr>
        <p:txBody>
          <a:bodyPr wrap="square" lIns="0" tIns="0" rIns="0" bIns="0" rtlCol="0" anchor="ctr"/>
          <a:lstStyle/>
          <a:p>
            <a:pPr algn="l" indent="0" marL="0">
              <a:buNone/>
            </a:pPr>
            <a:r>
              <a:rPr lang="en-US" sz="1100" i="1" dirty="0">
                <a:solidFill>
                  <a:schemeClr val="tx2"/>
                </a:solidFill>
              </a:rPr>
              <a:t>suitable_for + rule</a:t>
            </a:r>
            <a:endParaRPr lang="en-US" sz="1100" dirty="0"/>
          </a:p>
        </p:txBody>
      </p:sp>
      <p:sp>
        <p:nvSpPr>
          <p:cNvPr id="26" name="pill-135"/>
          <p:cNvSpPr/>
          <p:nvPr/>
        </p:nvSpPr>
        <p:spPr>
          <a:xfrm>
            <a:off x="6629400" y="5577840"/>
            <a:ext cx="182880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Material</a:t>
            </a:r>
            <a:endParaRPr lang="en-US" sz="1200" dirty="0"/>
          </a:p>
        </p:txBody>
      </p:sp>
      <p:sp>
        <p:nvSpPr>
          <p:cNvPr id="27" name="text-136"/>
          <p:cNvSpPr txBox="1"/>
          <p:nvPr/>
        </p:nvSpPr>
        <p:spPr>
          <a:xfrm>
            <a:off x="4846320" y="5138928"/>
            <a:ext cx="1600200" cy="237744"/>
          </a:xfrm>
          <a:prstGeom prst="rect">
            <a:avLst/>
          </a:prstGeom>
          <a:noFill/>
          <a:ln/>
        </p:spPr>
        <p:txBody>
          <a:bodyPr wrap="square" lIns="0" tIns="0" rIns="0" bIns="0" rtlCol="0" anchor="ctr"/>
          <a:lstStyle/>
          <a:p>
            <a:pPr algn="r" indent="0" marL="0">
              <a:buNone/>
            </a:pPr>
            <a:r>
              <a:rPr lang="en-US" sz="1100" i="1" dirty="0">
                <a:solidFill>
                  <a:schemeClr val="tx2"/>
                </a:solidFill>
              </a:rPr>
              <a:t>similar_to (weight)</a:t>
            </a:r>
            <a:endParaRPr lang="en-US" sz="1100" dirty="0"/>
          </a:p>
        </p:txBody>
      </p:sp>
      <p:sp>
        <p:nvSpPr>
          <p:cNvPr id="28" name="pill-137"/>
          <p:cNvSpPr/>
          <p:nvPr/>
        </p:nvSpPr>
        <p:spPr>
          <a:xfrm>
            <a:off x="6766560" y="4480560"/>
            <a:ext cx="1920240" cy="457200"/>
          </a:xfrm>
          <a:prstGeom prst="roundRect">
            <a:avLst>
              <a:gd name="adj" fmla="val 50000"/>
            </a:avLst>
          </a:prstGeom>
          <a:solidFill>
            <a:schemeClr val="accent6"/>
          </a:solidFill>
          <a:ln/>
        </p:spPr>
        <p:txBody>
          <a:bodyPr wrap="square" lIns="0" tIns="0" rIns="0" bIns="0" rtlCol="0" anchor="ctr"/>
          <a:lstStyle/>
          <a:p>
            <a:pPr algn="ctr" indent="0" marL="0">
              <a:buNone/>
            </a:pPr>
            <a:r>
              <a:rPr lang="en-US" sz="1200" b="1" dirty="0">
                <a:solidFill>
                  <a:schemeClr val="bg1"/>
                </a:solidFill>
              </a:rPr>
              <a:t>Crystal system · 7</a:t>
            </a:r>
            <a:endParaRPr lang="en-US" sz="1200" dirty="0"/>
          </a:p>
        </p:txBody>
      </p:sp>
      <p:sp>
        <p:nvSpPr>
          <p:cNvPr id="29" name="text-138"/>
          <p:cNvSpPr txBox="1"/>
          <p:nvPr/>
        </p:nvSpPr>
        <p:spPr>
          <a:xfrm>
            <a:off x="6446520" y="4041648"/>
            <a:ext cx="1188720" cy="237744"/>
          </a:xfrm>
          <a:prstGeom prst="rect">
            <a:avLst/>
          </a:prstGeom>
          <a:noFill/>
          <a:ln/>
        </p:spPr>
        <p:txBody>
          <a:bodyPr wrap="square" lIns="0" tIns="0" rIns="0" bIns="0" rtlCol="0" anchor="ctr"/>
          <a:lstStyle/>
          <a:p>
            <a:pPr algn="r" indent="0" marL="0">
              <a:buNone/>
            </a:pPr>
            <a:r>
              <a:rPr lang="en-US" sz="1100" i="1" dirty="0">
                <a:solidFill>
                  <a:schemeClr val="tx2"/>
                </a:solidFill>
              </a:rPr>
              <a:t>crystal_system</a:t>
            </a:r>
            <a:endParaRPr lang="en-US" sz="1100" dirty="0"/>
          </a:p>
        </p:txBody>
      </p:sp>
      <p:sp>
        <p:nvSpPr>
          <p:cNvPr id="30" name="pill-139"/>
          <p:cNvSpPr/>
          <p:nvPr/>
        </p:nvSpPr>
        <p:spPr>
          <a:xfrm>
            <a:off x="3566160" y="3264408"/>
            <a:ext cx="2011680" cy="694944"/>
          </a:xfrm>
          <a:prstGeom prst="roundRect">
            <a:avLst>
              <a:gd name="adj" fmla="val 50000"/>
            </a:avLst>
          </a:prstGeom>
          <a:solidFill>
            <a:schemeClr val="accent1"/>
          </a:solidFill>
          <a:ln/>
        </p:spPr>
        <p:txBody>
          <a:bodyPr wrap="square" lIns="0" tIns="0" rIns="0" bIns="0" rtlCol="0" anchor="ctr"/>
          <a:lstStyle/>
          <a:p>
            <a:pPr algn="ctr" indent="0" marL="0">
              <a:buNone/>
            </a:pPr>
            <a:r>
              <a:rPr lang="en-US" sz="1700" b="1" dirty="0">
                <a:solidFill>
                  <a:schemeClr val="bg1"/>
                </a:solidFill>
              </a:rPr>
              <a:t>Material · 794</a:t>
            </a:r>
            <a:endParaRPr lang="en-US" sz="17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Phase 2 GraphRAG Pipeline</a:t>
            </a:r>
            <a:endParaRPr lang="en-US" sz="2600" dirty="0"/>
          </a:p>
        </p:txBody>
      </p:sp>
      <p:sp>
        <p:nvSpPr>
          <p:cNvPr id="3" name="question"/>
          <p:cNvSpPr/>
          <p:nvPr/>
        </p:nvSpPr>
        <p:spPr>
          <a:xfrm>
            <a:off x="365760" y="896112"/>
            <a:ext cx="8412480" cy="438912"/>
          </a:xfrm>
          <a:prstGeom prst="roundRect">
            <a:avLst>
              <a:gd name="adj" fmla="val 12500"/>
            </a:avLst>
          </a:prstGeom>
          <a:solidFill>
            <a:schemeClr val="tx2"/>
          </a:solidFill>
          <a:ln/>
        </p:spPr>
        <p:txBody>
          <a:bodyPr wrap="square" lIns="0" tIns="1905" rIns="1905" bIns="0" rtlCol="0" anchor="ctr"/>
          <a:lstStyle/>
          <a:p>
            <a:pPr indent="0" marL="0">
              <a:buNone/>
            </a:pPr>
            <a:r>
              <a:rPr lang="en-US" sz="1400" b="1" dirty="0">
                <a:solidFill>
                  <a:schemeClr val="accent4"/>
                </a:solidFill>
              </a:rPr>
              <a:t>Q  </a:t>
            </a:r>
            <a:r>
              <a:rPr lang="en-US" sz="1400" dirty="0">
                <a:solidFill>
                  <a:schemeClr val="bg1"/>
                </a:solidFill>
              </a:rPr>
              <a:t>stable, cobalt-free Li cathode materials with a band gap above 2 eV</a:t>
            </a:r>
            <a:endParaRPr lang="en-US" sz="1400" dirty="0"/>
          </a:p>
        </p:txBody>
      </p:sp>
      <p:sp>
        <p:nvSpPr>
          <p:cNvPr id="4" name="pill-140"/>
          <p:cNvSpPr/>
          <p:nvPr/>
        </p:nvSpPr>
        <p:spPr>
          <a:xfrm>
            <a:off x="365760" y="1645920"/>
            <a:ext cx="141732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1  Parse</a:t>
            </a:r>
            <a:endParaRPr lang="en-US" sz="1400" dirty="0"/>
          </a:p>
        </p:txBody>
      </p:sp>
      <p:sp>
        <p:nvSpPr>
          <p:cNvPr id="5" name="text-141"/>
          <p:cNvSpPr txBox="1"/>
          <p:nvPr/>
        </p:nvSpPr>
        <p:spPr>
          <a:xfrm>
            <a:off x="1920240" y="1481328"/>
            <a:ext cx="3931920" cy="786384"/>
          </a:xfrm>
          <a:prstGeom prst="rect">
            <a:avLst/>
          </a:prstGeom>
          <a:noFill/>
          <a:ln/>
        </p:spPr>
        <p:txBody>
          <a:bodyPr wrap="square" lIns="0" tIns="0" rIns="0" bIns="0" rtlCol="0" anchor="ctr"/>
          <a:lstStyle/>
          <a:p>
            <a:pPr indent="0" marL="0">
              <a:buNone/>
            </a:pPr>
            <a:r>
              <a:rPr lang="en-US" sz="1250" dirty="0">
                <a:solidFill>
                  <a:schemeClr val="tx1"/>
                </a:solidFill>
              </a:rPr>
              <a:t>LLM (JSON schema) → typed constraints; rule-based fallback; values checked against graph vocabulary</a:t>
            </a:r>
            <a:endParaRPr lang="en-US" sz="1250" dirty="0"/>
          </a:p>
        </p:txBody>
      </p:sp>
      <p:sp>
        <p:nvSpPr>
          <p:cNvPr id="6" name="example-142"/>
          <p:cNvSpPr/>
          <p:nvPr/>
        </p:nvSpPr>
        <p:spPr>
          <a:xfrm>
            <a:off x="5989320" y="1517904"/>
            <a:ext cx="2788920" cy="713232"/>
          </a:xfrm>
          <a:prstGeom prst="roundRect">
            <a:avLst>
              <a:gd name="adj" fmla="val 10256"/>
            </a:avLst>
          </a:prstGeom>
          <a:solidFill>
            <a:schemeClr val="accent1">
              <a:alpha val="12000"/>
            </a:schemeClr>
          </a:solidFill>
          <a:ln w="15875">
            <a:solidFill>
              <a:schemeClr val="accent1"/>
            </a:solidFill>
            <a:prstDash val="solid"/>
          </a:ln>
        </p:spPr>
      </p:sp>
      <p:sp>
        <p:nvSpPr>
          <p:cNvPr id="7" name="text-143"/>
          <p:cNvSpPr txBox="1"/>
          <p:nvPr/>
        </p:nvSpPr>
        <p:spPr>
          <a:xfrm>
            <a:off x="6080760" y="1517904"/>
            <a:ext cx="2606040" cy="713232"/>
          </a:xfrm>
          <a:prstGeom prst="rect">
            <a:avLst/>
          </a:prstGeom>
          <a:noFill/>
          <a:ln/>
        </p:spPr>
        <p:txBody>
          <a:bodyPr wrap="square" lIns="0" tIns="0" rIns="0" bIns="0" rtlCol="0" anchor="ctr"/>
          <a:lstStyle/>
          <a:p>
            <a:pPr indent="0" marL="0">
              <a:buNone/>
            </a:pPr>
            <a:r>
              <a:rPr lang="en-US" sz="1150" b="1" dirty="0">
                <a:solidFill>
                  <a:schemeClr val="tx1"/>
                </a:solidFill>
              </a:rPr>
              <a:t>battery_cathode · band_gap ≥ 2 · stable · contains Li · no Co</a:t>
            </a:r>
            <a:endParaRPr lang="en-US" sz="1150" dirty="0"/>
          </a:p>
        </p:txBody>
      </p:sp>
      <p:sp>
        <p:nvSpPr>
          <p:cNvPr id="8" name="edge-144"/>
          <p:cNvSpPr/>
          <p:nvPr/>
        </p:nvSpPr>
        <p:spPr>
          <a:xfrm>
            <a:off x="1074420" y="2103120"/>
            <a:ext cx="0" cy="448056"/>
          </a:xfrm>
          <a:prstGeom prst="line">
            <a:avLst/>
          </a:prstGeom>
          <a:noFill/>
          <a:ln w="19050">
            <a:solidFill>
              <a:srgbClr val="555555"/>
            </a:solidFill>
            <a:prstDash val="solid"/>
            <a:tailEnd type="triangle"/>
          </a:ln>
        </p:spPr>
      </p:sp>
      <p:sp>
        <p:nvSpPr>
          <p:cNvPr id="9" name="pill-145"/>
          <p:cNvSpPr/>
          <p:nvPr/>
        </p:nvSpPr>
        <p:spPr>
          <a:xfrm>
            <a:off x="365760" y="2551176"/>
            <a:ext cx="1417320" cy="45720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2  Retrieve</a:t>
            </a:r>
            <a:endParaRPr lang="en-US" sz="1400" dirty="0"/>
          </a:p>
        </p:txBody>
      </p:sp>
      <p:sp>
        <p:nvSpPr>
          <p:cNvPr id="10" name="text-146"/>
          <p:cNvSpPr txBox="1"/>
          <p:nvPr/>
        </p:nvSpPr>
        <p:spPr>
          <a:xfrm>
            <a:off x="1920240" y="2386584"/>
            <a:ext cx="3931920" cy="786384"/>
          </a:xfrm>
          <a:prstGeom prst="rect">
            <a:avLst/>
          </a:prstGeom>
          <a:noFill/>
          <a:ln/>
        </p:spPr>
        <p:txBody>
          <a:bodyPr wrap="square" lIns="0" tIns="0" rIns="0" bIns="0" rtlCol="0" anchor="ctr"/>
          <a:lstStyle/>
          <a:p>
            <a:pPr indent="0" marL="0">
              <a:buNone/>
            </a:pPr>
            <a:r>
              <a:rPr lang="en-US" sz="1250" dirty="0">
                <a:solidFill>
                  <a:schemeClr val="tx1"/>
                </a:solidFill>
              </a:rPr>
              <a:t>Seed constraint nodes, traverse back to materials, intersect, enforce numeric ranges, rank</a:t>
            </a:r>
            <a:endParaRPr lang="en-US" sz="1250" dirty="0"/>
          </a:p>
        </p:txBody>
      </p:sp>
      <p:sp>
        <p:nvSpPr>
          <p:cNvPr id="11" name="example-147"/>
          <p:cNvSpPr/>
          <p:nvPr/>
        </p:nvSpPr>
        <p:spPr>
          <a:xfrm>
            <a:off x="5989320" y="2423160"/>
            <a:ext cx="2788920" cy="713232"/>
          </a:xfrm>
          <a:prstGeom prst="roundRect">
            <a:avLst>
              <a:gd name="adj" fmla="val 10256"/>
            </a:avLst>
          </a:prstGeom>
          <a:solidFill>
            <a:schemeClr val="accent3">
              <a:alpha val="12000"/>
            </a:schemeClr>
          </a:solidFill>
          <a:ln w="15875">
            <a:solidFill>
              <a:schemeClr val="accent3"/>
            </a:solidFill>
            <a:prstDash val="solid"/>
          </a:ln>
        </p:spPr>
      </p:sp>
      <p:sp>
        <p:nvSpPr>
          <p:cNvPr id="12" name="text-148"/>
          <p:cNvSpPr txBox="1"/>
          <p:nvPr/>
        </p:nvSpPr>
        <p:spPr>
          <a:xfrm>
            <a:off x="6080760" y="2423160"/>
            <a:ext cx="2606040" cy="713232"/>
          </a:xfrm>
          <a:prstGeom prst="rect">
            <a:avLst/>
          </a:prstGeom>
          <a:noFill/>
          <a:ln/>
        </p:spPr>
        <p:txBody>
          <a:bodyPr wrap="square" lIns="0" tIns="0" rIns="0" bIns="0" rtlCol="0" anchor="ctr"/>
          <a:lstStyle/>
          <a:p>
            <a:pPr indent="0" marL="0">
              <a:buNone/>
            </a:pPr>
            <a:r>
              <a:rPr lang="en-US" sz="1150" b="1" dirty="0">
                <a:solidFill>
                  <a:schemeClr val="tx1"/>
                </a:solidFill>
              </a:rPr>
              <a:t>39 of 77 reached materials pass every constraint; top: LiScO2</a:t>
            </a:r>
            <a:endParaRPr lang="en-US" sz="1150" dirty="0"/>
          </a:p>
        </p:txBody>
      </p:sp>
      <p:sp>
        <p:nvSpPr>
          <p:cNvPr id="13" name="edge-149"/>
          <p:cNvSpPr/>
          <p:nvPr/>
        </p:nvSpPr>
        <p:spPr>
          <a:xfrm>
            <a:off x="1074420" y="3008376"/>
            <a:ext cx="0" cy="448056"/>
          </a:xfrm>
          <a:prstGeom prst="line">
            <a:avLst/>
          </a:prstGeom>
          <a:noFill/>
          <a:ln w="19050">
            <a:solidFill>
              <a:srgbClr val="555555"/>
            </a:solidFill>
            <a:prstDash val="solid"/>
            <a:tailEnd type="triangle"/>
          </a:ln>
        </p:spPr>
      </p:sp>
      <p:sp>
        <p:nvSpPr>
          <p:cNvPr id="14" name="pill-150"/>
          <p:cNvSpPr/>
          <p:nvPr/>
        </p:nvSpPr>
        <p:spPr>
          <a:xfrm>
            <a:off x="365760" y="3456432"/>
            <a:ext cx="141732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400" b="1" dirty="0">
                <a:solidFill>
                  <a:schemeClr val="bg1"/>
                </a:solidFill>
              </a:rPr>
              <a:t>3  Evidence</a:t>
            </a:r>
            <a:endParaRPr lang="en-US" sz="1400" dirty="0"/>
          </a:p>
        </p:txBody>
      </p:sp>
      <p:sp>
        <p:nvSpPr>
          <p:cNvPr id="15" name="text-151"/>
          <p:cNvSpPr txBox="1"/>
          <p:nvPr/>
        </p:nvSpPr>
        <p:spPr>
          <a:xfrm>
            <a:off x="1920240" y="3291840"/>
            <a:ext cx="3931920" cy="786384"/>
          </a:xfrm>
          <a:prstGeom prst="rect">
            <a:avLst/>
          </a:prstGeom>
          <a:noFill/>
          <a:ln/>
        </p:spPr>
        <p:txBody>
          <a:bodyPr wrap="square" lIns="0" tIns="0" rIns="0" bIns="0" rtlCol="0" anchor="ctr"/>
          <a:lstStyle/>
          <a:p>
            <a:pPr indent="0" marL="0">
              <a:buNone/>
            </a:pPr>
            <a:r>
              <a:rPr lang="en-US" sz="1250" dirty="0">
                <a:solidFill>
                  <a:schemeClr val="tx1"/>
                </a:solidFill>
              </a:rPr>
              <a:t>Flatten into atomic facts [E1] [E2] …: an MP field or a graph edge with its rule text</a:t>
            </a:r>
            <a:endParaRPr lang="en-US" sz="1250" dirty="0"/>
          </a:p>
        </p:txBody>
      </p:sp>
      <p:sp>
        <p:nvSpPr>
          <p:cNvPr id="16" name="example-152"/>
          <p:cNvSpPr/>
          <p:nvPr/>
        </p:nvSpPr>
        <p:spPr>
          <a:xfrm>
            <a:off x="5989320" y="3328416"/>
            <a:ext cx="2788920" cy="713232"/>
          </a:xfrm>
          <a:prstGeom prst="roundRect">
            <a:avLst>
              <a:gd name="adj" fmla="val 10256"/>
            </a:avLst>
          </a:prstGeom>
          <a:solidFill>
            <a:schemeClr val="accent5">
              <a:alpha val="12000"/>
            </a:schemeClr>
          </a:solidFill>
          <a:ln w="15875">
            <a:solidFill>
              <a:schemeClr val="accent5"/>
            </a:solidFill>
            <a:prstDash val="solid"/>
          </a:ln>
        </p:spPr>
      </p:sp>
      <p:sp>
        <p:nvSpPr>
          <p:cNvPr id="17" name="text-153"/>
          <p:cNvSpPr txBox="1"/>
          <p:nvPr/>
        </p:nvSpPr>
        <p:spPr>
          <a:xfrm>
            <a:off x="6080760" y="3328416"/>
            <a:ext cx="2606040" cy="713232"/>
          </a:xfrm>
          <a:prstGeom prst="rect">
            <a:avLst/>
          </a:prstGeom>
          <a:noFill/>
          <a:ln/>
        </p:spPr>
        <p:txBody>
          <a:bodyPr wrap="square" lIns="0" tIns="0" rIns="0" bIns="0" rtlCol="0" anchor="ctr"/>
          <a:lstStyle/>
          <a:p>
            <a:pPr indent="0" marL="0">
              <a:buNone/>
            </a:pPr>
            <a:r>
              <a:rPr lang="en-US" sz="1150" b="1" dirty="0">
                <a:solidFill>
                  <a:schemeClr val="tx1"/>
                </a:solidFill>
              </a:rPr>
              <a:t>[E4] LiScO2 band_gap = 3.904 eV</a:t>
            </a:r>
            <a:endParaRPr lang="en-US" sz="1150" dirty="0"/>
          </a:p>
        </p:txBody>
      </p:sp>
      <p:sp>
        <p:nvSpPr>
          <p:cNvPr id="18" name="edge-154"/>
          <p:cNvSpPr/>
          <p:nvPr/>
        </p:nvSpPr>
        <p:spPr>
          <a:xfrm>
            <a:off x="1074420" y="3913632"/>
            <a:ext cx="0" cy="448056"/>
          </a:xfrm>
          <a:prstGeom prst="line">
            <a:avLst/>
          </a:prstGeom>
          <a:noFill/>
          <a:ln w="19050">
            <a:solidFill>
              <a:srgbClr val="555555"/>
            </a:solidFill>
            <a:prstDash val="solid"/>
            <a:tailEnd type="triangle"/>
          </a:ln>
        </p:spPr>
      </p:sp>
      <p:sp>
        <p:nvSpPr>
          <p:cNvPr id="19" name="pill-155"/>
          <p:cNvSpPr/>
          <p:nvPr/>
        </p:nvSpPr>
        <p:spPr>
          <a:xfrm>
            <a:off x="365760" y="4361688"/>
            <a:ext cx="1417320" cy="457200"/>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4  Explain</a:t>
            </a:r>
            <a:endParaRPr lang="en-US" sz="1400" dirty="0"/>
          </a:p>
        </p:txBody>
      </p:sp>
      <p:sp>
        <p:nvSpPr>
          <p:cNvPr id="20" name="text-156"/>
          <p:cNvSpPr txBox="1"/>
          <p:nvPr/>
        </p:nvSpPr>
        <p:spPr>
          <a:xfrm>
            <a:off x="1920240" y="4197096"/>
            <a:ext cx="3931920" cy="786384"/>
          </a:xfrm>
          <a:prstGeom prst="rect">
            <a:avLst/>
          </a:prstGeom>
          <a:noFill/>
          <a:ln/>
        </p:spPr>
        <p:txBody>
          <a:bodyPr wrap="square" lIns="0" tIns="0" rIns="0" bIns="0" rtlCol="0" anchor="ctr"/>
          <a:lstStyle/>
          <a:p>
            <a:pPr indent="0" marL="0">
              <a:buNone/>
            </a:pPr>
            <a:r>
              <a:rPr lang="en-US" sz="1250" dirty="0">
                <a:solidFill>
                  <a:schemeClr val="tx1"/>
                </a:solidFill>
              </a:rPr>
              <a:t>LLM writes claims citing fact ids, or a templated explanation without an LLM</a:t>
            </a:r>
            <a:endParaRPr lang="en-US" sz="1250" dirty="0"/>
          </a:p>
        </p:txBody>
      </p:sp>
      <p:sp>
        <p:nvSpPr>
          <p:cNvPr id="21" name="example-157"/>
          <p:cNvSpPr/>
          <p:nvPr/>
        </p:nvSpPr>
        <p:spPr>
          <a:xfrm>
            <a:off x="5989320" y="4233672"/>
            <a:ext cx="2788920" cy="713232"/>
          </a:xfrm>
          <a:prstGeom prst="roundRect">
            <a:avLst>
              <a:gd name="adj" fmla="val 10256"/>
            </a:avLst>
          </a:prstGeom>
          <a:solidFill>
            <a:schemeClr val="accent6">
              <a:alpha val="12000"/>
            </a:schemeClr>
          </a:solidFill>
          <a:ln w="15875">
            <a:solidFill>
              <a:schemeClr val="accent6"/>
            </a:solidFill>
            <a:prstDash val="solid"/>
          </a:ln>
        </p:spPr>
      </p:sp>
      <p:sp>
        <p:nvSpPr>
          <p:cNvPr id="22" name="text-158"/>
          <p:cNvSpPr txBox="1"/>
          <p:nvPr/>
        </p:nvSpPr>
        <p:spPr>
          <a:xfrm>
            <a:off x="6080760" y="4233672"/>
            <a:ext cx="2606040" cy="713232"/>
          </a:xfrm>
          <a:prstGeom prst="rect">
            <a:avLst/>
          </a:prstGeom>
          <a:noFill/>
          <a:ln/>
        </p:spPr>
        <p:txBody>
          <a:bodyPr wrap="square" lIns="0" tIns="0" rIns="0" bIns="0" rtlCol="0" anchor="ctr"/>
          <a:lstStyle/>
          <a:p>
            <a:pPr indent="0" marL="0">
              <a:buNone/>
            </a:pPr>
            <a:r>
              <a:rPr lang="en-US" sz="1150" b="1" dirty="0">
                <a:solidFill>
                  <a:schemeClr val="tx1"/>
                </a:solidFill>
              </a:rPr>
              <a:t>“LiScO2 is a stable cathode candidate … [E4]”</a:t>
            </a:r>
            <a:endParaRPr lang="en-US" sz="1150" dirty="0"/>
          </a:p>
        </p:txBody>
      </p:sp>
      <p:sp>
        <p:nvSpPr>
          <p:cNvPr id="23" name="edge-159"/>
          <p:cNvSpPr/>
          <p:nvPr/>
        </p:nvSpPr>
        <p:spPr>
          <a:xfrm>
            <a:off x="1074420" y="4818888"/>
            <a:ext cx="0" cy="448056"/>
          </a:xfrm>
          <a:prstGeom prst="line">
            <a:avLst/>
          </a:prstGeom>
          <a:noFill/>
          <a:ln w="19050">
            <a:solidFill>
              <a:srgbClr val="555555"/>
            </a:solidFill>
            <a:prstDash val="solid"/>
            <a:tailEnd type="triangle"/>
          </a:ln>
        </p:spPr>
      </p:sp>
      <p:sp>
        <p:nvSpPr>
          <p:cNvPr id="24" name="pill-160"/>
          <p:cNvSpPr/>
          <p:nvPr/>
        </p:nvSpPr>
        <p:spPr>
          <a:xfrm>
            <a:off x="365760" y="5266944"/>
            <a:ext cx="141732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5  Ground</a:t>
            </a:r>
            <a:endParaRPr lang="en-US" sz="1400" dirty="0"/>
          </a:p>
        </p:txBody>
      </p:sp>
      <p:sp>
        <p:nvSpPr>
          <p:cNvPr id="25" name="text-161"/>
          <p:cNvSpPr txBox="1"/>
          <p:nvPr/>
        </p:nvSpPr>
        <p:spPr>
          <a:xfrm>
            <a:off x="1920240" y="5102352"/>
            <a:ext cx="3931920" cy="786384"/>
          </a:xfrm>
          <a:prstGeom prst="rect">
            <a:avLst/>
          </a:prstGeom>
          <a:noFill/>
          <a:ln/>
        </p:spPr>
        <p:txBody>
          <a:bodyPr wrap="square" lIns="0" tIns="0" rIns="0" bIns="0" rtlCol="0" anchor="ctr"/>
          <a:lstStyle/>
          <a:p>
            <a:pPr indent="0" marL="0">
              <a:buNone/>
            </a:pPr>
            <a:r>
              <a:rPr lang="en-US" sz="1250" dirty="0">
                <a:solidFill>
                  <a:schemeClr val="tx1"/>
                </a:solidFill>
              </a:rPr>
              <a:t>Checker: ids exist, every number matches a cited fact, no unretrieved materials</a:t>
            </a:r>
            <a:endParaRPr lang="en-US" sz="1250" dirty="0"/>
          </a:p>
        </p:txBody>
      </p:sp>
      <p:sp>
        <p:nvSpPr>
          <p:cNvPr id="26" name="example-162"/>
          <p:cNvSpPr/>
          <p:nvPr/>
        </p:nvSpPr>
        <p:spPr>
          <a:xfrm>
            <a:off x="5989320" y="5138928"/>
            <a:ext cx="2788920" cy="713232"/>
          </a:xfrm>
          <a:prstGeom prst="roundRect">
            <a:avLst>
              <a:gd name="adj" fmla="val 10256"/>
            </a:avLst>
          </a:prstGeom>
          <a:solidFill>
            <a:schemeClr val="accent4">
              <a:alpha val="12000"/>
            </a:schemeClr>
          </a:solidFill>
          <a:ln w="15875">
            <a:solidFill>
              <a:schemeClr val="accent4"/>
            </a:solidFill>
            <a:prstDash val="solid"/>
          </a:ln>
        </p:spPr>
      </p:sp>
      <p:sp>
        <p:nvSpPr>
          <p:cNvPr id="27" name="text-163"/>
          <p:cNvSpPr txBox="1"/>
          <p:nvPr/>
        </p:nvSpPr>
        <p:spPr>
          <a:xfrm>
            <a:off x="6080760" y="5138928"/>
            <a:ext cx="2606040" cy="713232"/>
          </a:xfrm>
          <a:prstGeom prst="rect">
            <a:avLst/>
          </a:prstGeom>
          <a:noFill/>
          <a:ln/>
        </p:spPr>
        <p:txBody>
          <a:bodyPr wrap="square" lIns="0" tIns="0" rIns="0" bIns="0" rtlCol="0" anchor="ctr"/>
          <a:lstStyle/>
          <a:p>
            <a:pPr indent="0" marL="0">
              <a:buNone/>
            </a:pPr>
            <a:r>
              <a:rPr lang="en-US" sz="1150" b="1" dirty="0">
                <a:solidFill>
                  <a:schemeClr val="tx1"/>
                </a:solidFill>
              </a:rPr>
              <a:t>69 / 69 claims grounded (100%)</a:t>
            </a:r>
            <a:endParaRPr lang="en-US" sz="1150" dirty="0"/>
          </a:p>
        </p:txBody>
      </p:sp>
      <p:sp>
        <p:nvSpPr>
          <p:cNvPr id="28" name="text-164"/>
          <p:cNvSpPr txBox="1"/>
          <p:nvPr/>
        </p:nvSpPr>
        <p:spPr>
          <a:xfrm>
            <a:off x="365760" y="6035040"/>
            <a:ext cx="8412480" cy="411480"/>
          </a:xfrm>
          <a:prstGeom prst="rect">
            <a:avLst/>
          </a:prstGeom>
          <a:noFill/>
          <a:ln/>
        </p:spPr>
        <p:txBody>
          <a:bodyPr wrap="square" lIns="0" tIns="0" rIns="0" bIns="0" rtlCol="0" anchor="ctr"/>
          <a:lstStyle/>
          <a:p>
            <a:pPr indent="0" marL="0">
              <a:buNone/>
            </a:pPr>
            <a:r>
              <a:rPr lang="en-US" sz="1300" b="1" dirty="0">
                <a:solidFill>
                  <a:schemeClr val="accent1"/>
                </a:solidFill>
              </a:rPr>
              <a:t>The LLM never selects or filters materials. </a:t>
            </a:r>
            <a:r>
              <a:rPr lang="en-US" sz="1300" dirty="0">
                <a:solidFill>
                  <a:schemeClr val="tx1"/>
                </a:solidFill>
              </a:rPr>
              <a:t>Numeric limits, exclusions and rules are enforced exactly on graph attributes and edges.</a:t>
            </a:r>
            <a:endParaRPr lang="en-US" sz="13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New Material Ingestion</a:t>
            </a:r>
            <a:endParaRPr lang="en-US" sz="2600" dirty="0"/>
          </a:p>
        </p:txBody>
      </p:sp>
      <p:sp>
        <p:nvSpPr>
          <p:cNvPr id="3" name="ingest-step-165"/>
          <p:cNvSpPr/>
          <p:nvPr/>
        </p:nvSpPr>
        <p:spPr>
          <a:xfrm>
            <a:off x="365760" y="914400"/>
            <a:ext cx="1938528" cy="1965960"/>
          </a:xfrm>
          <a:prstGeom prst="roundRect">
            <a:avLst>
              <a:gd name="adj" fmla="val 3774"/>
            </a:avLst>
          </a:prstGeom>
          <a:solidFill>
            <a:schemeClr val="bg1"/>
          </a:solidFill>
          <a:ln w="19050">
            <a:solidFill>
              <a:schemeClr val="accent3"/>
            </a:solidFill>
            <a:prstDash val="solid"/>
          </a:ln>
        </p:spPr>
      </p:sp>
      <p:sp>
        <p:nvSpPr>
          <p:cNvPr id="4" name="num-166"/>
          <p:cNvSpPr/>
          <p:nvPr/>
        </p:nvSpPr>
        <p:spPr>
          <a:xfrm>
            <a:off x="457200" y="1033272"/>
            <a:ext cx="347472" cy="347472"/>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text-167"/>
          <p:cNvSpPr txBox="1"/>
          <p:nvPr/>
        </p:nvSpPr>
        <p:spPr>
          <a:xfrm>
            <a:off x="868680" y="100584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Input</a:t>
            </a:r>
            <a:endParaRPr lang="en-US" sz="1250" dirty="0"/>
          </a:p>
        </p:txBody>
      </p:sp>
      <p:sp>
        <p:nvSpPr>
          <p:cNvPr id="6" name="text-168"/>
          <p:cNvSpPr txBox="1"/>
          <p:nvPr/>
        </p:nvSpPr>
        <p:spPr>
          <a:xfrm>
            <a:off x="457200" y="150876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MP id, formula, CIF or POSCAR</a:t>
            </a:r>
            <a:endParaRPr lang="en-US" sz="1150" dirty="0"/>
          </a:p>
          <a:p>
            <a:pPr marL="114300" indent="-114300">
              <a:spcAft>
                <a:spcPts val="300"/>
              </a:spcAft>
              <a:buClr>
                <a:schemeClr val="accent1"/>
              </a:buClr>
              <a:buSzPct val="100000"/>
              <a:buChar char="●"/>
            </a:pPr>
            <a:r>
              <a:rPr lang="en-US" sz="1150" dirty="0">
                <a:solidFill>
                  <a:schemeClr val="tx1"/>
                </a:solidFill>
              </a:rPr>
              <a:t>dashboard, API or CLI</a:t>
            </a:r>
            <a:endParaRPr lang="en-US" sz="1150" dirty="0"/>
          </a:p>
        </p:txBody>
      </p:sp>
      <p:sp>
        <p:nvSpPr>
          <p:cNvPr id="7" name="edge-169"/>
          <p:cNvSpPr/>
          <p:nvPr/>
        </p:nvSpPr>
        <p:spPr>
          <a:xfrm>
            <a:off x="2304288" y="1897380"/>
            <a:ext cx="219456" cy="0"/>
          </a:xfrm>
          <a:prstGeom prst="line">
            <a:avLst/>
          </a:prstGeom>
          <a:noFill/>
          <a:ln w="19050">
            <a:solidFill>
              <a:srgbClr val="555555"/>
            </a:solidFill>
            <a:prstDash val="solid"/>
            <a:tailEnd type="triangle"/>
          </a:ln>
        </p:spPr>
      </p:sp>
      <p:sp>
        <p:nvSpPr>
          <p:cNvPr id="8" name="ingest-step-170"/>
          <p:cNvSpPr/>
          <p:nvPr/>
        </p:nvSpPr>
        <p:spPr>
          <a:xfrm>
            <a:off x="2523744" y="914400"/>
            <a:ext cx="1938528" cy="1965960"/>
          </a:xfrm>
          <a:prstGeom prst="roundRect">
            <a:avLst>
              <a:gd name="adj" fmla="val 3774"/>
            </a:avLst>
          </a:prstGeom>
          <a:solidFill>
            <a:schemeClr val="bg1"/>
          </a:solidFill>
          <a:ln w="19050">
            <a:solidFill>
              <a:schemeClr val="accent4"/>
            </a:solidFill>
            <a:prstDash val="solid"/>
          </a:ln>
        </p:spPr>
      </p:sp>
      <p:sp>
        <p:nvSpPr>
          <p:cNvPr id="9" name="num-171"/>
          <p:cNvSpPr/>
          <p:nvPr/>
        </p:nvSpPr>
        <p:spPr>
          <a:xfrm>
            <a:off x="2615184" y="1033272"/>
            <a:ext cx="347472" cy="347472"/>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172"/>
          <p:cNvSpPr txBox="1"/>
          <p:nvPr/>
        </p:nvSpPr>
        <p:spPr>
          <a:xfrm>
            <a:off x="3026664" y="100584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Property source</a:t>
            </a:r>
            <a:endParaRPr lang="en-US" sz="1250" dirty="0"/>
          </a:p>
        </p:txBody>
      </p:sp>
      <p:sp>
        <p:nvSpPr>
          <p:cNvPr id="11" name="text-173"/>
          <p:cNvSpPr txBox="1"/>
          <p:nvPr/>
        </p:nvSpPr>
        <p:spPr>
          <a:xfrm>
            <a:off x="2615184" y="150876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MP record → mp</a:t>
            </a:r>
            <a:endParaRPr lang="en-US" sz="1150" dirty="0"/>
          </a:p>
          <a:p>
            <a:pPr marL="114300" indent="-114300">
              <a:spcAft>
                <a:spcPts val="300"/>
              </a:spcAft>
              <a:buClr>
                <a:schemeClr val="accent1"/>
              </a:buClr>
              <a:buSzPct val="100000"/>
              <a:buChar char="●"/>
            </a:pPr>
            <a:r>
              <a:rPr lang="en-US" sz="1150" dirty="0">
                <a:solidFill>
                  <a:schemeClr val="tx1"/>
                </a:solidFill>
              </a:rPr>
              <a:t>formula → derived</a:t>
            </a:r>
            <a:endParaRPr lang="en-US" sz="1150" dirty="0"/>
          </a:p>
          <a:p>
            <a:pPr marL="114300" indent="-114300">
              <a:spcAft>
                <a:spcPts val="300"/>
              </a:spcAft>
              <a:buClr>
                <a:schemeClr val="accent1"/>
              </a:buClr>
              <a:buSzPct val="100000"/>
              <a:buChar char="●"/>
            </a:pPr>
            <a:r>
              <a:rPr lang="en-US" sz="1150" dirty="0">
                <a:solidFill>
                  <a:schemeClr val="tx1"/>
                </a:solidFill>
              </a:rPr>
              <a:t>CGCNN → predicted ± error</a:t>
            </a:r>
            <a:endParaRPr lang="en-US" sz="1150" dirty="0"/>
          </a:p>
        </p:txBody>
      </p:sp>
      <p:sp>
        <p:nvSpPr>
          <p:cNvPr id="12" name="edge-174"/>
          <p:cNvSpPr/>
          <p:nvPr/>
        </p:nvSpPr>
        <p:spPr>
          <a:xfrm>
            <a:off x="4462272" y="1897380"/>
            <a:ext cx="219456" cy="0"/>
          </a:xfrm>
          <a:prstGeom prst="line">
            <a:avLst/>
          </a:prstGeom>
          <a:noFill/>
          <a:ln w="19050">
            <a:solidFill>
              <a:srgbClr val="555555"/>
            </a:solidFill>
            <a:prstDash val="solid"/>
            <a:tailEnd type="triangle"/>
          </a:ln>
        </p:spPr>
      </p:sp>
      <p:sp>
        <p:nvSpPr>
          <p:cNvPr id="13" name="ingest-step-175"/>
          <p:cNvSpPr/>
          <p:nvPr/>
        </p:nvSpPr>
        <p:spPr>
          <a:xfrm>
            <a:off x="4681728" y="914400"/>
            <a:ext cx="1938528" cy="1965960"/>
          </a:xfrm>
          <a:prstGeom prst="roundRect">
            <a:avLst>
              <a:gd name="adj" fmla="val 3774"/>
            </a:avLst>
          </a:prstGeom>
          <a:solidFill>
            <a:schemeClr val="bg1"/>
          </a:solidFill>
          <a:ln w="19050">
            <a:solidFill>
              <a:schemeClr val="accent6"/>
            </a:solidFill>
            <a:prstDash val="solid"/>
          </a:ln>
        </p:spPr>
      </p:sp>
      <p:sp>
        <p:nvSpPr>
          <p:cNvPr id="14" name="num-176"/>
          <p:cNvSpPr/>
          <p:nvPr/>
        </p:nvSpPr>
        <p:spPr>
          <a:xfrm>
            <a:off x="4773168" y="1033272"/>
            <a:ext cx="347472" cy="347472"/>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177"/>
          <p:cNvSpPr txBox="1"/>
          <p:nvPr/>
        </p:nvSpPr>
        <p:spPr>
          <a:xfrm>
            <a:off x="5184648" y="100584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Deduplicate</a:t>
            </a:r>
            <a:endParaRPr lang="en-US" sz="1250" dirty="0"/>
          </a:p>
        </p:txBody>
      </p:sp>
      <p:sp>
        <p:nvSpPr>
          <p:cNvPr id="16" name="text-178"/>
          <p:cNvSpPr txBox="1"/>
          <p:nvPr/>
        </p:nvSpPr>
        <p:spPr>
          <a:xfrm>
            <a:off x="4773168" y="150876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formula → MP node</a:t>
            </a:r>
            <a:endParaRPr lang="en-US" sz="1150" dirty="0"/>
          </a:p>
          <a:p>
            <a:pPr marL="114300" indent="-114300">
              <a:spcAft>
                <a:spcPts val="300"/>
              </a:spcAft>
              <a:buClr>
                <a:schemeClr val="accent1"/>
              </a:buClr>
              <a:buSzPct val="100000"/>
              <a:buChar char="●"/>
            </a:pPr>
            <a:r>
              <a:rPr lang="en-US" sz="1150" dirty="0">
                <a:solidFill>
                  <a:schemeClr val="tx1"/>
                </a:solidFill>
              </a:rPr>
              <a:t>StructureMatcher</a:t>
            </a:r>
            <a:endParaRPr lang="en-US" sz="1150" dirty="0"/>
          </a:p>
          <a:p>
            <a:pPr marL="114300" indent="-114300">
              <a:spcAft>
                <a:spcPts val="300"/>
              </a:spcAft>
              <a:buClr>
                <a:schemeClr val="accent1"/>
              </a:buClr>
              <a:buSzPct val="100000"/>
              <a:buChar char="●"/>
            </a:pPr>
            <a:r>
              <a:rPr lang="en-US" sz="1150" dirty="0">
                <a:solidFill>
                  <a:schemeClr val="tx1"/>
                </a:solidFill>
              </a:rPr>
              <a:t>else new struct-… id</a:t>
            </a:r>
            <a:endParaRPr lang="en-US" sz="1150" dirty="0"/>
          </a:p>
        </p:txBody>
      </p:sp>
      <p:sp>
        <p:nvSpPr>
          <p:cNvPr id="17" name="edge-179"/>
          <p:cNvSpPr/>
          <p:nvPr/>
        </p:nvSpPr>
        <p:spPr>
          <a:xfrm>
            <a:off x="6620256" y="1897380"/>
            <a:ext cx="219456" cy="0"/>
          </a:xfrm>
          <a:prstGeom prst="line">
            <a:avLst/>
          </a:prstGeom>
          <a:noFill/>
          <a:ln w="19050">
            <a:solidFill>
              <a:srgbClr val="555555"/>
            </a:solidFill>
            <a:prstDash val="solid"/>
            <a:tailEnd type="triangle"/>
          </a:ln>
        </p:spPr>
      </p:sp>
      <p:sp>
        <p:nvSpPr>
          <p:cNvPr id="18" name="ingest-step-180"/>
          <p:cNvSpPr/>
          <p:nvPr/>
        </p:nvSpPr>
        <p:spPr>
          <a:xfrm>
            <a:off x="6839712" y="914400"/>
            <a:ext cx="1938528" cy="1965960"/>
          </a:xfrm>
          <a:prstGeom prst="roundRect">
            <a:avLst>
              <a:gd name="adj" fmla="val 3774"/>
            </a:avLst>
          </a:prstGeom>
          <a:solidFill>
            <a:schemeClr val="bg1"/>
          </a:solidFill>
          <a:ln w="19050">
            <a:solidFill>
              <a:schemeClr val="accent1"/>
            </a:solidFill>
            <a:prstDash val="solid"/>
          </a:ln>
        </p:spPr>
      </p:sp>
      <p:sp>
        <p:nvSpPr>
          <p:cNvPr id="19" name="num-181"/>
          <p:cNvSpPr/>
          <p:nvPr/>
        </p:nvSpPr>
        <p:spPr>
          <a:xfrm>
            <a:off x="6931152" y="1033272"/>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text-182"/>
          <p:cNvSpPr txBox="1"/>
          <p:nvPr/>
        </p:nvSpPr>
        <p:spPr>
          <a:xfrm>
            <a:off x="7342632" y="100584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Build nodes</a:t>
            </a:r>
            <a:endParaRPr lang="en-US" sz="1250" dirty="0"/>
          </a:p>
        </p:txBody>
      </p:sp>
      <p:sp>
        <p:nvSpPr>
          <p:cNvPr id="21" name="text-183"/>
          <p:cNvSpPr txBox="1"/>
          <p:nvPr/>
        </p:nvSpPr>
        <p:spPr>
          <a:xfrm>
            <a:off x="6931152" y="150876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same NodeFactory</a:t>
            </a:r>
            <a:endParaRPr lang="en-US" sz="1150" dirty="0"/>
          </a:p>
          <a:p>
            <a:pPr marL="114300" indent="-114300">
              <a:spcAft>
                <a:spcPts val="300"/>
              </a:spcAft>
              <a:buClr>
                <a:schemeClr val="accent1"/>
              </a:buClr>
              <a:buSzPct val="100000"/>
              <a:buChar char="●"/>
            </a:pPr>
            <a:r>
              <a:rPr lang="en-US" sz="1150" dirty="0">
                <a:solidFill>
                  <a:schemeClr val="tx1"/>
                </a:solidFill>
              </a:rPr>
              <a:t>identity keys reuse hubs</a:t>
            </a:r>
            <a:endParaRPr lang="en-US" sz="1150" dirty="0"/>
          </a:p>
          <a:p>
            <a:pPr marL="114300" indent="-114300">
              <a:spcAft>
                <a:spcPts val="300"/>
              </a:spcAft>
              <a:buClr>
                <a:schemeClr val="accent1"/>
              </a:buClr>
              <a:buSzPct val="100000"/>
              <a:buChar char="●"/>
            </a:pPr>
            <a:r>
              <a:rPr lang="en-US" sz="1150" dirty="0">
                <a:solidFill>
                  <a:schemeClr val="tx1"/>
                </a:solidFill>
              </a:rPr>
              <a:t>only missing hubs added</a:t>
            </a:r>
            <a:endParaRPr lang="en-US" sz="1150" dirty="0"/>
          </a:p>
        </p:txBody>
      </p:sp>
      <p:sp>
        <p:nvSpPr>
          <p:cNvPr id="22" name="ingest-step-184"/>
          <p:cNvSpPr/>
          <p:nvPr/>
        </p:nvSpPr>
        <p:spPr>
          <a:xfrm>
            <a:off x="365760" y="3337560"/>
            <a:ext cx="1938528" cy="1965960"/>
          </a:xfrm>
          <a:prstGeom prst="roundRect">
            <a:avLst>
              <a:gd name="adj" fmla="val 3774"/>
            </a:avLst>
          </a:prstGeom>
          <a:solidFill>
            <a:schemeClr val="bg1"/>
          </a:solidFill>
          <a:ln w="19050">
            <a:solidFill>
              <a:schemeClr val="accent5"/>
            </a:solidFill>
            <a:prstDash val="solid"/>
          </a:ln>
        </p:spPr>
      </p:sp>
      <p:sp>
        <p:nvSpPr>
          <p:cNvPr id="23" name="num-185"/>
          <p:cNvSpPr/>
          <p:nvPr/>
        </p:nvSpPr>
        <p:spPr>
          <a:xfrm>
            <a:off x="457200" y="3456432"/>
            <a:ext cx="347472" cy="347472"/>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4" name="text-186"/>
          <p:cNvSpPr txBox="1"/>
          <p:nvPr/>
        </p:nvSpPr>
        <p:spPr>
          <a:xfrm>
            <a:off x="868680" y="342900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Relate</a:t>
            </a:r>
            <a:endParaRPr lang="en-US" sz="1250" dirty="0"/>
          </a:p>
        </p:txBody>
      </p:sp>
      <p:sp>
        <p:nvSpPr>
          <p:cNvPr id="25" name="text-187"/>
          <p:cNvSpPr txBox="1"/>
          <p:nvPr/>
        </p:nvSpPr>
        <p:spPr>
          <a:xfrm>
            <a:off x="457200" y="393192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hubs by selectivity</a:t>
            </a:r>
            <a:endParaRPr lang="en-US" sz="1150" dirty="0"/>
          </a:p>
          <a:p>
            <a:pPr marL="114300" indent="-114300">
              <a:spcAft>
                <a:spcPts val="300"/>
              </a:spcAft>
              <a:buClr>
                <a:schemeClr val="accent1"/>
              </a:buClr>
              <a:buSzPct val="100000"/>
              <a:buChar char="●"/>
            </a:pPr>
            <a:r>
              <a:rPr lang="en-US" sz="1150" dirty="0">
                <a:solidFill>
                  <a:schemeClr val="tx1"/>
                </a:solidFill>
              </a:rPr>
              <a:t>similar_to (frozen scale)</a:t>
            </a:r>
            <a:endParaRPr lang="en-US" sz="1150" dirty="0"/>
          </a:p>
          <a:p>
            <a:pPr marL="114300" indent="-114300">
              <a:spcAft>
                <a:spcPts val="300"/>
              </a:spcAft>
              <a:buClr>
                <a:schemeClr val="accent1"/>
              </a:buClr>
              <a:buSzPct val="100000"/>
              <a:buChar char="●"/>
            </a:pPr>
            <a:r>
              <a:rPr lang="en-US" sz="1150" dirty="0">
                <a:solidFill>
                  <a:schemeClr val="tx1"/>
                </a:solidFill>
              </a:rPr>
              <a:t>compositional neighbours</a:t>
            </a:r>
            <a:endParaRPr lang="en-US" sz="1150" dirty="0"/>
          </a:p>
        </p:txBody>
      </p:sp>
      <p:sp>
        <p:nvSpPr>
          <p:cNvPr id="26" name="edge-188"/>
          <p:cNvSpPr/>
          <p:nvPr/>
        </p:nvSpPr>
        <p:spPr>
          <a:xfrm>
            <a:off x="2304288" y="4320540"/>
            <a:ext cx="219456" cy="0"/>
          </a:xfrm>
          <a:prstGeom prst="line">
            <a:avLst/>
          </a:prstGeom>
          <a:noFill/>
          <a:ln w="19050">
            <a:solidFill>
              <a:srgbClr val="555555"/>
            </a:solidFill>
            <a:prstDash val="solid"/>
            <a:tailEnd type="triangle"/>
          </a:ln>
        </p:spPr>
      </p:sp>
      <p:sp>
        <p:nvSpPr>
          <p:cNvPr id="27" name="ingest-step-189"/>
          <p:cNvSpPr/>
          <p:nvPr/>
        </p:nvSpPr>
        <p:spPr>
          <a:xfrm>
            <a:off x="2523744" y="3337560"/>
            <a:ext cx="1938528" cy="1965960"/>
          </a:xfrm>
          <a:prstGeom prst="roundRect">
            <a:avLst>
              <a:gd name="adj" fmla="val 3774"/>
            </a:avLst>
          </a:prstGeom>
          <a:solidFill>
            <a:schemeClr val="bg1"/>
          </a:solidFill>
          <a:ln w="19050">
            <a:solidFill>
              <a:schemeClr val="accent6"/>
            </a:solidFill>
            <a:prstDash val="solid"/>
          </a:ln>
        </p:spPr>
      </p:sp>
      <p:sp>
        <p:nvSpPr>
          <p:cNvPr id="28" name="num-190"/>
          <p:cNvSpPr/>
          <p:nvPr/>
        </p:nvSpPr>
        <p:spPr>
          <a:xfrm>
            <a:off x="2615184" y="3456432"/>
            <a:ext cx="347472" cy="347472"/>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9" name="text-191"/>
          <p:cNvSpPr txBox="1"/>
          <p:nvPr/>
        </p:nvSpPr>
        <p:spPr>
          <a:xfrm>
            <a:off x="3026664" y="342900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Relation report</a:t>
            </a:r>
            <a:endParaRPr lang="en-US" sz="1250" dirty="0"/>
          </a:p>
        </p:txBody>
      </p:sp>
      <p:sp>
        <p:nvSpPr>
          <p:cNvPr id="30" name="text-192"/>
          <p:cNvSpPr txBox="1"/>
          <p:nvPr/>
        </p:nvSpPr>
        <p:spPr>
          <a:xfrm>
            <a:off x="2615184" y="393192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properties + provenance</a:t>
            </a:r>
            <a:endParaRPr lang="en-US" sz="1150" dirty="0"/>
          </a:p>
          <a:p>
            <a:pPr marL="114300" indent="-114300">
              <a:spcAft>
                <a:spcPts val="300"/>
              </a:spcAft>
              <a:buClr>
                <a:schemeClr val="accent1"/>
              </a:buClr>
              <a:buSzPct val="100000"/>
              <a:buChar char="●"/>
            </a:pPr>
            <a:r>
              <a:rPr lang="en-US" sz="1150" dirty="0">
                <a:solidFill>
                  <a:schemeClr val="tx1"/>
                </a:solidFill>
              </a:rPr>
              <a:t>rules fired / not fired / cannot evaluate</a:t>
            </a:r>
            <a:endParaRPr lang="en-US" sz="1150" dirty="0"/>
          </a:p>
        </p:txBody>
      </p:sp>
      <p:sp>
        <p:nvSpPr>
          <p:cNvPr id="31" name="edge-193"/>
          <p:cNvSpPr/>
          <p:nvPr/>
        </p:nvSpPr>
        <p:spPr>
          <a:xfrm>
            <a:off x="4462272" y="4320540"/>
            <a:ext cx="219456" cy="0"/>
          </a:xfrm>
          <a:prstGeom prst="line">
            <a:avLst/>
          </a:prstGeom>
          <a:noFill/>
          <a:ln w="19050">
            <a:solidFill>
              <a:srgbClr val="555555"/>
            </a:solidFill>
            <a:prstDash val="solid"/>
            <a:tailEnd type="triangle"/>
          </a:ln>
        </p:spPr>
      </p:sp>
      <p:sp>
        <p:nvSpPr>
          <p:cNvPr id="32" name="ingest-step-194"/>
          <p:cNvSpPr/>
          <p:nvPr/>
        </p:nvSpPr>
        <p:spPr>
          <a:xfrm>
            <a:off x="4681728" y="3337560"/>
            <a:ext cx="1938528" cy="1965960"/>
          </a:xfrm>
          <a:prstGeom prst="roundRect">
            <a:avLst>
              <a:gd name="adj" fmla="val 3774"/>
            </a:avLst>
          </a:prstGeom>
          <a:solidFill>
            <a:schemeClr val="bg1"/>
          </a:solidFill>
          <a:ln w="19050">
            <a:solidFill>
              <a:schemeClr val="accent1"/>
            </a:solidFill>
            <a:prstDash val="solid"/>
          </a:ln>
        </p:spPr>
      </p:sp>
      <p:sp>
        <p:nvSpPr>
          <p:cNvPr id="33" name="num-195"/>
          <p:cNvSpPr/>
          <p:nvPr/>
        </p:nvSpPr>
        <p:spPr>
          <a:xfrm>
            <a:off x="4773168" y="3456432"/>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4" name="text-196"/>
          <p:cNvSpPr txBox="1"/>
          <p:nvPr/>
        </p:nvSpPr>
        <p:spPr>
          <a:xfrm>
            <a:off x="5184648" y="342900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Explain &amp; ground</a:t>
            </a:r>
            <a:endParaRPr lang="en-US" sz="1250" dirty="0"/>
          </a:p>
        </p:txBody>
      </p:sp>
      <p:sp>
        <p:nvSpPr>
          <p:cNvPr id="35" name="text-197"/>
          <p:cNvSpPr txBox="1"/>
          <p:nvPr/>
        </p:nvSpPr>
        <p:spPr>
          <a:xfrm>
            <a:off x="4773168" y="393192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LLM or template</a:t>
            </a:r>
            <a:endParaRPr lang="en-US" sz="1150" dirty="0"/>
          </a:p>
          <a:p>
            <a:pPr marL="114300" indent="-114300">
              <a:spcAft>
                <a:spcPts val="300"/>
              </a:spcAft>
              <a:buClr>
                <a:schemeClr val="accent1"/>
              </a:buClr>
              <a:buSzPct val="100000"/>
              <a:buChar char="●"/>
            </a:pPr>
            <a:r>
              <a:rPr lang="en-US" sz="1150" dirty="0">
                <a:solidFill>
                  <a:schemeClr val="tx1"/>
                </a:solidFill>
              </a:rPr>
              <a:t>claims checked against facts</a:t>
            </a:r>
            <a:endParaRPr lang="en-US" sz="1150" dirty="0"/>
          </a:p>
        </p:txBody>
      </p:sp>
      <p:sp>
        <p:nvSpPr>
          <p:cNvPr id="36" name="edge-198"/>
          <p:cNvSpPr/>
          <p:nvPr/>
        </p:nvSpPr>
        <p:spPr>
          <a:xfrm>
            <a:off x="6620256" y="4320540"/>
            <a:ext cx="219456" cy="0"/>
          </a:xfrm>
          <a:prstGeom prst="line">
            <a:avLst/>
          </a:prstGeom>
          <a:noFill/>
          <a:ln w="19050">
            <a:solidFill>
              <a:srgbClr val="555555"/>
            </a:solidFill>
            <a:prstDash val="solid"/>
            <a:tailEnd type="triangle"/>
          </a:ln>
        </p:spPr>
      </p:sp>
      <p:sp>
        <p:nvSpPr>
          <p:cNvPr id="37" name="ingest-step-199"/>
          <p:cNvSpPr/>
          <p:nvPr/>
        </p:nvSpPr>
        <p:spPr>
          <a:xfrm>
            <a:off x="6839712" y="3337560"/>
            <a:ext cx="1938528" cy="1965960"/>
          </a:xfrm>
          <a:prstGeom prst="roundRect">
            <a:avLst>
              <a:gd name="adj" fmla="val 3774"/>
            </a:avLst>
          </a:prstGeom>
          <a:solidFill>
            <a:schemeClr val="bg1"/>
          </a:solidFill>
          <a:ln w="19050">
            <a:solidFill>
              <a:schemeClr val="accent3"/>
            </a:solidFill>
            <a:prstDash val="solid"/>
          </a:ln>
        </p:spPr>
      </p:sp>
      <p:sp>
        <p:nvSpPr>
          <p:cNvPr id="38" name="num-200"/>
          <p:cNvSpPr/>
          <p:nvPr/>
        </p:nvSpPr>
        <p:spPr>
          <a:xfrm>
            <a:off x="6931152" y="3456432"/>
            <a:ext cx="347472" cy="347472"/>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39" name="text-201"/>
          <p:cNvSpPr txBox="1"/>
          <p:nvPr/>
        </p:nvSpPr>
        <p:spPr>
          <a:xfrm>
            <a:off x="7342632" y="3429000"/>
            <a:ext cx="1389888" cy="402336"/>
          </a:xfrm>
          <a:prstGeom prst="rect">
            <a:avLst/>
          </a:prstGeom>
          <a:noFill/>
          <a:ln/>
        </p:spPr>
        <p:txBody>
          <a:bodyPr wrap="square" lIns="0" tIns="0" rIns="0" bIns="0" rtlCol="0" anchor="ctr"/>
          <a:lstStyle/>
          <a:p>
            <a:pPr indent="0" marL="0">
              <a:buNone/>
            </a:pPr>
            <a:r>
              <a:rPr lang="en-US" sz="1250" b="1" dirty="0">
                <a:solidFill>
                  <a:schemeClr val="tx1"/>
                </a:solidFill>
              </a:rPr>
              <a:t>Preview / persist</a:t>
            </a:r>
            <a:endParaRPr lang="en-US" sz="1250" dirty="0"/>
          </a:p>
        </p:txBody>
      </p:sp>
      <p:sp>
        <p:nvSpPr>
          <p:cNvPr id="40" name="text-202"/>
          <p:cNvSpPr txBox="1"/>
          <p:nvPr/>
        </p:nvSpPr>
        <p:spPr>
          <a:xfrm>
            <a:off x="6931152" y="3931920"/>
            <a:ext cx="1773936" cy="1280160"/>
          </a:xfrm>
          <a:prstGeom prst="rect">
            <a:avLst/>
          </a:prstGeom>
          <a:noFill/>
          <a:ln/>
        </p:spPr>
        <p:txBody>
          <a:bodyPr wrap="square" lIns="0" tIns="0" rIns="0" bIns="0" rtlCol="0" anchor="t"/>
          <a:lstStyle/>
          <a:p>
            <a:pPr marL="114300" indent="-114300">
              <a:spcAft>
                <a:spcPts val="300"/>
              </a:spcAft>
              <a:buClr>
                <a:schemeClr val="accent1"/>
              </a:buClr>
              <a:buSzPct val="100000"/>
              <a:buChar char="●"/>
            </a:pPr>
            <a:r>
              <a:rPr lang="en-US" sz="1150" dirty="0">
                <a:solidFill>
                  <a:schemeClr val="tx1"/>
                </a:solidFill>
              </a:rPr>
              <a:t>in-memory overlay</a:t>
            </a:r>
            <a:endParaRPr lang="en-US" sz="1150" dirty="0"/>
          </a:p>
          <a:p>
            <a:pPr marL="114300" indent="-114300">
              <a:spcAft>
                <a:spcPts val="300"/>
              </a:spcAft>
              <a:buClr>
                <a:schemeClr val="accent1"/>
              </a:buClr>
              <a:buSzPct val="100000"/>
              <a:buChar char="●"/>
            </a:pPr>
            <a:r>
              <a:rPr lang="en-US" sz="1150" dirty="0">
                <a:solidFill>
                  <a:schemeClr val="tx1"/>
                </a:solidFill>
              </a:rPr>
              <a:t>or saved, replayed on rebuild</a:t>
            </a:r>
            <a:endParaRPr lang="en-US" sz="1150" dirty="0"/>
          </a:p>
        </p:txBody>
      </p:sp>
      <p:sp>
        <p:nvSpPr>
          <p:cNvPr id="41" name="edge-203"/>
          <p:cNvSpPr/>
          <p:nvPr/>
        </p:nvSpPr>
        <p:spPr>
          <a:xfrm>
            <a:off x="7808976" y="2880360"/>
            <a:ext cx="0" cy="228600"/>
          </a:xfrm>
          <a:prstGeom prst="line">
            <a:avLst/>
          </a:prstGeom>
          <a:noFill/>
          <a:ln w="19050">
            <a:solidFill>
              <a:srgbClr val="555555"/>
            </a:solidFill>
            <a:prstDash val="solid"/>
          </a:ln>
        </p:spPr>
      </p:sp>
      <p:sp>
        <p:nvSpPr>
          <p:cNvPr id="42" name="edge-204"/>
          <p:cNvSpPr/>
          <p:nvPr/>
        </p:nvSpPr>
        <p:spPr>
          <a:xfrm flipH="1">
            <a:off x="1335024" y="3108960"/>
            <a:ext cx="6473952" cy="0"/>
          </a:xfrm>
          <a:prstGeom prst="line">
            <a:avLst/>
          </a:prstGeom>
          <a:noFill/>
          <a:ln w="19050">
            <a:solidFill>
              <a:srgbClr val="555555"/>
            </a:solidFill>
            <a:prstDash val="solid"/>
          </a:ln>
        </p:spPr>
      </p:sp>
      <p:sp>
        <p:nvSpPr>
          <p:cNvPr id="43" name="edge-205"/>
          <p:cNvSpPr/>
          <p:nvPr/>
        </p:nvSpPr>
        <p:spPr>
          <a:xfrm>
            <a:off x="1335024" y="3108960"/>
            <a:ext cx="0" cy="228600"/>
          </a:xfrm>
          <a:prstGeom prst="line">
            <a:avLst/>
          </a:prstGeom>
          <a:noFill/>
          <a:ln w="19050">
            <a:solidFill>
              <a:srgbClr val="555555"/>
            </a:solidFill>
            <a:prstDash val="solid"/>
            <a:tailEnd type="triangle"/>
          </a:ln>
        </p:spPr>
      </p:sp>
      <p:sp>
        <p:nvSpPr>
          <p:cNvPr id="44" name="text-206"/>
          <p:cNvSpPr txBox="1"/>
          <p:nvPr/>
        </p:nvSpPr>
        <p:spPr>
          <a:xfrm>
            <a:off x="365760" y="5532120"/>
            <a:ext cx="1097280" cy="329184"/>
          </a:xfrm>
          <a:prstGeom prst="rect">
            <a:avLst/>
          </a:prstGeom>
          <a:noFill/>
          <a:ln/>
        </p:spPr>
        <p:txBody>
          <a:bodyPr wrap="square" lIns="0" tIns="0" rIns="0" bIns="0" rtlCol="0" anchor="ctr"/>
          <a:lstStyle/>
          <a:p>
            <a:pPr indent="0" marL="0">
              <a:buNone/>
            </a:pPr>
            <a:r>
              <a:rPr lang="en-US" sz="1200" b="1" dirty="0">
                <a:solidFill>
                  <a:schemeClr val="tx1"/>
                </a:solidFill>
              </a:rPr>
              <a:t>Provenance:</a:t>
            </a:r>
            <a:endParaRPr lang="en-US" sz="1200" dirty="0"/>
          </a:p>
        </p:txBody>
      </p:sp>
      <p:sp>
        <p:nvSpPr>
          <p:cNvPr id="45" name="pill-207"/>
          <p:cNvSpPr/>
          <p:nvPr/>
        </p:nvSpPr>
        <p:spPr>
          <a:xfrm>
            <a:off x="1508760" y="5541264"/>
            <a:ext cx="1051560" cy="310896"/>
          </a:xfrm>
          <a:prstGeom prst="roundRect">
            <a:avLst>
              <a:gd name="adj" fmla="val 50000"/>
            </a:avLst>
          </a:prstGeom>
          <a:solidFill>
            <a:schemeClr val="accent3">
              <a:alpha val="15000"/>
            </a:schemeClr>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mp</a:t>
            </a:r>
            <a:endParaRPr lang="en-US" sz="1100" dirty="0"/>
          </a:p>
        </p:txBody>
      </p:sp>
      <p:sp>
        <p:nvSpPr>
          <p:cNvPr id="46" name="pill-208"/>
          <p:cNvSpPr/>
          <p:nvPr/>
        </p:nvSpPr>
        <p:spPr>
          <a:xfrm>
            <a:off x="2697480" y="5541264"/>
            <a:ext cx="1051560" cy="310896"/>
          </a:xfrm>
          <a:prstGeom prst="roundRect">
            <a:avLst>
              <a:gd name="adj" fmla="val 50000"/>
            </a:avLst>
          </a:prstGeom>
          <a:solidFill>
            <a:schemeClr val="accent5">
              <a:alpha val="15000"/>
            </a:schemeClr>
          </a:solidFill>
          <a:ln w="15875">
            <a:solidFill>
              <a:schemeClr val="accent5"/>
            </a:solidFill>
            <a:prstDash val="solid"/>
          </a:ln>
        </p:spPr>
        <p:txBody>
          <a:bodyPr wrap="square" lIns="0" tIns="0" rIns="0" bIns="0" rtlCol="0" anchor="ctr"/>
          <a:lstStyle/>
          <a:p>
            <a:pPr algn="ctr" indent="0" marL="0">
              <a:buNone/>
            </a:pPr>
            <a:r>
              <a:rPr lang="en-US" sz="1100" b="1" dirty="0">
                <a:solidFill>
                  <a:schemeClr val="tx1"/>
                </a:solidFill>
              </a:rPr>
              <a:t>derived</a:t>
            </a:r>
            <a:endParaRPr lang="en-US" sz="1100" dirty="0"/>
          </a:p>
        </p:txBody>
      </p:sp>
      <p:sp>
        <p:nvSpPr>
          <p:cNvPr id="47" name="pill-209"/>
          <p:cNvSpPr/>
          <p:nvPr/>
        </p:nvSpPr>
        <p:spPr>
          <a:xfrm>
            <a:off x="3886200" y="5541264"/>
            <a:ext cx="1051560" cy="310896"/>
          </a:xfrm>
          <a:prstGeom prst="roundRect">
            <a:avLst>
              <a:gd name="adj" fmla="val 50000"/>
            </a:avLst>
          </a:prstGeom>
          <a:solidFill>
            <a:schemeClr val="accent6">
              <a:alpha val="15000"/>
            </a:schemeClr>
          </a:solidFill>
          <a:ln w="15875">
            <a:solidFill>
              <a:schemeClr val="accent6"/>
            </a:solidFill>
            <a:prstDash val="solid"/>
          </a:ln>
        </p:spPr>
        <p:txBody>
          <a:bodyPr wrap="square" lIns="0" tIns="0" rIns="0" bIns="0" rtlCol="0" anchor="ctr"/>
          <a:lstStyle/>
          <a:p>
            <a:pPr algn="ctr" indent="0" marL="0">
              <a:buNone/>
            </a:pPr>
            <a:r>
              <a:rPr lang="en-US" sz="1100" b="1" dirty="0">
                <a:solidFill>
                  <a:schemeClr val="tx1"/>
                </a:solidFill>
              </a:rPr>
              <a:t>guessed</a:t>
            </a:r>
            <a:endParaRPr lang="en-US" sz="1100" dirty="0"/>
          </a:p>
        </p:txBody>
      </p:sp>
      <p:sp>
        <p:nvSpPr>
          <p:cNvPr id="48" name="pill-210"/>
          <p:cNvSpPr/>
          <p:nvPr/>
        </p:nvSpPr>
        <p:spPr>
          <a:xfrm>
            <a:off x="5074920" y="5541264"/>
            <a:ext cx="1051560" cy="310896"/>
          </a:xfrm>
          <a:prstGeom prst="roundRect">
            <a:avLst>
              <a:gd name="adj" fmla="val 50000"/>
            </a:avLst>
          </a:prstGeom>
          <a:solidFill>
            <a:schemeClr val="accent4">
              <a:alpha val="15000"/>
            </a:schemeClr>
          </a:solidFill>
          <a:ln w="15875">
            <a:solidFill>
              <a:schemeClr val="accent4"/>
            </a:solidFill>
            <a:prstDash val="dash"/>
          </a:ln>
        </p:spPr>
        <p:txBody>
          <a:bodyPr wrap="square" lIns="0" tIns="0" rIns="0" bIns="0" rtlCol="0" anchor="ctr"/>
          <a:lstStyle/>
          <a:p>
            <a:pPr algn="ctr" indent="0" marL="0">
              <a:buNone/>
            </a:pPr>
            <a:r>
              <a:rPr lang="en-US" sz="1100" b="1" dirty="0">
                <a:solidFill>
                  <a:schemeClr val="tx1"/>
                </a:solidFill>
              </a:rPr>
              <a:t>predicted</a:t>
            </a:r>
            <a:endParaRPr lang="en-US" sz="1100" dirty="0"/>
          </a:p>
        </p:txBody>
      </p:sp>
      <p:sp>
        <p:nvSpPr>
          <p:cNvPr id="49" name="text-211"/>
          <p:cNvSpPr txBox="1"/>
          <p:nvPr/>
        </p:nvSpPr>
        <p:spPr>
          <a:xfrm>
            <a:off x="6309360" y="5468112"/>
            <a:ext cx="2468880" cy="457200"/>
          </a:xfrm>
          <a:prstGeom prst="rect">
            <a:avLst/>
          </a:prstGeom>
          <a:noFill/>
          <a:ln/>
        </p:spPr>
        <p:txBody>
          <a:bodyPr wrap="square" lIns="0" tIns="0" rIns="0" bIns="0" rtlCol="0" anchor="ctr"/>
          <a:lstStyle/>
          <a:p>
            <a:pPr indent="0" marL="0">
              <a:buNone/>
            </a:pPr>
            <a:r>
              <a:rPr lang="en-US" sz="1100" dirty="0">
                <a:solidFill>
                  <a:schemeClr val="tx2"/>
                </a:solidFill>
              </a:rPr>
              <a:t>Predicted facts are hedged in explanations and drawn dashed.</a:t>
            </a:r>
            <a:endParaRPr lang="en-US" sz="1100" dirty="0"/>
          </a:p>
        </p:txBody>
      </p:sp>
      <p:sp>
        <p:nvSpPr>
          <p:cNvPr id="50" name="text-212"/>
          <p:cNvSpPr txBox="1"/>
          <p:nvPr/>
        </p:nvSpPr>
        <p:spPr>
          <a:xfrm>
            <a:off x="365760" y="5989320"/>
            <a:ext cx="8412480" cy="365760"/>
          </a:xfrm>
          <a:prstGeom prst="rect">
            <a:avLst/>
          </a:prstGeom>
          <a:noFill/>
          <a:ln/>
        </p:spPr>
        <p:txBody>
          <a:bodyPr wrap="square" lIns="0" tIns="0" rIns="0" bIns="0" rtlCol="0" anchor="ctr"/>
          <a:lstStyle/>
          <a:p>
            <a:pPr indent="0" marL="0">
              <a:buNone/>
            </a:pPr>
            <a:r>
              <a:rPr lang="en-US" sz="1200" i="1" dirty="0">
                <a:solidFill>
                  <a:schemeClr val="tx2"/>
                </a:solidFill>
              </a:rPr>
              <a:t>CGCNN (pre-trained, txie-93) supplies properties only when the input is a bare crystal structure.</a:t>
            </a:r>
            <a:endParaRPr lang="en-US" sz="12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Methodology — How a New Material Connects</a:t>
            </a:r>
            <a:endParaRPr lang="en-US" sz="2600" dirty="0"/>
          </a:p>
        </p:txBody>
      </p:sp>
      <p:sp>
        <p:nvSpPr>
          <p:cNvPr id="3" name="edge-213"/>
          <p:cNvSpPr/>
          <p:nvPr/>
        </p:nvSpPr>
        <p:spPr>
          <a:xfrm flipH="1" flipV="1">
            <a:off x="2468880" y="2011680"/>
            <a:ext cx="1143000" cy="1600200"/>
          </a:xfrm>
          <a:prstGeom prst="line">
            <a:avLst/>
          </a:prstGeom>
          <a:noFill/>
          <a:ln w="22225">
            <a:solidFill>
              <a:schemeClr val="accent3"/>
            </a:solidFill>
            <a:prstDash val="solid"/>
            <a:tailEnd type="triangle"/>
          </a:ln>
        </p:spPr>
      </p:sp>
      <p:sp>
        <p:nvSpPr>
          <p:cNvPr id="4" name="edge-214"/>
          <p:cNvSpPr/>
          <p:nvPr/>
        </p:nvSpPr>
        <p:spPr>
          <a:xfrm flipH="1">
            <a:off x="2468880" y="3611880"/>
            <a:ext cx="1143000" cy="0"/>
          </a:xfrm>
          <a:prstGeom prst="line">
            <a:avLst/>
          </a:prstGeom>
          <a:noFill/>
          <a:ln w="22225">
            <a:solidFill>
              <a:schemeClr val="accent5"/>
            </a:solidFill>
            <a:prstDash val="solid"/>
            <a:tailEnd type="triangle"/>
          </a:ln>
        </p:spPr>
      </p:sp>
      <p:sp>
        <p:nvSpPr>
          <p:cNvPr id="5" name="edge-215"/>
          <p:cNvSpPr/>
          <p:nvPr/>
        </p:nvSpPr>
        <p:spPr>
          <a:xfrm flipH="1">
            <a:off x="2468880" y="3611880"/>
            <a:ext cx="1143000" cy="1600200"/>
          </a:xfrm>
          <a:prstGeom prst="line">
            <a:avLst/>
          </a:prstGeom>
          <a:noFill/>
          <a:ln w="22225">
            <a:solidFill>
              <a:schemeClr val="accent4"/>
            </a:solidFill>
            <a:prstDash val="solid"/>
            <a:tailEnd type="triangle"/>
          </a:ln>
        </p:spPr>
      </p:sp>
      <p:sp>
        <p:nvSpPr>
          <p:cNvPr id="6" name="edge-216"/>
          <p:cNvSpPr/>
          <p:nvPr/>
        </p:nvSpPr>
        <p:spPr>
          <a:xfrm flipV="1">
            <a:off x="3611880" y="2331720"/>
            <a:ext cx="0" cy="1280160"/>
          </a:xfrm>
          <a:prstGeom prst="line">
            <a:avLst/>
          </a:prstGeom>
          <a:noFill/>
          <a:ln w="22225">
            <a:solidFill>
              <a:schemeClr val="accent6"/>
            </a:solidFill>
            <a:prstDash val="solid"/>
            <a:tailEnd type="triangle"/>
          </a:ln>
        </p:spPr>
      </p:sp>
      <p:sp>
        <p:nvSpPr>
          <p:cNvPr id="7" name="edge-217"/>
          <p:cNvSpPr/>
          <p:nvPr/>
        </p:nvSpPr>
        <p:spPr>
          <a:xfrm>
            <a:off x="3611880" y="3611880"/>
            <a:ext cx="0" cy="1280160"/>
          </a:xfrm>
          <a:prstGeom prst="line">
            <a:avLst/>
          </a:prstGeom>
          <a:noFill/>
          <a:ln w="22225">
            <a:solidFill>
              <a:schemeClr val="accent6"/>
            </a:solidFill>
            <a:prstDash val="solid"/>
            <a:tailEnd type="triangle"/>
          </a:ln>
        </p:spPr>
      </p:sp>
      <p:sp>
        <p:nvSpPr>
          <p:cNvPr id="8" name="hub-group-218"/>
          <p:cNvSpPr/>
          <p:nvPr/>
        </p:nvSpPr>
        <p:spPr>
          <a:xfrm>
            <a:off x="365760" y="914400"/>
            <a:ext cx="2103120" cy="1627632"/>
          </a:xfrm>
          <a:prstGeom prst="roundRect">
            <a:avLst>
              <a:gd name="adj" fmla="val 4494"/>
            </a:avLst>
          </a:prstGeom>
          <a:solidFill>
            <a:schemeClr val="accent3">
              <a:alpha val="12000"/>
            </a:schemeClr>
          </a:solidFill>
          <a:ln w="15875">
            <a:solidFill>
              <a:schemeClr val="accent3"/>
            </a:solidFill>
            <a:prstDash val="solid"/>
          </a:ln>
        </p:spPr>
      </p:sp>
      <p:sp>
        <p:nvSpPr>
          <p:cNvPr id="9" name="text-219"/>
          <p:cNvSpPr txBox="1"/>
          <p:nvPr/>
        </p:nvSpPr>
        <p:spPr>
          <a:xfrm>
            <a:off x="457200" y="987552"/>
            <a:ext cx="1920240" cy="438912"/>
          </a:xfrm>
          <a:prstGeom prst="rect">
            <a:avLst/>
          </a:prstGeom>
          <a:noFill/>
          <a:ln/>
        </p:spPr>
        <p:txBody>
          <a:bodyPr wrap="square" lIns="0" tIns="0" rIns="0" bIns="0" rtlCol="0" anchor="t"/>
          <a:lstStyle/>
          <a:p>
            <a:pPr indent="0" marL="0">
              <a:buNone/>
            </a:pPr>
            <a:r>
              <a:rPr lang="en-US" sz="1200" b="1" dirty="0">
                <a:solidFill>
                  <a:schemeClr val="tx1"/>
                </a:solidFill>
              </a:rPr>
              <a:t>contains → Element</a:t>
            </a:r>
            <a:endParaRPr lang="en-US" sz="1200" dirty="0"/>
          </a:p>
        </p:txBody>
      </p:sp>
      <p:sp>
        <p:nvSpPr>
          <p:cNvPr id="10" name="text-220"/>
          <p:cNvSpPr txBox="1"/>
          <p:nvPr/>
        </p:nvSpPr>
        <p:spPr>
          <a:xfrm>
            <a:off x="457200" y="1463040"/>
            <a:ext cx="1920240" cy="1033272"/>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Ta · shared with 51</a:t>
            </a:r>
            <a:endParaRPr lang="en-US" sz="1200" dirty="0"/>
          </a:p>
          <a:p>
            <a:pPr indent="0" marL="0">
              <a:spcAft>
                <a:spcPts val="200"/>
              </a:spcAft>
              <a:buNone/>
            </a:pPr>
            <a:r>
              <a:rPr lang="en-US" sz="1200" dirty="0">
                <a:solidFill>
                  <a:schemeClr val="tx1"/>
                </a:solidFill>
              </a:rPr>
              <a:t>Li · shared with 245</a:t>
            </a:r>
            <a:endParaRPr lang="en-US" sz="1200" dirty="0"/>
          </a:p>
          <a:p>
            <a:pPr indent="0" marL="0">
              <a:spcAft>
                <a:spcPts val="200"/>
              </a:spcAft>
              <a:buNone/>
            </a:pPr>
            <a:r>
              <a:rPr lang="en-US" sz="1200" dirty="0">
                <a:solidFill>
                  <a:schemeClr val="tx1"/>
                </a:solidFill>
              </a:rPr>
              <a:t>O · shared with 758</a:t>
            </a:r>
            <a:endParaRPr lang="en-US" sz="1200" dirty="0"/>
          </a:p>
        </p:txBody>
      </p:sp>
      <p:sp>
        <p:nvSpPr>
          <p:cNvPr id="11" name="hub-group-221"/>
          <p:cNvSpPr/>
          <p:nvPr/>
        </p:nvSpPr>
        <p:spPr>
          <a:xfrm>
            <a:off x="365760" y="2798064"/>
            <a:ext cx="2103120" cy="1627632"/>
          </a:xfrm>
          <a:prstGeom prst="roundRect">
            <a:avLst>
              <a:gd name="adj" fmla="val 4494"/>
            </a:avLst>
          </a:prstGeom>
          <a:solidFill>
            <a:schemeClr val="accent5">
              <a:alpha val="12000"/>
            </a:schemeClr>
          </a:solidFill>
          <a:ln w="15875">
            <a:solidFill>
              <a:schemeClr val="accent5"/>
            </a:solidFill>
            <a:prstDash val="solid"/>
          </a:ln>
        </p:spPr>
      </p:sp>
      <p:sp>
        <p:nvSpPr>
          <p:cNvPr id="12" name="text-222"/>
          <p:cNvSpPr txBox="1"/>
          <p:nvPr/>
        </p:nvSpPr>
        <p:spPr>
          <a:xfrm>
            <a:off x="457200" y="2871216"/>
            <a:ext cx="1920240" cy="438912"/>
          </a:xfrm>
          <a:prstGeom prst="rect">
            <a:avLst/>
          </a:prstGeom>
          <a:noFill/>
          <a:ln/>
        </p:spPr>
        <p:txBody>
          <a:bodyPr wrap="square" lIns="0" tIns="0" rIns="0" bIns="0" rtlCol="0" anchor="t"/>
          <a:lstStyle/>
          <a:p>
            <a:pPr indent="0" marL="0">
              <a:buNone/>
            </a:pPr>
            <a:r>
              <a:rPr lang="en-US" sz="1200" b="1" dirty="0">
                <a:solidFill>
                  <a:schemeClr val="tx1"/>
                </a:solidFill>
              </a:rPr>
              <a:t>has_oxidation_state</a:t>
            </a:r>
            <a:endParaRPr lang="en-US" sz="1200" dirty="0"/>
          </a:p>
        </p:txBody>
      </p:sp>
      <p:sp>
        <p:nvSpPr>
          <p:cNvPr id="13" name="text-223"/>
          <p:cNvSpPr txBox="1"/>
          <p:nvPr/>
        </p:nvSpPr>
        <p:spPr>
          <a:xfrm>
            <a:off x="457200" y="3346704"/>
            <a:ext cx="1920240" cy="1033272"/>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Ta⁵⁺ · shared with 38</a:t>
            </a:r>
            <a:endParaRPr lang="en-US" sz="1200" dirty="0"/>
          </a:p>
          <a:p>
            <a:pPr indent="0" marL="0">
              <a:spcAft>
                <a:spcPts val="200"/>
              </a:spcAft>
              <a:buNone/>
            </a:pPr>
            <a:r>
              <a:rPr lang="en-US" sz="1200" dirty="0">
                <a:solidFill>
                  <a:schemeClr val="tx1"/>
                </a:solidFill>
              </a:rPr>
              <a:t>Li⁺ · shared with 227</a:t>
            </a:r>
            <a:endParaRPr lang="en-US" sz="1200" dirty="0"/>
          </a:p>
          <a:p>
            <a:pPr indent="0" marL="0">
              <a:spcAft>
                <a:spcPts val="200"/>
              </a:spcAft>
              <a:buNone/>
            </a:pPr>
            <a:r>
              <a:rPr lang="en-US" sz="1200" dirty="0">
                <a:solidFill>
                  <a:schemeClr val="tx1"/>
                </a:solidFill>
              </a:rPr>
              <a:t>O²⁻ · shared with 697</a:t>
            </a:r>
            <a:endParaRPr lang="en-US" sz="1200" dirty="0"/>
          </a:p>
        </p:txBody>
      </p:sp>
      <p:sp>
        <p:nvSpPr>
          <p:cNvPr id="14" name="hub-group-224"/>
          <p:cNvSpPr/>
          <p:nvPr/>
        </p:nvSpPr>
        <p:spPr>
          <a:xfrm>
            <a:off x="365760" y="4681728"/>
            <a:ext cx="2103120" cy="1691640"/>
          </a:xfrm>
          <a:prstGeom prst="roundRect">
            <a:avLst>
              <a:gd name="adj" fmla="val 4324"/>
            </a:avLst>
          </a:prstGeom>
          <a:solidFill>
            <a:schemeClr val="accent4">
              <a:alpha val="12000"/>
            </a:schemeClr>
          </a:solidFill>
          <a:ln w="15875">
            <a:solidFill>
              <a:schemeClr val="accent4"/>
            </a:solidFill>
            <a:prstDash val="solid"/>
          </a:ln>
        </p:spPr>
      </p:sp>
      <p:sp>
        <p:nvSpPr>
          <p:cNvPr id="15" name="text-225"/>
          <p:cNvSpPr txBox="1"/>
          <p:nvPr/>
        </p:nvSpPr>
        <p:spPr>
          <a:xfrm>
            <a:off x="457200" y="4754880"/>
            <a:ext cx="1920240" cy="438912"/>
          </a:xfrm>
          <a:prstGeom prst="rect">
            <a:avLst/>
          </a:prstGeom>
          <a:noFill/>
          <a:ln/>
        </p:spPr>
        <p:txBody>
          <a:bodyPr wrap="square" lIns="0" tIns="0" rIns="0" bIns="0" rtlCol="0" anchor="t"/>
          <a:lstStyle/>
          <a:p>
            <a:pPr indent="0" marL="0">
              <a:buNone/>
            </a:pPr>
            <a:r>
              <a:rPr lang="en-US" sz="1200" b="1" dirty="0">
                <a:solidFill>
                  <a:schemeClr val="tx1"/>
                </a:solidFill>
              </a:rPr>
              <a:t>classified_as / suitable_for</a:t>
            </a:r>
            <a:endParaRPr lang="en-US" sz="1200" dirty="0"/>
          </a:p>
        </p:txBody>
      </p:sp>
      <p:sp>
        <p:nvSpPr>
          <p:cNvPr id="16" name="text-226"/>
          <p:cNvSpPr txBox="1"/>
          <p:nvPr/>
        </p:nvSpPr>
        <p:spPr>
          <a:xfrm>
            <a:off x="457200" y="5230368"/>
            <a:ext cx="1920240" cy="109728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wide_gap · 145</a:t>
            </a:r>
            <a:endParaRPr lang="en-US" sz="1200" dirty="0"/>
          </a:p>
          <a:p>
            <a:pPr indent="0" marL="0">
              <a:spcAft>
                <a:spcPts val="200"/>
              </a:spcAft>
              <a:buNone/>
            </a:pPr>
            <a:r>
              <a:rPr lang="en-US" sz="1200" dirty="0">
                <a:solidFill>
                  <a:schemeClr val="tx1"/>
                </a:solidFill>
              </a:rPr>
              <a:t>stable · 366</a:t>
            </a:r>
            <a:endParaRPr lang="en-US" sz="1200" dirty="0"/>
          </a:p>
          <a:p>
            <a:pPr indent="0" marL="0">
              <a:spcAft>
                <a:spcPts val="200"/>
              </a:spcAft>
              <a:buNone/>
            </a:pPr>
            <a:r>
              <a:rPr lang="en-US" sz="1200" dirty="0">
                <a:solidFill>
                  <a:schemeClr val="tx1"/>
                </a:solidFill>
              </a:rPr>
              <a:t>dielectric · 220</a:t>
            </a:r>
            <a:endParaRPr lang="en-US" sz="1200" dirty="0"/>
          </a:p>
          <a:p>
            <a:pPr indent="0" marL="0">
              <a:spcAft>
                <a:spcPts val="200"/>
              </a:spcAft>
              <a:buNone/>
            </a:pPr>
            <a:r>
              <a:rPr lang="en-US" sz="1200" dirty="0">
                <a:solidFill>
                  <a:schemeClr val="tx1"/>
                </a:solidFill>
              </a:rPr>
              <a:t>(rule fired)</a:t>
            </a:r>
            <a:endParaRPr lang="en-US" sz="1200" dirty="0"/>
          </a:p>
        </p:txBody>
      </p:sp>
      <p:sp>
        <p:nvSpPr>
          <p:cNvPr id="17" name="hub-group-227"/>
          <p:cNvSpPr/>
          <p:nvPr/>
        </p:nvSpPr>
        <p:spPr>
          <a:xfrm>
            <a:off x="2697480" y="914400"/>
            <a:ext cx="1828800" cy="1417320"/>
          </a:xfrm>
          <a:prstGeom prst="roundRect">
            <a:avLst>
              <a:gd name="adj" fmla="val 5161"/>
            </a:avLst>
          </a:prstGeom>
          <a:solidFill>
            <a:schemeClr val="accent6">
              <a:alpha val="12000"/>
            </a:schemeClr>
          </a:solidFill>
          <a:ln w="15875">
            <a:solidFill>
              <a:schemeClr val="accent6"/>
            </a:solidFill>
            <a:prstDash val="solid"/>
          </a:ln>
        </p:spPr>
      </p:sp>
      <p:sp>
        <p:nvSpPr>
          <p:cNvPr id="18" name="text-228"/>
          <p:cNvSpPr txBox="1"/>
          <p:nvPr/>
        </p:nvSpPr>
        <p:spPr>
          <a:xfrm>
            <a:off x="2788920" y="987552"/>
            <a:ext cx="1645920" cy="438912"/>
          </a:xfrm>
          <a:prstGeom prst="rect">
            <a:avLst/>
          </a:prstGeom>
          <a:noFill/>
          <a:ln/>
        </p:spPr>
        <p:txBody>
          <a:bodyPr wrap="square" lIns="0" tIns="0" rIns="0" bIns="0" rtlCol="0" anchor="t"/>
          <a:lstStyle/>
          <a:p>
            <a:pPr indent="0" marL="0">
              <a:buNone/>
            </a:pPr>
            <a:r>
              <a:rPr lang="en-US" sz="1200" b="1" dirty="0">
                <a:solidFill>
                  <a:schemeClr val="tx1"/>
                </a:solidFill>
              </a:rPr>
              <a:t>has_space_group</a:t>
            </a:r>
            <a:endParaRPr lang="en-US" sz="1200" dirty="0"/>
          </a:p>
        </p:txBody>
      </p:sp>
      <p:sp>
        <p:nvSpPr>
          <p:cNvPr id="19" name="text-229"/>
          <p:cNvSpPr txBox="1"/>
          <p:nvPr/>
        </p:nvSpPr>
        <p:spPr>
          <a:xfrm>
            <a:off x="2788920" y="1463040"/>
            <a:ext cx="1645920" cy="82296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R3c (#161) · 2</a:t>
            </a:r>
            <a:endParaRPr lang="en-US" sz="1200" dirty="0"/>
          </a:p>
          <a:p>
            <a:pPr indent="0" marL="0">
              <a:spcAft>
                <a:spcPts val="200"/>
              </a:spcAft>
              <a:buNone/>
            </a:pPr>
            <a:r>
              <a:rPr lang="en-US" sz="1200" dirty="0">
                <a:solidFill>
                  <a:schemeClr val="tx1"/>
                </a:solidFill>
              </a:rPr>
              <a:t>→ Trigonal</a:t>
            </a:r>
            <a:endParaRPr lang="en-US" sz="1200" dirty="0"/>
          </a:p>
        </p:txBody>
      </p:sp>
      <p:sp>
        <p:nvSpPr>
          <p:cNvPr id="20" name="hub-group-230"/>
          <p:cNvSpPr/>
          <p:nvPr/>
        </p:nvSpPr>
        <p:spPr>
          <a:xfrm>
            <a:off x="2697480" y="4892040"/>
            <a:ext cx="1828800" cy="1481328"/>
          </a:xfrm>
          <a:prstGeom prst="roundRect">
            <a:avLst>
              <a:gd name="adj" fmla="val 4938"/>
            </a:avLst>
          </a:prstGeom>
          <a:solidFill>
            <a:schemeClr val="accent6">
              <a:alpha val="12000"/>
            </a:schemeClr>
          </a:solidFill>
          <a:ln w="15875">
            <a:solidFill>
              <a:schemeClr val="accent6"/>
            </a:solidFill>
            <a:prstDash val="solid"/>
          </a:ln>
        </p:spPr>
      </p:sp>
      <p:sp>
        <p:nvSpPr>
          <p:cNvPr id="21" name="text-231"/>
          <p:cNvSpPr txBox="1"/>
          <p:nvPr/>
        </p:nvSpPr>
        <p:spPr>
          <a:xfrm>
            <a:off x="2788920" y="4965192"/>
            <a:ext cx="1645920" cy="438912"/>
          </a:xfrm>
          <a:prstGeom prst="rect">
            <a:avLst/>
          </a:prstGeom>
          <a:noFill/>
          <a:ln/>
        </p:spPr>
        <p:txBody>
          <a:bodyPr wrap="square" lIns="0" tIns="0" rIns="0" bIns="0" rtlCol="0" anchor="t"/>
          <a:lstStyle/>
          <a:p>
            <a:pPr indent="0" marL="0">
              <a:buNone/>
            </a:pPr>
            <a:r>
              <a:rPr lang="en-US" sz="1200" b="1" dirty="0">
                <a:solidFill>
                  <a:schemeClr val="tx1"/>
                </a:solidFill>
              </a:rPr>
              <a:t>pattern / chem. system</a:t>
            </a:r>
            <a:endParaRPr lang="en-US" sz="1200" dirty="0"/>
          </a:p>
        </p:txBody>
      </p:sp>
      <p:sp>
        <p:nvSpPr>
          <p:cNvPr id="22" name="text-232"/>
          <p:cNvSpPr txBox="1"/>
          <p:nvPr/>
        </p:nvSpPr>
        <p:spPr>
          <a:xfrm>
            <a:off x="2788920" y="5440680"/>
            <a:ext cx="1645920" cy="886968"/>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ABC3 · shared with 45</a:t>
            </a:r>
            <a:endParaRPr lang="en-US" sz="1200" dirty="0"/>
          </a:p>
          <a:p>
            <a:pPr indent="0" marL="0">
              <a:spcAft>
                <a:spcPts val="200"/>
              </a:spcAft>
              <a:buNone/>
            </a:pPr>
            <a:r>
              <a:rPr lang="en-US" sz="1200" dirty="0">
                <a:solidFill>
                  <a:schemeClr val="tx1"/>
                </a:solidFill>
              </a:rPr>
              <a:t>Li-O-Ta · new node</a:t>
            </a:r>
            <a:endParaRPr lang="en-US" sz="1200" dirty="0"/>
          </a:p>
        </p:txBody>
      </p:sp>
      <p:sp>
        <p:nvSpPr>
          <p:cNvPr id="23" name="edge-233"/>
          <p:cNvSpPr/>
          <p:nvPr/>
        </p:nvSpPr>
        <p:spPr>
          <a:xfrm>
            <a:off x="3611880" y="3611880"/>
            <a:ext cx="1143000" cy="0"/>
          </a:xfrm>
          <a:prstGeom prst="line">
            <a:avLst/>
          </a:prstGeom>
          <a:noFill/>
          <a:ln w="22225">
            <a:solidFill>
              <a:schemeClr val="accent1"/>
            </a:solidFill>
            <a:prstDash val="solid"/>
            <a:tailEnd type="triangle"/>
          </a:ln>
        </p:spPr>
      </p:sp>
      <p:sp>
        <p:nvSpPr>
          <p:cNvPr id="24" name="related-materials-234"/>
          <p:cNvSpPr/>
          <p:nvPr/>
        </p:nvSpPr>
        <p:spPr>
          <a:xfrm>
            <a:off x="4754880" y="914400"/>
            <a:ext cx="2011680" cy="5458968"/>
          </a:xfrm>
          <a:prstGeom prst="roundRect">
            <a:avLst>
              <a:gd name="adj" fmla="val 3636"/>
            </a:avLst>
          </a:prstGeom>
          <a:solidFill>
            <a:schemeClr val="accent1">
              <a:alpha val="10000"/>
            </a:schemeClr>
          </a:solidFill>
          <a:ln w="15875">
            <a:solidFill>
              <a:schemeClr val="accent1"/>
            </a:solidFill>
            <a:prstDash val="solid"/>
          </a:ln>
        </p:spPr>
      </p:sp>
      <p:sp>
        <p:nvSpPr>
          <p:cNvPr id="25" name="text-235"/>
          <p:cNvSpPr txBox="1"/>
          <p:nvPr/>
        </p:nvSpPr>
        <p:spPr>
          <a:xfrm>
            <a:off x="4846320" y="987552"/>
            <a:ext cx="1828800" cy="292608"/>
          </a:xfrm>
          <a:prstGeom prst="rect">
            <a:avLst/>
          </a:prstGeom>
          <a:noFill/>
          <a:ln/>
        </p:spPr>
        <p:txBody>
          <a:bodyPr wrap="square" lIns="0" tIns="0" rIns="0" bIns="0" rtlCol="0" anchor="ctr"/>
          <a:lstStyle/>
          <a:p>
            <a:pPr indent="0" marL="0">
              <a:buNone/>
            </a:pPr>
            <a:r>
              <a:rPr lang="en-US" sz="1300" b="1" dirty="0">
                <a:solidFill>
                  <a:schemeClr val="accent1"/>
                </a:solidFill>
              </a:rPr>
              <a:t>Related materials</a:t>
            </a:r>
            <a:endParaRPr lang="en-US" sz="1300" dirty="0"/>
          </a:p>
        </p:txBody>
      </p:sp>
      <p:sp>
        <p:nvSpPr>
          <p:cNvPr id="26" name="text-236"/>
          <p:cNvSpPr txBox="1"/>
          <p:nvPr/>
        </p:nvSpPr>
        <p:spPr>
          <a:xfrm>
            <a:off x="4846320" y="1298448"/>
            <a:ext cx="1828800" cy="256032"/>
          </a:xfrm>
          <a:prstGeom prst="rect">
            <a:avLst/>
          </a:prstGeom>
          <a:noFill/>
          <a:ln/>
        </p:spPr>
        <p:txBody>
          <a:bodyPr wrap="square" lIns="0" tIns="0" rIns="0" bIns="0" rtlCol="0" anchor="t"/>
          <a:lstStyle/>
          <a:p>
            <a:pPr indent="0" marL="0">
              <a:buNone/>
            </a:pPr>
            <a:r>
              <a:rPr lang="en-US" sz="1050" dirty="0">
                <a:solidFill>
                  <a:schemeClr val="tx2"/>
                </a:solidFill>
              </a:rPr>
              <a:t>similar_to · property cosine</a:t>
            </a:r>
            <a:endParaRPr lang="en-US" sz="1050" dirty="0"/>
          </a:p>
        </p:txBody>
      </p:sp>
      <p:graphicFrame>
        <p:nvGraphicFramePr>
          <p:cNvPr id="18" name="table-237"/>
          <p:cNvGraphicFramePr>
            <a:graphicFrameLocks noGrp="1"/>
          </p:cNvGraphicFramePr>
          <p:nvPr>
            <p:extLst>
              <p:ext uri="{D42A27DB-BD31-4B8C-83A1-F6EECF244321}">
                <p14:modId xmlns:p14="http://schemas.microsoft.com/office/powerpoint/2010/main" val="1579011935"/>
              </p:ext>
            </p:extLst>
          </p:nvPr>
        </p:nvGraphicFramePr>
        <p:xfrm>
          <a:off x="4846320" y="1600200"/>
          <a:ext cx="1828800" cy="914400"/>
        </p:xfrm>
        <a:graphic>
          <a:graphicData uri="http://schemas.openxmlformats.org/drawingml/2006/table">
            <a:tbl>
              <a:tblPr/>
              <a:tblGrid>
                <a:gridCol w="1234440"/>
                <a:gridCol w="594360"/>
              </a:tblGrid>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Ba3Hf2O7</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0.976</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SrTa4O11</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0.967</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Na2Ta4O11</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0.956</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K2Ta4O11</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0.954</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Ba4Hf3O10</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0.953</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8" name="text-238"/>
          <p:cNvSpPr txBox="1"/>
          <p:nvPr/>
        </p:nvSpPr>
        <p:spPr>
          <a:xfrm>
            <a:off x="4846320" y="3337560"/>
            <a:ext cx="1828800" cy="256032"/>
          </a:xfrm>
          <a:prstGeom prst="rect">
            <a:avLst/>
          </a:prstGeom>
          <a:noFill/>
          <a:ln/>
        </p:spPr>
        <p:txBody>
          <a:bodyPr wrap="square" lIns="0" tIns="0" rIns="0" bIns="0" rtlCol="0" anchor="t"/>
          <a:lstStyle/>
          <a:p>
            <a:pPr indent="0" marL="0">
              <a:buNone/>
            </a:pPr>
            <a:r>
              <a:rPr lang="en-US" sz="1050" dirty="0">
                <a:solidFill>
                  <a:schemeClr val="tx2"/>
                </a:solidFill>
              </a:rPr>
              <a:t>compositional neighbours</a:t>
            </a:r>
            <a:endParaRPr lang="en-US" sz="1050" dirty="0"/>
          </a:p>
        </p:txBody>
      </p:sp>
      <p:graphicFrame>
        <p:nvGraphicFramePr>
          <p:cNvPr id="35" name="table-239"/>
          <p:cNvGraphicFramePr>
            <a:graphicFrameLocks noGrp="1"/>
          </p:cNvGraphicFramePr>
          <p:nvPr>
            <p:extLst>
              <p:ext uri="{D42A27DB-BD31-4B8C-83A1-F6EECF244321}">
                <p14:modId xmlns:p14="http://schemas.microsoft.com/office/powerpoint/2010/main" val="1579011935"/>
              </p:ext>
            </p:extLst>
          </p:nvPr>
        </p:nvGraphicFramePr>
        <p:xfrm>
          <a:off x="4846320" y="3639312"/>
          <a:ext cx="1828800" cy="914400"/>
        </p:xfrm>
        <a:graphic>
          <a:graphicData uri="http://schemas.openxmlformats.org/drawingml/2006/table">
            <a:tbl>
              <a:tblPr/>
              <a:tblGrid>
                <a:gridCol w="1234440"/>
                <a:gridCol w="594360"/>
              </a:tblGrid>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Ta3O8</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0.953</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NaTa7O19</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0.952</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150" b="1" dirty="0">
                          <a:solidFill>
                            <a:schemeClr val="tx1"/>
                          </a:solidFill>
                          <a:latin typeface="Arial" pitchFamily="34" charset="0"/>
                          <a:ea typeface="Arial" pitchFamily="34" charset="-122"/>
                          <a:cs typeface="Arial" pitchFamily="34" charset="-120"/>
                        </a:rPr>
                        <a:t>Ta2O5</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tx2"/>
                          </a:solidFill>
                          <a:latin typeface="Arial" pitchFamily="34" charset="0"/>
                          <a:ea typeface="Arial" pitchFamily="34" charset="-122"/>
                          <a:cs typeface="Arial" pitchFamily="34" charset="-120"/>
                        </a:rPr>
                        <a:t>0.952</a:t>
                      </a:r>
                      <a:endParaRPr lang="en-US" sz="1150" dirty="0">
                        <a:latin typeface="Arial" charset="0"/>
                        <a:ea typeface="Arial" charset="0"/>
                        <a:cs typeface="Arial" charset="0"/>
                      </a:endParaRPr>
                    </a:p>
                  </a:txBody>
                  <a:tcPr marL="27432" marR="27432" marT="0" marB="0" anchor="ctr">
                    <a:lnL w="0" cap="flat" cmpd="sng" algn="ctr">
                      <a:noFill/>
                    </a:lnL>
                    <a:lnR w="0" cap="flat" cmpd="sng" algn="ctr">
                      <a:noFill/>
                    </a:lnR>
                    <a:lnT w="0" cap="flat" cmpd="sng" algn="ctr">
                      <a:noFill/>
                    </a:lnT>
                    <a:lnB w="0" cap="flat" cmpd="sng" algn="ctr">
                      <a:noFill/>
                    </a:lnB>
                  </a:tcPr>
                </a:tc>
              </a:tr>
            </a:tbl>
          </a:graphicData>
        </a:graphic>
      </p:graphicFrame>
      <p:sp>
        <p:nvSpPr>
          <p:cNvPr id="30" name="new-material"/>
          <p:cNvSpPr/>
          <p:nvPr/>
        </p:nvSpPr>
        <p:spPr>
          <a:xfrm>
            <a:off x="2990088" y="3136392"/>
            <a:ext cx="1243584" cy="950976"/>
          </a:xfrm>
          <a:prstGeom prst="ellipse">
            <a:avLst/>
          </a:prstGeom>
          <a:solidFill>
            <a:schemeClr val="accent1"/>
          </a:solidFill>
          <a:ln w="31750">
            <a:solidFill>
              <a:schemeClr val="bg1"/>
            </a:solidFill>
          </a:ln>
        </p:spPr>
        <p:txBody>
          <a:bodyPr wrap="square" lIns="0" tIns="0" rIns="0" bIns="0" rtlCol="0" anchor="ctr"/>
          <a:lstStyle/>
          <a:p>
            <a:pPr algn="ctr" indent="0" marL="0">
              <a:buNone/>
            </a:pPr>
            <a:r>
              <a:rPr lang="en-US" sz="1500" b="1" dirty="0">
                <a:solidFill>
                  <a:schemeClr val="bg1"/>
                </a:solidFill>
              </a:rPr>
              <a:t>LiTaO3</a:t>
            </a:r>
            <a:endParaRPr lang="en-US" sz="1500" dirty="0"/>
          </a:p>
          <a:p>
            <a:pPr algn="ctr" indent="0" marL="0">
              <a:buNone/>
            </a:pPr>
            <a:r>
              <a:rPr lang="en-US" sz="950" dirty="0">
                <a:solidFill>
                  <a:schemeClr val="bg1"/>
                </a:solidFill>
              </a:rPr>
              <a:t>new · from MP</a:t>
            </a:r>
            <a:endParaRPr lang="en-US" sz="1500" dirty="0"/>
          </a:p>
        </p:txBody>
      </p:sp>
      <p:sp>
        <p:nvSpPr>
          <p:cNvPr id="31" name="icon-bg-240"/>
          <p:cNvSpPr/>
          <p:nvPr/>
        </p:nvSpPr>
        <p:spPr>
          <a:xfrm>
            <a:off x="6995160" y="914400"/>
            <a:ext cx="384048" cy="384048"/>
          </a:xfrm>
          <a:prstGeom prst="ellipse">
            <a:avLst/>
          </a:prstGeom>
          <a:solidFill>
            <a:schemeClr val="accent3"/>
          </a:solidFill>
          <a:ln/>
        </p:spPr>
      </p:sp>
      <p:pic>
        <p:nvPicPr>
          <p:cNvPr id="32" name="icon-241" descr="preencoded.png">    </p:cNvPr>
          <p:cNvPicPr>
            <a:picLocks noChangeAspect="1"/>
          </p:cNvPicPr>
          <p:nvPr/>
        </p:nvPicPr>
        <p:blipFill>
          <a:blip r:embed="rId1"/>
          <a:stretch>
            <a:fillRect/>
          </a:stretch>
        </p:blipFill>
        <p:spPr>
          <a:xfrm>
            <a:off x="7086600" y="1005840"/>
            <a:ext cx="201168" cy="201168"/>
          </a:xfrm>
          <a:prstGeom prst="rect">
            <a:avLst/>
          </a:prstGeom>
        </p:spPr>
      </p:pic>
      <p:sp>
        <p:nvSpPr>
          <p:cNvPr id="33" name="text-242"/>
          <p:cNvSpPr txBox="1"/>
          <p:nvPr/>
        </p:nvSpPr>
        <p:spPr>
          <a:xfrm>
            <a:off x="7452360" y="914400"/>
            <a:ext cx="1325880" cy="384048"/>
          </a:xfrm>
          <a:prstGeom prst="rect">
            <a:avLst/>
          </a:prstGeom>
          <a:noFill/>
          <a:ln/>
        </p:spPr>
        <p:txBody>
          <a:bodyPr wrap="square" lIns="0" tIns="0" rIns="0" bIns="0" rtlCol="0" anchor="ctr"/>
          <a:lstStyle/>
          <a:p>
            <a:pPr indent="0" marL="0">
              <a:buNone/>
            </a:pPr>
            <a:r>
              <a:rPr lang="en-US" sz="1250" b="1" dirty="0">
                <a:solidFill>
                  <a:schemeClr val="tx1"/>
                </a:solidFill>
              </a:rPr>
              <a:t>Hubs are reused</a:t>
            </a:r>
            <a:endParaRPr lang="en-US" sz="1250" dirty="0"/>
          </a:p>
        </p:txBody>
      </p:sp>
      <p:sp>
        <p:nvSpPr>
          <p:cNvPr id="34" name="text-243"/>
          <p:cNvSpPr txBox="1"/>
          <p:nvPr/>
        </p:nvSpPr>
        <p:spPr>
          <a:xfrm>
            <a:off x="6995160" y="1371600"/>
            <a:ext cx="1783080" cy="1188720"/>
          </a:xfrm>
          <a:prstGeom prst="rect">
            <a:avLst/>
          </a:prstGeom>
          <a:noFill/>
          <a:ln/>
        </p:spPr>
        <p:txBody>
          <a:bodyPr wrap="square" lIns="0" tIns="0" rIns="0" bIns="0" rtlCol="0" anchor="t"/>
          <a:lstStyle/>
          <a:p>
            <a:pPr indent="0" marL="0">
              <a:buNone/>
            </a:pPr>
            <a:r>
              <a:rPr lang="en-US" sz="1200" dirty="0">
                <a:solidFill>
                  <a:schemeClr val="tx2"/>
                </a:solidFill>
              </a:rPr>
              <a:t>Identity keys attach LiTaO3 to existing nodes; only Li-O-Ta is new.</a:t>
            </a:r>
            <a:endParaRPr lang="en-US" sz="1200" dirty="0"/>
          </a:p>
        </p:txBody>
      </p:sp>
      <p:sp>
        <p:nvSpPr>
          <p:cNvPr id="35" name="icon-bg-244"/>
          <p:cNvSpPr/>
          <p:nvPr/>
        </p:nvSpPr>
        <p:spPr>
          <a:xfrm>
            <a:off x="6995160" y="2743200"/>
            <a:ext cx="384048" cy="384048"/>
          </a:xfrm>
          <a:prstGeom prst="ellipse">
            <a:avLst/>
          </a:prstGeom>
          <a:solidFill>
            <a:schemeClr val="accent6"/>
          </a:solidFill>
          <a:ln/>
        </p:spPr>
      </p:sp>
      <p:pic>
        <p:nvPicPr>
          <p:cNvPr id="36" name="icon-245" descr="preencoded.png">    </p:cNvPr>
          <p:cNvPicPr>
            <a:picLocks noChangeAspect="1"/>
          </p:cNvPicPr>
          <p:nvPr/>
        </p:nvPicPr>
        <p:blipFill>
          <a:blip r:embed="rId2"/>
          <a:stretch>
            <a:fillRect/>
          </a:stretch>
        </p:blipFill>
        <p:spPr>
          <a:xfrm>
            <a:off x="7086600" y="2834640"/>
            <a:ext cx="201168" cy="201168"/>
          </a:xfrm>
          <a:prstGeom prst="rect">
            <a:avLst/>
          </a:prstGeom>
        </p:spPr>
      </p:pic>
      <p:sp>
        <p:nvSpPr>
          <p:cNvPr id="37" name="text-246"/>
          <p:cNvSpPr txBox="1"/>
          <p:nvPr/>
        </p:nvSpPr>
        <p:spPr>
          <a:xfrm>
            <a:off x="7452360" y="2743200"/>
            <a:ext cx="1325880" cy="384048"/>
          </a:xfrm>
          <a:prstGeom prst="rect">
            <a:avLst/>
          </a:prstGeom>
          <a:noFill/>
          <a:ln/>
        </p:spPr>
        <p:txBody>
          <a:bodyPr wrap="square" lIns="0" tIns="0" rIns="0" bIns="0" rtlCol="0" anchor="ctr"/>
          <a:lstStyle/>
          <a:p>
            <a:pPr indent="0" marL="0">
              <a:buNone/>
            </a:pPr>
            <a:r>
              <a:rPr lang="en-US" sz="1250" b="1" dirty="0">
                <a:solidFill>
                  <a:schemeClr val="tx1"/>
                </a:solidFill>
              </a:rPr>
              <a:t>Ranked by selectivity</a:t>
            </a:r>
            <a:endParaRPr lang="en-US" sz="1250" dirty="0"/>
          </a:p>
        </p:txBody>
      </p:sp>
      <p:sp>
        <p:nvSpPr>
          <p:cNvPr id="38" name="text-247"/>
          <p:cNvSpPr txBox="1"/>
          <p:nvPr/>
        </p:nvSpPr>
        <p:spPr>
          <a:xfrm>
            <a:off x="6995160" y="3200400"/>
            <a:ext cx="1783080" cy="1188720"/>
          </a:xfrm>
          <a:prstGeom prst="rect">
            <a:avLst/>
          </a:prstGeom>
          <a:noFill/>
          <a:ln/>
        </p:spPr>
        <p:txBody>
          <a:bodyPr wrap="square" lIns="0" tIns="0" rIns="0" bIns="0" rtlCol="0" anchor="t"/>
          <a:lstStyle/>
          <a:p>
            <a:pPr indent="0" marL="0">
              <a:buNone/>
            </a:pPr>
            <a:r>
              <a:rPr lang="en-US" sz="1200" dirty="0">
                <a:solidFill>
                  <a:schemeClr val="tx2"/>
                </a:solidFill>
              </a:rPr>
              <a:t>Sharing R3c (2 materials) says more than sharing O (758).</a:t>
            </a:r>
            <a:endParaRPr lang="en-US" sz="1200" dirty="0"/>
          </a:p>
        </p:txBody>
      </p:sp>
      <p:sp>
        <p:nvSpPr>
          <p:cNvPr id="39" name="icon-bg-248"/>
          <p:cNvSpPr/>
          <p:nvPr/>
        </p:nvSpPr>
        <p:spPr>
          <a:xfrm>
            <a:off x="6995160" y="4572000"/>
            <a:ext cx="384048" cy="384048"/>
          </a:xfrm>
          <a:prstGeom prst="ellipse">
            <a:avLst/>
          </a:prstGeom>
          <a:solidFill>
            <a:schemeClr val="accent1"/>
          </a:solidFill>
          <a:ln/>
        </p:spPr>
      </p:sp>
      <p:pic>
        <p:nvPicPr>
          <p:cNvPr id="40" name="icon-249" descr="preencoded.png">    </p:cNvPr>
          <p:cNvPicPr>
            <a:picLocks noChangeAspect="1"/>
          </p:cNvPicPr>
          <p:nvPr/>
        </p:nvPicPr>
        <p:blipFill>
          <a:blip r:embed="rId3"/>
          <a:stretch>
            <a:fillRect/>
          </a:stretch>
        </p:blipFill>
        <p:spPr>
          <a:xfrm>
            <a:off x="7086600" y="4663440"/>
            <a:ext cx="201168" cy="201168"/>
          </a:xfrm>
          <a:prstGeom prst="rect">
            <a:avLst/>
          </a:prstGeom>
        </p:spPr>
      </p:pic>
      <p:sp>
        <p:nvSpPr>
          <p:cNvPr id="41" name="text-250"/>
          <p:cNvSpPr txBox="1"/>
          <p:nvPr/>
        </p:nvSpPr>
        <p:spPr>
          <a:xfrm>
            <a:off x="7452360" y="4572000"/>
            <a:ext cx="1325880" cy="384048"/>
          </a:xfrm>
          <a:prstGeom prst="rect">
            <a:avLst/>
          </a:prstGeom>
          <a:noFill/>
          <a:ln/>
        </p:spPr>
        <p:txBody>
          <a:bodyPr wrap="square" lIns="0" tIns="0" rIns="0" bIns="0" rtlCol="0" anchor="ctr"/>
          <a:lstStyle/>
          <a:p>
            <a:pPr indent="0" marL="0">
              <a:buNone/>
            </a:pPr>
            <a:r>
              <a:rPr lang="en-US" sz="1250" b="1" dirty="0">
                <a:solidFill>
                  <a:schemeClr val="tx1"/>
                </a:solidFill>
              </a:rPr>
              <a:t>Related materials</a:t>
            </a:r>
            <a:endParaRPr lang="en-US" sz="1250" dirty="0"/>
          </a:p>
        </p:txBody>
      </p:sp>
      <p:sp>
        <p:nvSpPr>
          <p:cNvPr id="42" name="text-251"/>
          <p:cNvSpPr txBox="1"/>
          <p:nvPr/>
        </p:nvSpPr>
        <p:spPr>
          <a:xfrm>
            <a:off x="6995160" y="5029200"/>
            <a:ext cx="1783080" cy="1188720"/>
          </a:xfrm>
          <a:prstGeom prst="rect">
            <a:avLst/>
          </a:prstGeom>
          <a:noFill/>
          <a:ln/>
        </p:spPr>
        <p:txBody>
          <a:bodyPr wrap="square" lIns="0" tIns="0" rIns="0" bIns="0" rtlCol="0" anchor="t"/>
          <a:lstStyle/>
          <a:p>
            <a:pPr indent="0" marL="0">
              <a:buNone/>
            </a:pPr>
            <a:r>
              <a:rPr lang="en-US" sz="1200" dirty="0">
                <a:solidFill>
                  <a:schemeClr val="tx2"/>
                </a:solidFill>
              </a:rPr>
              <a:t>Top-5 similar_to on the build-time scale, plus nearest compositions.</a:t>
            </a:r>
            <a:endParaRPr lang="en-US" sz="12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Results — Verified Graph Statistics</a:t>
            </a:r>
            <a:endParaRPr lang="en-US" sz="2600" dirty="0"/>
          </a:p>
        </p:txBody>
      </p:sp>
      <p:sp>
        <p:nvSpPr>
          <p:cNvPr id="3" name="text-252"/>
          <p:cNvSpPr txBox="1"/>
          <p:nvPr/>
        </p:nvSpPr>
        <p:spPr>
          <a:xfrm>
            <a:off x="457200" y="960120"/>
            <a:ext cx="3840480" cy="365760"/>
          </a:xfrm>
          <a:prstGeom prst="rect">
            <a:avLst/>
          </a:prstGeom>
          <a:noFill/>
          <a:ln/>
        </p:spPr>
        <p:txBody>
          <a:bodyPr wrap="square" lIns="0" tIns="0" rIns="0" bIns="0" rtlCol="0" anchor="t"/>
          <a:lstStyle/>
          <a:p>
            <a:pPr algn="ctr" indent="0" marL="0">
              <a:buNone/>
            </a:pPr>
            <a:r>
              <a:rPr lang="en-US" sz="1700" b="1" dirty="0">
                <a:solidFill>
                  <a:schemeClr val="tx1"/>
                </a:solidFill>
              </a:rPr>
              <a:t>Edges — 14,686 total</a:t>
            </a:r>
            <a:endParaRPr lang="en-US" sz="1700" dirty="0"/>
          </a:p>
        </p:txBody>
      </p:sp>
      <p:sp>
        <p:nvSpPr>
          <p:cNvPr id="4" name="text-253"/>
          <p:cNvSpPr txBox="1"/>
          <p:nvPr/>
        </p:nvSpPr>
        <p:spPr>
          <a:xfrm>
            <a:off x="4572000" y="960120"/>
            <a:ext cx="4114800" cy="365760"/>
          </a:xfrm>
          <a:prstGeom prst="rect">
            <a:avLst/>
          </a:prstGeom>
          <a:noFill/>
          <a:ln/>
        </p:spPr>
        <p:txBody>
          <a:bodyPr wrap="square" lIns="0" tIns="0" rIns="0" bIns="0" rtlCol="0" anchor="t"/>
          <a:lstStyle/>
          <a:p>
            <a:pPr algn="ctr" indent="0" marL="0">
              <a:buNone/>
            </a:pPr>
            <a:r>
              <a:rPr lang="en-US" sz="1700" b="1" dirty="0">
                <a:solidFill>
                  <a:schemeClr val="tx1"/>
                </a:solidFill>
              </a:rPr>
              <a:t>Application domains</a:t>
            </a:r>
            <a:endParaRPr lang="en-US" sz="1700" dirty="0"/>
          </a:p>
        </p:txBody>
      </p:sp>
      <p:graphicFrame>
        <p:nvGraphicFramePr>
          <p:cNvPr id="19" name="table-254"/>
          <p:cNvGraphicFramePr>
            <a:graphicFrameLocks noGrp="1"/>
          </p:cNvGraphicFramePr>
          <p:nvPr>
            <p:extLst>
              <p:ext uri="{D42A27DB-BD31-4B8C-83A1-F6EECF244321}">
                <p14:modId xmlns:p14="http://schemas.microsoft.com/office/powerpoint/2010/main" val="1579011935"/>
              </p:ext>
            </p:extLst>
          </p:nvPr>
        </p:nvGraphicFramePr>
        <p:xfrm>
          <a:off x="457200" y="1371600"/>
          <a:ext cx="3840480" cy="914400"/>
        </p:xfrm>
        <a:graphic>
          <a:graphicData uri="http://schemas.openxmlformats.org/drawingml/2006/table">
            <a:tbl>
              <a:tblPr/>
              <a:tblGrid>
                <a:gridCol w="2743200"/>
                <a:gridCol w="1097280"/>
              </a:tblGrid>
              <a:tr h="292608">
                <a:tc>
                  <a:txBody>
                    <a:bodyPr/>
                    <a:lstStyle/>
                    <a:p>
                      <a:pPr indent="0" marL="0">
                        <a:buNone/>
                      </a:pPr>
                      <a:r>
                        <a:rPr lang="en-US" sz="1250" b="1" dirty="0">
                          <a:solidFill>
                            <a:schemeClr val="tx1"/>
                          </a:solidFill>
                          <a:latin typeface="Arial" pitchFamily="34" charset="0"/>
                          <a:ea typeface="Arial" pitchFamily="34" charset="-122"/>
                          <a:cs typeface="Arial" pitchFamily="34" charset="-120"/>
                        </a:rPr>
                        <a:t>Relationship</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algn="r" indent="0" marL="0">
                        <a:buNone/>
                      </a:pPr>
                      <a:r>
                        <a:rPr lang="en-US" sz="1250" b="1" dirty="0">
                          <a:solidFill>
                            <a:schemeClr val="tx1"/>
                          </a:solidFill>
                          <a:latin typeface="Arial" pitchFamily="34" charset="0"/>
                          <a:ea typeface="Arial" pitchFamily="34" charset="-122"/>
                          <a:cs typeface="Arial" pitchFamily="34" charset="-120"/>
                        </a:rPr>
                        <a:t>Count</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similar_to</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3,969</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has_oxidation_state</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2,319</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contains</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2,269</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classified_as</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2,135</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suitable_for</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1,506</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has_formula_pattern</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794</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has_space_group</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794</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member_of</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794</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crystal_system</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106</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bl>
          </a:graphicData>
        </a:graphic>
      </p:graphicFrame>
      <p:graphicFrame>
        <p:nvGraphicFramePr>
          <p:cNvPr id="37" name="table-255"/>
          <p:cNvGraphicFramePr>
            <a:graphicFrameLocks noGrp="1"/>
          </p:cNvGraphicFramePr>
          <p:nvPr>
            <p:extLst>
              <p:ext uri="{D42A27DB-BD31-4B8C-83A1-F6EECF244321}">
                <p14:modId xmlns:p14="http://schemas.microsoft.com/office/powerpoint/2010/main" val="1579011935"/>
              </p:ext>
            </p:extLst>
          </p:nvPr>
        </p:nvGraphicFramePr>
        <p:xfrm>
          <a:off x="4572000" y="1371600"/>
          <a:ext cx="4114800" cy="914400"/>
        </p:xfrm>
        <a:graphic>
          <a:graphicData uri="http://schemas.openxmlformats.org/drawingml/2006/table">
            <a:tbl>
              <a:tblPr/>
              <a:tblGrid>
                <a:gridCol w="2834640"/>
                <a:gridCol w="1280160"/>
              </a:tblGrid>
              <a:tr h="292608">
                <a:tc>
                  <a:txBody>
                    <a:bodyPr/>
                    <a:lstStyle/>
                    <a:p>
                      <a:pPr indent="0" marL="0">
                        <a:buNone/>
                      </a:pPr>
                      <a:r>
                        <a:rPr lang="en-US" sz="1250" b="1" dirty="0">
                          <a:solidFill>
                            <a:schemeClr val="tx1"/>
                          </a:solidFill>
                          <a:latin typeface="Arial" pitchFamily="34" charset="0"/>
                          <a:ea typeface="Arial" pitchFamily="34" charset="-122"/>
                          <a:cs typeface="Arial" pitchFamily="34" charset="-120"/>
                        </a:rPr>
                        <a:t>Domain</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c>
                  <a:txBody>
                    <a:bodyPr/>
                    <a:lstStyle/>
                    <a:p>
                      <a:pPr algn="r" indent="0" marL="0">
                        <a:buNone/>
                      </a:pPr>
                      <a:r>
                        <a:rPr lang="en-US" sz="1250" b="1" dirty="0">
                          <a:solidFill>
                            <a:schemeClr val="tx1"/>
                          </a:solidFill>
                          <a:latin typeface="Arial" pitchFamily="34" charset="0"/>
                          <a:ea typeface="Arial" pitchFamily="34" charset="-122"/>
                          <a:cs typeface="Arial" pitchFamily="34" charset="-120"/>
                        </a:rPr>
                        <a:t>Materials</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solidFill>
                      <a:schemeClr val="bg2"/>
                    </a:solidFill>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semiconductor_device</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474</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magnetic_material</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328</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photocatalyst</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249</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battery_cathode</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237</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dielectric</a:t>
                      </a:r>
                      <a:endParaRPr lang="en-US" sz="1250" dirty="0">
                        <a:latin typeface="Courier New" charset="0"/>
                        <a:ea typeface="Courier New" charset="0"/>
                        <a:cs typeface="Courier New"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dirty="0">
                          <a:solidFill>
                            <a:schemeClr val="tx1"/>
                          </a:solidFill>
                          <a:latin typeface="Arial" pitchFamily="34" charset="0"/>
                          <a:ea typeface="Arial" pitchFamily="34" charset="-122"/>
                          <a:cs typeface="Arial" pitchFamily="34" charset="-120"/>
                        </a:rPr>
                        <a:t>218</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r h="292608">
                <a:tc>
                  <a:txBody>
                    <a:bodyPr/>
                    <a:lstStyle/>
                    <a:p>
                      <a:pPr indent="0" marL="0">
                        <a:buNone/>
                      </a:pPr>
                      <a:r>
                        <a:rPr lang="en-US" sz="1250" b="1" dirty="0">
                          <a:solidFill>
                            <a:schemeClr val="tx1"/>
                          </a:solidFill>
                          <a:latin typeface="Arial" pitchFamily="34" charset="0"/>
                          <a:ea typeface="Arial" pitchFamily="34" charset="-122"/>
                          <a:cs typeface="Arial" pitchFamily="34" charset="-120"/>
                        </a:rPr>
                        <a:t>Total</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c>
                  <a:txBody>
                    <a:bodyPr/>
                    <a:lstStyle/>
                    <a:p>
                      <a:pPr algn="r" indent="0" marL="0">
                        <a:buNone/>
                      </a:pPr>
                      <a:r>
                        <a:rPr lang="en-US" sz="1250" b="1" dirty="0">
                          <a:solidFill>
                            <a:schemeClr val="tx1"/>
                          </a:solidFill>
                          <a:latin typeface="Arial" pitchFamily="34" charset="0"/>
                          <a:ea typeface="Arial" pitchFamily="34" charset="-122"/>
                          <a:cs typeface="Arial" pitchFamily="34" charset="-120"/>
                        </a:rPr>
                        <a:t>1,506</a:t>
                      </a:r>
                      <a:endParaRPr lang="en-US" sz="1250" dirty="0">
                        <a:latin typeface="Arial" charset="0"/>
                        <a:ea typeface="Arial" charset="0"/>
                        <a:cs typeface="Arial" charset="0"/>
                      </a:endParaRPr>
                    </a:p>
                  </a:txBody>
                  <a:tcPr marL="54864" marR="54864" marT="27432" marB="27432" anchor="ctr">
                    <a:lnL w="9525" cap="flat" cmpd="sng" algn="ctr">
                      <a:solidFill>
                        <a:srgbClr val="9A9AC8"/>
                      </a:solidFill>
                      <a:prstDash val="solid"/>
                      <a:round/>
                      <a:headEnd type="none" w="med" len="med"/>
                      <a:tailEnd type="none" w="med" len="med"/>
                    </a:lnL>
                    <a:lnR w="9525" cap="flat" cmpd="sng" algn="ctr">
                      <a:solidFill>
                        <a:srgbClr val="9A9AC8"/>
                      </a:solidFill>
                      <a:prstDash val="solid"/>
                      <a:round/>
                      <a:headEnd type="none" w="med" len="med"/>
                      <a:tailEnd type="none" w="med" len="med"/>
                    </a:lnR>
                    <a:lnT w="9525" cap="flat" cmpd="sng" algn="ctr">
                      <a:solidFill>
                        <a:srgbClr val="9A9AC8"/>
                      </a:solidFill>
                      <a:prstDash val="solid"/>
                      <a:round/>
                      <a:headEnd type="none" w="med" len="med"/>
                      <a:tailEnd type="none" w="med" len="med"/>
                    </a:lnT>
                    <a:lnB w="9525" cap="flat" cmpd="sng" algn="ctr">
                      <a:solidFill>
                        <a:srgbClr val="9A9AC8"/>
                      </a:solidFill>
                      <a:prstDash val="solid"/>
                      <a:round/>
                      <a:headEnd type="none" w="med" len="med"/>
                      <a:tailEnd type="none" w="med" len="med"/>
                    </a:lnB>
                  </a:tcPr>
                </a:tc>
              </a:tr>
            </a:tbl>
          </a:graphicData>
        </a:graphic>
      </p:graphicFrame>
      <p:sp>
        <p:nvSpPr>
          <p:cNvPr id="7" name="text-256"/>
          <p:cNvSpPr txBox="1"/>
          <p:nvPr/>
        </p:nvSpPr>
        <p:spPr>
          <a:xfrm>
            <a:off x="457200" y="4572000"/>
            <a:ext cx="8229600" cy="1097280"/>
          </a:xfrm>
          <a:prstGeom prst="rect">
            <a:avLst/>
          </a:prstGeom>
          <a:noFill/>
          <a:ln/>
        </p:spPr>
        <p:txBody>
          <a:bodyPr wrap="square" lIns="0" tIns="0" rIns="0" bIns="0" rtlCol="0" anchor="t"/>
          <a:lstStyle/>
          <a:p>
            <a:pPr indent="0" marL="0">
              <a:buNone/>
            </a:pPr>
            <a:r>
              <a:rPr lang="en-US" sz="1500" dirty="0">
                <a:solidFill>
                  <a:schemeClr val="tx1"/>
                </a:solidFill>
              </a:rPr>
              <a:t>Counts read directly out of the graph store on every build — not estimated. Domain totals match the </a:t>
            </a:r>
            <a:r>
              <a:rPr lang="en-US" sz="1500" dirty="0">
                <a:solidFill>
                  <a:schemeClr val="tx1"/>
                </a:solidFill>
                <a:latin typeface="Courier New" pitchFamily="34" charset="0"/>
                <a:ea typeface="Courier New" pitchFamily="34" charset="-122"/>
                <a:cs typeface="Courier New" pitchFamily="34" charset="-120"/>
              </a:rPr>
              <a:t>suitable_for</a:t>
            </a:r>
            <a:r>
              <a:rPr lang="en-US" sz="1500" dirty="0">
                <a:solidFill>
                  <a:schemeClr val="tx1"/>
                </a:solidFill>
              </a:rPr>
              <a:t> edge count exactly; a material can belong to more than one domain, and each edge stores the rule that qualified it.</a:t>
            </a:r>
            <a:endParaRPr lang="en-US" sz="15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Results — Demo: Asking a Question</a:t>
            </a:r>
            <a:endParaRPr lang="en-US" sz="2600" dirty="0"/>
          </a:p>
        </p:txBody>
      </p:sp>
      <p:pic>
        <p:nvPicPr>
          <p:cNvPr id="3" name="ask-screenshot" descr="/Users/sharveshsivagnanam/development/meta_graph/presentation/assets/ask_results.jpg">    </p:cNvPr>
          <p:cNvPicPr>
            <a:picLocks noChangeAspect="1"/>
          </p:cNvPicPr>
          <p:nvPr/>
        </p:nvPicPr>
        <p:blipFill>
          <a:blip r:embed="rId1"/>
          <a:stretch>
            <a:fillRect/>
          </a:stretch>
        </p:blipFill>
        <p:spPr>
          <a:xfrm>
            <a:off x="365760" y="896112"/>
            <a:ext cx="5486400" cy="3502152"/>
          </a:xfrm>
          <a:prstGeom prst="rect">
            <a:avLst/>
          </a:prstGeom>
        </p:spPr>
      </p:pic>
      <p:pic>
        <p:nvPicPr>
          <p:cNvPr id="4" name="explanation-screenshot" descr="/Users/sharveshsivagnanam/development/meta_graph/presentation/assets/ask_explanation_short.jpg">    </p:cNvPr>
          <p:cNvPicPr>
            <a:picLocks noChangeAspect="1"/>
          </p:cNvPicPr>
          <p:nvPr/>
        </p:nvPicPr>
        <p:blipFill>
          <a:blip r:embed="rId2"/>
          <a:stretch>
            <a:fillRect/>
          </a:stretch>
        </p:blipFill>
        <p:spPr>
          <a:xfrm>
            <a:off x="365760" y="4526280"/>
            <a:ext cx="4251960" cy="1837944"/>
          </a:xfrm>
          <a:prstGeom prst="rect">
            <a:avLst/>
          </a:prstGeom>
        </p:spPr>
      </p:pic>
      <p:sp>
        <p:nvSpPr>
          <p:cNvPr id="5" name="num-257"/>
          <p:cNvSpPr/>
          <p:nvPr/>
        </p:nvSpPr>
        <p:spPr>
          <a:xfrm>
            <a:off x="6035040" y="960120"/>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258"/>
          <p:cNvSpPr txBox="1"/>
          <p:nvPr/>
        </p:nvSpPr>
        <p:spPr>
          <a:xfrm>
            <a:off x="6492240" y="914400"/>
            <a:ext cx="2286000" cy="960120"/>
          </a:xfrm>
          <a:prstGeom prst="rect">
            <a:avLst/>
          </a:prstGeom>
          <a:noFill/>
          <a:ln/>
        </p:spPr>
        <p:txBody>
          <a:bodyPr wrap="square" lIns="0" tIns="0" rIns="0" bIns="0" rtlCol="0" anchor="t"/>
          <a:lstStyle/>
          <a:p>
            <a:pPr indent="0" marL="0">
              <a:buNone/>
            </a:pPr>
            <a:r>
              <a:rPr lang="en-US" sz="1300" b="1" dirty="0">
                <a:solidFill>
                  <a:schemeClr val="tx1"/>
                </a:solidFill>
              </a:rPr>
              <a:t>Understood as: </a:t>
            </a:r>
            <a:r>
              <a:rPr lang="en-US" sz="1300" dirty="0">
                <a:solidFill>
                  <a:schemeClr val="tx2"/>
                </a:solidFill>
              </a:rPr>
              <a:t>parsed constraints, including “no Co”.</a:t>
            </a:r>
            <a:endParaRPr lang="en-US" sz="1300" dirty="0"/>
          </a:p>
        </p:txBody>
      </p:sp>
      <p:sp>
        <p:nvSpPr>
          <p:cNvPr id="7" name="num-259"/>
          <p:cNvSpPr/>
          <p:nvPr/>
        </p:nvSpPr>
        <p:spPr>
          <a:xfrm>
            <a:off x="6035040" y="2057400"/>
            <a:ext cx="347472" cy="347472"/>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text-260"/>
          <p:cNvSpPr txBox="1"/>
          <p:nvPr/>
        </p:nvSpPr>
        <p:spPr>
          <a:xfrm>
            <a:off x="6492240" y="2011680"/>
            <a:ext cx="2286000" cy="960120"/>
          </a:xfrm>
          <a:prstGeom prst="rect">
            <a:avLst/>
          </a:prstGeom>
          <a:noFill/>
          <a:ln/>
        </p:spPr>
        <p:txBody>
          <a:bodyPr wrap="square" lIns="0" tIns="0" rIns="0" bIns="0" rtlCol="0" anchor="t"/>
          <a:lstStyle/>
          <a:p>
            <a:pPr indent="0" marL="0">
              <a:buNone/>
            </a:pPr>
            <a:r>
              <a:rPr lang="en-US" sz="1300" b="1" dirty="0">
                <a:solidFill>
                  <a:schemeClr val="tx1"/>
                </a:solidFill>
              </a:rPr>
              <a:t>Candidates: </a:t>
            </a:r>
            <a:r>
              <a:rPr lang="en-US" sz="1300" dirty="0">
                <a:solidFill>
                  <a:schemeClr val="tx2"/>
                </a:solidFill>
              </a:rPr>
              <a:t>ranked with a score breakdown.</a:t>
            </a:r>
            <a:endParaRPr lang="en-US" sz="1300" dirty="0"/>
          </a:p>
        </p:txBody>
      </p:sp>
      <p:sp>
        <p:nvSpPr>
          <p:cNvPr id="9" name="num-261"/>
          <p:cNvSpPr/>
          <p:nvPr/>
        </p:nvSpPr>
        <p:spPr>
          <a:xfrm>
            <a:off x="6035040" y="3154680"/>
            <a:ext cx="347472" cy="347472"/>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text-262"/>
          <p:cNvSpPr txBox="1"/>
          <p:nvPr/>
        </p:nvSpPr>
        <p:spPr>
          <a:xfrm>
            <a:off x="6492240" y="3108960"/>
            <a:ext cx="2286000" cy="960120"/>
          </a:xfrm>
          <a:prstGeom prst="rect">
            <a:avLst/>
          </a:prstGeom>
          <a:noFill/>
          <a:ln/>
        </p:spPr>
        <p:txBody>
          <a:bodyPr wrap="square" lIns="0" tIns="0" rIns="0" bIns="0" rtlCol="0" anchor="t"/>
          <a:lstStyle/>
          <a:p>
            <a:pPr indent="0" marL="0">
              <a:buNone/>
            </a:pPr>
            <a:r>
              <a:rPr lang="en-US" sz="1300" b="1" dirty="0">
                <a:solidFill>
                  <a:schemeClr val="tx1"/>
                </a:solidFill>
              </a:rPr>
              <a:t>Evidence path: </a:t>
            </a:r>
            <a:r>
              <a:rPr lang="en-US" sz="1300" dirty="0">
                <a:solidFill>
                  <a:schemeClr val="tx2"/>
                </a:solidFill>
              </a:rPr>
              <a:t>the graph edges behind the top result.</a:t>
            </a:r>
            <a:endParaRPr lang="en-US" sz="1300" dirty="0"/>
          </a:p>
        </p:txBody>
      </p:sp>
      <p:sp>
        <p:nvSpPr>
          <p:cNvPr id="11" name="num-263"/>
          <p:cNvSpPr/>
          <p:nvPr/>
        </p:nvSpPr>
        <p:spPr>
          <a:xfrm>
            <a:off x="4800600" y="4572000"/>
            <a:ext cx="347472" cy="347472"/>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2" name="text-264"/>
          <p:cNvSpPr txBox="1"/>
          <p:nvPr/>
        </p:nvSpPr>
        <p:spPr>
          <a:xfrm>
            <a:off x="5257800" y="4526280"/>
            <a:ext cx="3520440" cy="914400"/>
          </a:xfrm>
          <a:prstGeom prst="rect">
            <a:avLst/>
          </a:prstGeom>
          <a:noFill/>
          <a:ln/>
        </p:spPr>
        <p:txBody>
          <a:bodyPr wrap="square" lIns="0" tIns="0" rIns="0" bIns="0" rtlCol="0" anchor="t"/>
          <a:lstStyle/>
          <a:p>
            <a:pPr indent="0" marL="0">
              <a:buNone/>
            </a:pPr>
            <a:r>
              <a:rPr lang="en-US" sz="1300" b="1" dirty="0">
                <a:solidFill>
                  <a:schemeClr val="tx1"/>
                </a:solidFill>
              </a:rPr>
              <a:t>Grounded explanation: </a:t>
            </a:r>
            <a:r>
              <a:rPr lang="en-US" sz="1300" dirty="0">
                <a:solidFill>
                  <a:schemeClr val="tx2"/>
                </a:solidFill>
              </a:rPr>
              <a:t>every claim cites a fact id; the checker verified 69 / 69 claims.</a:t>
            </a:r>
            <a:endParaRPr lang="en-US" sz="1300" dirty="0"/>
          </a:p>
        </p:txBody>
      </p:sp>
      <p:sp>
        <p:nvSpPr>
          <p:cNvPr id="13" name="text-265"/>
          <p:cNvSpPr txBox="1"/>
          <p:nvPr/>
        </p:nvSpPr>
        <p:spPr>
          <a:xfrm>
            <a:off x="4800600" y="5532120"/>
            <a:ext cx="3977640" cy="822960"/>
          </a:xfrm>
          <a:prstGeom prst="rect">
            <a:avLst/>
          </a:prstGeom>
          <a:noFill/>
          <a:ln/>
        </p:spPr>
        <p:txBody>
          <a:bodyPr wrap="square" lIns="0" tIns="0" rIns="0" bIns="0" rtlCol="0" anchor="t"/>
          <a:lstStyle/>
          <a:p>
            <a:pPr indent="0" marL="0">
              <a:buNone/>
            </a:pPr>
            <a:r>
              <a:rPr lang="en-US" sz="1100" i="1" dirty="0">
                <a:solidFill>
                  <a:schemeClr val="tx2"/>
                </a:solidFill>
              </a:rPr>
              <a:t>Captured with the rule-based parser and templated explanation (LLM off); retrieval and grounding are the same path.</a:t>
            </a:r>
            <a:endParaRPr lang="en-US" sz="11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Results — Demo: Adding a New Material</a:t>
            </a:r>
            <a:endParaRPr lang="en-US" sz="2600" dirty="0"/>
          </a:p>
        </p:txBody>
      </p:sp>
      <p:pic>
        <p:nvPicPr>
          <p:cNvPr id="3" name="connect-graph-screenshot" descr="/Users/sharveshsivagnanam/development/meta_graph/presentation/assets/add_connect_graph.jpg">    </p:cNvPr>
          <p:cNvPicPr>
            <a:picLocks noChangeAspect="1"/>
          </p:cNvPicPr>
          <p:nvPr/>
        </p:nvPicPr>
        <p:blipFill>
          <a:blip r:embed="rId1"/>
          <a:stretch>
            <a:fillRect/>
          </a:stretch>
        </p:blipFill>
        <p:spPr>
          <a:xfrm>
            <a:off x="365760" y="896112"/>
            <a:ext cx="3840480" cy="3337560"/>
          </a:xfrm>
          <a:prstGeom prst="rect">
            <a:avLst/>
          </a:prstGeom>
        </p:spPr>
      </p:pic>
      <p:pic>
        <p:nvPicPr>
          <p:cNvPr id="4" name="shared-nodes-screenshot" descr="/Users/sharveshsivagnanam/development/meta_graph/presentation/assets/add_shared_nodes.jpg">    </p:cNvPr>
          <p:cNvPicPr>
            <a:picLocks noChangeAspect="1"/>
          </p:cNvPicPr>
          <p:nvPr/>
        </p:nvPicPr>
        <p:blipFill>
          <a:blip r:embed="rId2"/>
          <a:stretch>
            <a:fillRect/>
          </a:stretch>
        </p:blipFill>
        <p:spPr>
          <a:xfrm>
            <a:off x="4389120" y="896112"/>
            <a:ext cx="4389120" cy="3547872"/>
          </a:xfrm>
          <a:prstGeom prst="rect">
            <a:avLst/>
          </a:prstGeom>
        </p:spPr>
      </p:pic>
      <p:pic>
        <p:nvPicPr>
          <p:cNvPr id="5" name="related-materials-screenshot" descr="/Users/sharveshsivagnanam/development/meta_graph/presentation/assets/add_related.jpg">    </p:cNvPr>
          <p:cNvPicPr>
            <a:picLocks noChangeAspect="1"/>
          </p:cNvPicPr>
          <p:nvPr/>
        </p:nvPicPr>
        <p:blipFill>
          <a:blip r:embed="rId3"/>
          <a:stretch>
            <a:fillRect/>
          </a:stretch>
        </p:blipFill>
        <p:spPr>
          <a:xfrm>
            <a:off x="365760" y="4370832"/>
            <a:ext cx="2011680" cy="1993392"/>
          </a:xfrm>
          <a:prstGeom prst="rect">
            <a:avLst/>
          </a:prstGeom>
        </p:spPr>
      </p:pic>
      <p:sp>
        <p:nvSpPr>
          <p:cNvPr id="6" name="num-266"/>
          <p:cNvSpPr/>
          <p:nvPr/>
        </p:nvSpPr>
        <p:spPr>
          <a:xfrm>
            <a:off x="2606040" y="4608576"/>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267"/>
          <p:cNvSpPr txBox="1"/>
          <p:nvPr/>
        </p:nvSpPr>
        <p:spPr>
          <a:xfrm>
            <a:off x="3063240" y="4572000"/>
            <a:ext cx="5715000" cy="566928"/>
          </a:xfrm>
          <a:prstGeom prst="rect">
            <a:avLst/>
          </a:prstGeom>
          <a:noFill/>
          <a:ln/>
        </p:spPr>
        <p:txBody>
          <a:bodyPr wrap="square" lIns="0" tIns="0" rIns="0" bIns="0" rtlCol="0" anchor="ctr"/>
          <a:lstStyle/>
          <a:p>
            <a:pPr indent="0" marL="0">
              <a:buNone/>
            </a:pPr>
            <a:r>
              <a:rPr lang="en-US" sz="1250" b="1" dirty="0">
                <a:solidFill>
                  <a:schemeClr val="tx1"/>
                </a:solidFill>
              </a:rPr>
              <a:t>How it connects: </a:t>
            </a:r>
            <a:r>
              <a:rPr lang="en-US" sz="1250" dirty="0">
                <a:solidFill>
                  <a:schemeClr val="tx2"/>
                </a:solidFill>
              </a:rPr>
              <a:t>LiTaO3 fetched from Materials Project and previewed in memory until saved.</a:t>
            </a:r>
            <a:endParaRPr lang="en-US" sz="1250" dirty="0"/>
          </a:p>
        </p:txBody>
      </p:sp>
      <p:sp>
        <p:nvSpPr>
          <p:cNvPr id="8" name="num-268"/>
          <p:cNvSpPr/>
          <p:nvPr/>
        </p:nvSpPr>
        <p:spPr>
          <a:xfrm>
            <a:off x="2606040" y="5230368"/>
            <a:ext cx="329184" cy="329184"/>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269"/>
          <p:cNvSpPr txBox="1"/>
          <p:nvPr/>
        </p:nvSpPr>
        <p:spPr>
          <a:xfrm>
            <a:off x="3063240" y="5193792"/>
            <a:ext cx="5715000" cy="566928"/>
          </a:xfrm>
          <a:prstGeom prst="rect">
            <a:avLst/>
          </a:prstGeom>
          <a:noFill/>
          <a:ln/>
        </p:spPr>
        <p:txBody>
          <a:bodyPr wrap="square" lIns="0" tIns="0" rIns="0" bIns="0" rtlCol="0" anchor="ctr"/>
          <a:lstStyle/>
          <a:p>
            <a:pPr indent="0" marL="0">
              <a:buNone/>
            </a:pPr>
            <a:r>
              <a:rPr lang="en-US" sz="1250" b="1" dirty="0">
                <a:solidFill>
                  <a:schemeClr val="tx1"/>
                </a:solidFill>
              </a:rPr>
              <a:t>Shared graph nodes: </a:t>
            </a:r>
            <a:r>
              <a:rPr lang="en-US" sz="1250" dirty="0">
                <a:solidFill>
                  <a:schemeClr val="tx2"/>
                </a:solidFill>
              </a:rPr>
              <a:t>most selective first; ChemicalSystem Li-O-Ta is the only new node.</a:t>
            </a:r>
            <a:endParaRPr lang="en-US" sz="1250" dirty="0"/>
          </a:p>
        </p:txBody>
      </p:sp>
      <p:sp>
        <p:nvSpPr>
          <p:cNvPr id="10" name="num-270"/>
          <p:cNvSpPr/>
          <p:nvPr/>
        </p:nvSpPr>
        <p:spPr>
          <a:xfrm>
            <a:off x="2606040" y="58521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text-271"/>
          <p:cNvSpPr txBox="1"/>
          <p:nvPr/>
        </p:nvSpPr>
        <p:spPr>
          <a:xfrm>
            <a:off x="3063240" y="5815584"/>
            <a:ext cx="5715000" cy="566928"/>
          </a:xfrm>
          <a:prstGeom prst="rect">
            <a:avLst/>
          </a:prstGeom>
          <a:noFill/>
          <a:ln/>
        </p:spPr>
        <p:txBody>
          <a:bodyPr wrap="square" lIns="0" tIns="0" rIns="0" bIns="0" rtlCol="0" anchor="ctr"/>
          <a:lstStyle/>
          <a:p>
            <a:pPr indent="0" marL="0">
              <a:buNone/>
            </a:pPr>
            <a:r>
              <a:rPr lang="en-US" sz="1250" b="1" dirty="0">
                <a:solidFill>
                  <a:schemeClr val="tx1"/>
                </a:solidFill>
              </a:rPr>
              <a:t>Related materials: </a:t>
            </a:r>
            <a:r>
              <a:rPr lang="en-US" sz="1250" dirty="0">
                <a:solidFill>
                  <a:schemeClr val="tx2"/>
                </a:solidFill>
              </a:rPr>
              <a:t>similar_to by property cosine, plus compositional neighbours.</a:t>
            </a:r>
            <a:endParaRPr lang="en-US" sz="125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Results — Demo: Graph Explorer Import &amp; Match</a:t>
            </a:r>
            <a:endParaRPr lang="en-US" sz="2600" dirty="0"/>
          </a:p>
        </p:txBody>
      </p:sp>
      <p:pic>
        <p:nvPicPr>
          <p:cNvPr id="3" name="explorer-wiring" descr="/Users/sharveshsivagnanam/development/meta_graph/presentation/assets/explorer_match_start.jpg">    </p:cNvPr>
          <p:cNvPicPr>
            <a:picLocks noChangeAspect="1"/>
          </p:cNvPicPr>
          <p:nvPr/>
        </p:nvPicPr>
        <p:blipFill>
          <a:blip r:embed="rId1"/>
          <a:stretch>
            <a:fillRect/>
          </a:stretch>
        </p:blipFill>
        <p:spPr>
          <a:xfrm>
            <a:off x="365760" y="914400"/>
            <a:ext cx="4114800" cy="2569464"/>
          </a:xfrm>
          <a:prstGeom prst="rect">
            <a:avLst/>
          </a:prstGeom>
        </p:spPr>
      </p:pic>
      <p:pic>
        <p:nvPicPr>
          <p:cNvPr id="4" name="explorer-settled" descr="/Users/sharveshsivagnanam/development/meta_graph/presentation/assets/explorer_match.jpg">    </p:cNvPr>
          <p:cNvPicPr>
            <a:picLocks noChangeAspect="1"/>
          </p:cNvPicPr>
          <p:nvPr/>
        </p:nvPicPr>
        <p:blipFill>
          <a:blip r:embed="rId2"/>
          <a:stretch>
            <a:fillRect/>
          </a:stretch>
        </p:blipFill>
        <p:spPr>
          <a:xfrm>
            <a:off x="4663440" y="914400"/>
            <a:ext cx="4114800" cy="2569464"/>
          </a:xfrm>
          <a:prstGeom prst="rect">
            <a:avLst/>
          </a:prstGeom>
        </p:spPr>
      </p:pic>
      <p:sp>
        <p:nvSpPr>
          <p:cNvPr id="5" name="text-272"/>
          <p:cNvSpPr txBox="1"/>
          <p:nvPr/>
        </p:nvSpPr>
        <p:spPr>
          <a:xfrm>
            <a:off x="365760" y="3547872"/>
            <a:ext cx="4114800" cy="274320"/>
          </a:xfrm>
          <a:prstGeom prst="rect">
            <a:avLst/>
          </a:prstGeom>
          <a:noFill/>
          <a:ln/>
        </p:spPr>
        <p:txBody>
          <a:bodyPr wrap="square" lIns="0" tIns="0" rIns="0" bIns="0" rtlCol="0" anchor="t"/>
          <a:lstStyle/>
          <a:p>
            <a:pPr algn="ctr" indent="0" marL="0">
              <a:buNone/>
            </a:pPr>
            <a:r>
              <a:rPr lang="en-US" sz="1150" i="1" dirty="0">
                <a:solidFill>
                  <a:schemeClr val="tx2"/>
                </a:solidFill>
              </a:rPr>
              <a:t>≈ 5 s — wiring to hubs</a:t>
            </a:r>
            <a:endParaRPr lang="en-US" sz="1150" dirty="0"/>
          </a:p>
        </p:txBody>
      </p:sp>
      <p:sp>
        <p:nvSpPr>
          <p:cNvPr id="6" name="text-273"/>
          <p:cNvSpPr txBox="1"/>
          <p:nvPr/>
        </p:nvSpPr>
        <p:spPr>
          <a:xfrm>
            <a:off x="4663440" y="3547872"/>
            <a:ext cx="4114800" cy="274320"/>
          </a:xfrm>
          <a:prstGeom prst="rect">
            <a:avLst/>
          </a:prstGeom>
          <a:noFill/>
          <a:ln/>
        </p:spPr>
        <p:txBody>
          <a:bodyPr wrap="square" lIns="0" tIns="0" rIns="0" bIns="0" rtlCol="0" anchor="t"/>
          <a:lstStyle/>
          <a:p>
            <a:pPr algn="ctr" indent="0" marL="0">
              <a:buNone/>
            </a:pPr>
            <a:r>
              <a:rPr lang="en-US" sz="1150" i="1" dirty="0">
                <a:solidFill>
                  <a:schemeClr val="tx2"/>
                </a:solidFill>
              </a:rPr>
              <a:t>≈ 20 s — settled into the graph</a:t>
            </a:r>
            <a:endParaRPr lang="en-US" sz="1150" dirty="0"/>
          </a:p>
        </p:txBody>
      </p:sp>
      <p:sp>
        <p:nvSpPr>
          <p:cNvPr id="7" name="num-274"/>
          <p:cNvSpPr/>
          <p:nvPr/>
        </p:nvSpPr>
        <p:spPr>
          <a:xfrm>
            <a:off x="365760" y="4023360"/>
            <a:ext cx="347472" cy="347472"/>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275"/>
          <p:cNvSpPr txBox="1"/>
          <p:nvPr/>
        </p:nvSpPr>
        <p:spPr>
          <a:xfrm>
            <a:off x="822960" y="4023360"/>
            <a:ext cx="3566160" cy="347472"/>
          </a:xfrm>
          <a:prstGeom prst="rect">
            <a:avLst/>
          </a:prstGeom>
          <a:noFill/>
          <a:ln/>
        </p:spPr>
        <p:txBody>
          <a:bodyPr wrap="square" lIns="0" tIns="0" rIns="0" bIns="0" rtlCol="0" anchor="ctr"/>
          <a:lstStyle/>
          <a:p>
            <a:pPr indent="0" marL="0">
              <a:buNone/>
            </a:pPr>
            <a:r>
              <a:rPr lang="en-US" sz="1400" b="1" dirty="0">
                <a:solidFill>
                  <a:schemeClr val="tx1"/>
                </a:solidFill>
              </a:rPr>
              <a:t>Look up</a:t>
            </a:r>
            <a:endParaRPr lang="en-US" sz="1400" dirty="0"/>
          </a:p>
        </p:txBody>
      </p:sp>
      <p:sp>
        <p:nvSpPr>
          <p:cNvPr id="9" name="text-276"/>
          <p:cNvSpPr txBox="1"/>
          <p:nvPr/>
        </p:nvSpPr>
        <p:spPr>
          <a:xfrm>
            <a:off x="822960" y="4407408"/>
            <a:ext cx="3566160" cy="713232"/>
          </a:xfrm>
          <a:prstGeom prst="rect">
            <a:avLst/>
          </a:prstGeom>
          <a:noFill/>
          <a:ln/>
        </p:spPr>
        <p:txBody>
          <a:bodyPr wrap="square" lIns="0" tIns="0" rIns="0" bIns="0" rtlCol="0" anchor="t"/>
          <a:lstStyle/>
          <a:p>
            <a:pPr indent="0" marL="0">
              <a:buNone/>
            </a:pPr>
            <a:r>
              <a:rPr lang="en-US" sz="1250" dirty="0">
                <a:solidFill>
                  <a:schemeClr val="tx2"/>
                </a:solidFill>
              </a:rPr>
              <a:t>NaFePO4 fetched from Materials Project (a CIF would be predicted with CGCNN).</a:t>
            </a:r>
            <a:endParaRPr lang="en-US" sz="1250" dirty="0"/>
          </a:p>
        </p:txBody>
      </p:sp>
      <p:sp>
        <p:nvSpPr>
          <p:cNvPr id="10" name="num-277"/>
          <p:cNvSpPr/>
          <p:nvPr/>
        </p:nvSpPr>
        <p:spPr>
          <a:xfrm>
            <a:off x="4663440" y="4023360"/>
            <a:ext cx="347472" cy="347472"/>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278"/>
          <p:cNvSpPr txBox="1"/>
          <p:nvPr/>
        </p:nvSpPr>
        <p:spPr>
          <a:xfrm>
            <a:off x="5120640" y="4023360"/>
            <a:ext cx="3566160" cy="347472"/>
          </a:xfrm>
          <a:prstGeom prst="rect">
            <a:avLst/>
          </a:prstGeom>
          <a:noFill/>
          <a:ln/>
        </p:spPr>
        <p:txBody>
          <a:bodyPr wrap="square" lIns="0" tIns="0" rIns="0" bIns="0" rtlCol="0" anchor="ctr"/>
          <a:lstStyle/>
          <a:p>
            <a:pPr indent="0" marL="0">
              <a:buNone/>
            </a:pPr>
            <a:r>
              <a:rPr lang="en-US" sz="1400" b="1" dirty="0">
                <a:solidFill>
                  <a:schemeClr val="tx1"/>
                </a:solidFill>
              </a:rPr>
              <a:t>Match</a:t>
            </a:r>
            <a:endParaRPr lang="en-US" sz="1400" dirty="0"/>
          </a:p>
        </p:txBody>
      </p:sp>
      <p:sp>
        <p:nvSpPr>
          <p:cNvPr id="12" name="text-279"/>
          <p:cNvSpPr txBox="1"/>
          <p:nvPr/>
        </p:nvSpPr>
        <p:spPr>
          <a:xfrm>
            <a:off x="5120640" y="4407408"/>
            <a:ext cx="3566160" cy="713232"/>
          </a:xfrm>
          <a:prstGeom prst="rect">
            <a:avLst/>
          </a:prstGeom>
          <a:noFill/>
          <a:ln/>
        </p:spPr>
        <p:txBody>
          <a:bodyPr wrap="square" lIns="0" tIns="0" rIns="0" bIns="0" rtlCol="0" anchor="t"/>
          <a:lstStyle/>
          <a:p>
            <a:pPr indent="0" marL="0">
              <a:buNone/>
            </a:pPr>
            <a:r>
              <a:rPr lang="en-US" sz="1250" dirty="0">
                <a:solidFill>
                  <a:schemeClr val="tx2"/>
                </a:solidFill>
              </a:rPr>
              <a:t>Compared with same-formula materials: no polymorph in the graph yet.</a:t>
            </a:r>
            <a:endParaRPr lang="en-US" sz="1250" dirty="0"/>
          </a:p>
        </p:txBody>
      </p:sp>
      <p:sp>
        <p:nvSpPr>
          <p:cNvPr id="13" name="num-280"/>
          <p:cNvSpPr/>
          <p:nvPr/>
        </p:nvSpPr>
        <p:spPr>
          <a:xfrm>
            <a:off x="365760" y="5212080"/>
            <a:ext cx="347472" cy="347472"/>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281"/>
          <p:cNvSpPr txBox="1"/>
          <p:nvPr/>
        </p:nvSpPr>
        <p:spPr>
          <a:xfrm>
            <a:off x="822960" y="5212080"/>
            <a:ext cx="3566160" cy="347472"/>
          </a:xfrm>
          <a:prstGeom prst="rect">
            <a:avLst/>
          </a:prstGeom>
          <a:noFill/>
          <a:ln/>
        </p:spPr>
        <p:txBody>
          <a:bodyPr wrap="square" lIns="0" tIns="0" rIns="0" bIns="0" rtlCol="0" anchor="ctr"/>
          <a:lstStyle/>
          <a:p>
            <a:pPr indent="0" marL="0">
              <a:buNone/>
            </a:pPr>
            <a:r>
              <a:rPr lang="en-US" sz="1400" b="1" dirty="0">
                <a:solidFill>
                  <a:schemeClr val="tx1"/>
                </a:solidFill>
              </a:rPr>
              <a:t>Wire</a:t>
            </a:r>
            <a:endParaRPr lang="en-US" sz="1400" dirty="0"/>
          </a:p>
        </p:txBody>
      </p:sp>
      <p:sp>
        <p:nvSpPr>
          <p:cNvPr id="15" name="text-282"/>
          <p:cNvSpPr txBox="1"/>
          <p:nvPr/>
        </p:nvSpPr>
        <p:spPr>
          <a:xfrm>
            <a:off x="822960" y="5596128"/>
            <a:ext cx="3566160" cy="713232"/>
          </a:xfrm>
          <a:prstGeom prst="rect">
            <a:avLst/>
          </a:prstGeom>
          <a:noFill/>
          <a:ln/>
        </p:spPr>
        <p:txBody>
          <a:bodyPr wrap="square" lIns="0" tIns="0" rIns="0" bIns="0" rtlCol="0" anchor="t"/>
          <a:lstStyle/>
          <a:p>
            <a:pPr indent="0" marL="0">
              <a:buNone/>
            </a:pPr>
            <a:r>
              <a:rPr lang="en-US" sz="1250" dirty="0">
                <a:solidFill>
                  <a:schemeClr val="tx2"/>
                </a:solidFill>
              </a:rPr>
              <a:t>New node linked to each shared hub, rarest first: ABCD4 (6) … O (760).</a:t>
            </a:r>
            <a:endParaRPr lang="en-US" sz="1250" dirty="0"/>
          </a:p>
        </p:txBody>
      </p:sp>
      <p:sp>
        <p:nvSpPr>
          <p:cNvPr id="16" name="num-283"/>
          <p:cNvSpPr/>
          <p:nvPr/>
        </p:nvSpPr>
        <p:spPr>
          <a:xfrm>
            <a:off x="4663440" y="5212080"/>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284"/>
          <p:cNvSpPr txBox="1"/>
          <p:nvPr/>
        </p:nvSpPr>
        <p:spPr>
          <a:xfrm>
            <a:off x="5120640" y="5212080"/>
            <a:ext cx="3566160" cy="347472"/>
          </a:xfrm>
          <a:prstGeom prst="rect">
            <a:avLst/>
          </a:prstGeom>
          <a:noFill/>
          <a:ln/>
        </p:spPr>
        <p:txBody>
          <a:bodyPr wrap="square" lIns="0" tIns="0" rIns="0" bIns="0" rtlCol="0" anchor="ctr"/>
          <a:lstStyle/>
          <a:p>
            <a:pPr indent="0" marL="0">
              <a:buNone/>
            </a:pPr>
            <a:r>
              <a:rPr lang="en-US" sz="1400" b="1" dirty="0">
                <a:solidFill>
                  <a:schemeClr val="tx1"/>
                </a:solidFill>
              </a:rPr>
              <a:t>Settle</a:t>
            </a:r>
            <a:endParaRPr lang="en-US" sz="1400" dirty="0"/>
          </a:p>
        </p:txBody>
      </p:sp>
      <p:sp>
        <p:nvSpPr>
          <p:cNvPr id="18" name="text-285"/>
          <p:cNvSpPr txBox="1"/>
          <p:nvPr/>
        </p:nvSpPr>
        <p:spPr>
          <a:xfrm>
            <a:off x="5120640" y="5596128"/>
            <a:ext cx="3566160" cy="713232"/>
          </a:xfrm>
          <a:prstGeom prst="rect">
            <a:avLst/>
          </a:prstGeom>
          <a:noFill/>
          <a:ln/>
        </p:spPr>
        <p:txBody>
          <a:bodyPr wrap="square" lIns="0" tIns="0" rIns="0" bIns="0" rtlCol="0" anchor="t"/>
          <a:lstStyle/>
          <a:p>
            <a:pPr indent="0" marL="0">
              <a:buNone/>
            </a:pPr>
            <a:r>
              <a:rPr lang="en-US" sz="1250" dirty="0">
                <a:solidFill>
                  <a:schemeClr val="tx2"/>
                </a:solidFill>
              </a:rPr>
              <a:t>similar_to neighbours added; forces pull the node into place.</a:t>
            </a:r>
            <a:endParaRPr lang="en-US" sz="125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Conclusion and Future Work</a:t>
            </a:r>
            <a:endParaRPr lang="en-US" sz="2600" dirty="0"/>
          </a:p>
        </p:txBody>
      </p:sp>
      <p:sp>
        <p:nvSpPr>
          <p:cNvPr id="3" name="bullets-286"/>
          <p:cNvSpPr txBox="1"/>
          <p:nvPr/>
        </p:nvSpPr>
        <p:spPr>
          <a:xfrm>
            <a:off x="411480" y="914400"/>
            <a:ext cx="8321040" cy="5486400"/>
          </a:xfrm>
          <a:prstGeom prst="rect">
            <a:avLst/>
          </a:prstGeom>
          <a:noFill/>
          <a:ln/>
        </p:spPr>
        <p:txBody>
          <a:bodyPr wrap="square" lIns="0" tIns="0" rIns="0" bIns="0" rtlCol="0" anchor="ctr"/>
          <a:lstStyle/>
          <a:p>
            <a:pPr indent="0" marL="0">
              <a:spcAft>
                <a:spcPts val="800"/>
              </a:spcAft>
              <a:buNone/>
            </a:pPr>
            <a:r>
              <a:rPr lang="en-US" sz="2000" b="1" dirty="0">
                <a:solidFill>
                  <a:schemeClr val="tx1"/>
                </a:solidFill>
              </a:rPr>
              <a:t>Achieved:</a:t>
            </a:r>
            <a:endParaRPr lang="en-US" sz="2000" dirty="0"/>
          </a:p>
          <a:p>
            <a:pPr marL="279400" indent="-279400">
              <a:spcAft>
                <a:spcPts val="800"/>
              </a:spcAft>
              <a:buClr>
                <a:schemeClr val="accent1"/>
              </a:buClr>
              <a:buSzPct val="100000"/>
              <a:buChar char="●"/>
            </a:pPr>
            <a:r>
              <a:rPr lang="en-US" sz="2000" dirty="0">
                <a:solidFill>
                  <a:schemeClr val="tx1"/>
                </a:solidFill>
              </a:rPr>
              <a:t>794-material knowledge graph with 14,686 edges, built with </a:t>
            </a:r>
            <a:r>
              <a:rPr lang="en-US" sz="2000" b="1" dirty="0">
                <a:solidFill>
                  <a:schemeClr val="tx1"/>
                </a:solidFill>
              </a:rPr>
              <a:t>zero LLM calls</a:t>
            </a:r>
            <a:r>
              <a:rPr lang="en-US" sz="2000" dirty="0">
                <a:solidFill>
                  <a:schemeClr val="tx1"/>
                </a:solidFill>
              </a:rPr>
              <a:t>.</a:t>
            </a:r>
            <a:endParaRPr lang="en-US" sz="2000" dirty="0"/>
          </a:p>
          <a:p>
            <a:pPr marL="279400" indent="-279400">
              <a:spcAft>
                <a:spcPts val="800"/>
              </a:spcAft>
              <a:buClr>
                <a:schemeClr val="accent1"/>
              </a:buClr>
              <a:buSzPct val="100000"/>
              <a:buChar char="●"/>
            </a:pPr>
            <a:r>
              <a:rPr lang="en-US" sz="2000" dirty="0">
                <a:solidFill>
                  <a:schemeClr val="tx1"/>
                </a:solidFill>
              </a:rPr>
              <a:t>Every claim in an explanation cited and machine-checked.</a:t>
            </a:r>
            <a:endParaRPr lang="en-US" sz="2000" dirty="0"/>
          </a:p>
          <a:p>
            <a:pPr marL="279400" indent="-279400">
              <a:spcAft>
                <a:spcPts val="800"/>
              </a:spcAft>
              <a:buClr>
                <a:schemeClr val="accent1"/>
              </a:buClr>
              <a:buSzPct val="100000"/>
              <a:buChar char="●"/>
            </a:pPr>
            <a:r>
              <a:rPr lang="en-US" sz="2000" dirty="0">
                <a:solidFill>
                  <a:schemeClr val="tx1"/>
                </a:solidFill>
              </a:rPr>
              <a:t>New materials connect through shared hubs and </a:t>
            </a:r>
            <a:r>
              <a:rPr lang="en-US" sz="2000" dirty="0">
                <a:solidFill>
                  <a:schemeClr val="tx1"/>
                </a:solidFill>
                <a:latin typeface="Courier New" pitchFamily="34" charset="0"/>
                <a:ea typeface="Courier New" pitchFamily="34" charset="-122"/>
                <a:cs typeface="Courier New" pitchFamily="34" charset="-120"/>
              </a:rPr>
              <a:t>similar_to</a:t>
            </a:r>
            <a:r>
              <a:rPr lang="en-US" sz="2000" dirty="0">
                <a:solidFill>
                  <a:schemeClr val="tx1"/>
                </a:solidFill>
              </a:rPr>
              <a:t> edges.</a:t>
            </a:r>
            <a:endParaRPr lang="en-US" sz="2000" dirty="0"/>
          </a:p>
          <a:p>
            <a:pPr marL="279400" indent="-279400">
              <a:spcAft>
                <a:spcPts val="800"/>
              </a:spcAft>
              <a:buClr>
                <a:schemeClr val="accent1"/>
              </a:buClr>
              <a:buSzPct val="100000"/>
              <a:buChar char="●"/>
            </a:pPr>
            <a:r>
              <a:rPr lang="en-US" sz="2000" dirty="0">
                <a:solidFill>
                  <a:schemeClr val="tx1"/>
                </a:solidFill>
              </a:rPr>
              <a:t>Crystal structure encoding: pre-trained CGCNN predicts properties for uploaded CIF / POSCAR files, added to the graph as labelled predictions.</a:t>
            </a:r>
            <a:endParaRPr lang="en-US" sz="2000" dirty="0"/>
          </a:p>
          <a:p>
            <a:pPr indent="0" marL="0">
              <a:spcBef>
                <a:spcPts val="1000"/>
              </a:spcBef>
              <a:spcAft>
                <a:spcPts val="800"/>
              </a:spcAft>
              <a:buNone/>
            </a:pPr>
            <a:r>
              <a:rPr lang="en-US" sz="2000" b="1" dirty="0">
                <a:solidFill>
                  <a:schemeClr val="tx1"/>
                </a:solidFill>
              </a:rPr>
              <a:t>Future work:</a:t>
            </a:r>
            <a:endParaRPr lang="en-US" sz="2000" dirty="0"/>
          </a:p>
          <a:p>
            <a:pPr marL="279400" indent="-279400">
              <a:spcAft>
                <a:spcPts val="800"/>
              </a:spcAft>
              <a:buClr>
                <a:schemeClr val="accent1"/>
              </a:buClr>
              <a:buSzPct val="100000"/>
              <a:buChar char="●"/>
            </a:pPr>
            <a:r>
              <a:rPr lang="en-US" sz="2000" dirty="0">
                <a:solidFill>
                  <a:schemeClr val="tx1"/>
                </a:solidFill>
              </a:rPr>
              <a:t>Element substitution (</a:t>
            </a:r>
            <a:r>
              <a:rPr lang="en-US" sz="2000" dirty="0">
                <a:solidFill>
                  <a:schemeClr val="tx1"/>
                </a:solidFill>
                <a:latin typeface="Courier New" pitchFamily="34" charset="0"/>
                <a:ea typeface="Courier New" pitchFamily="34" charset="-122"/>
                <a:cs typeface="Courier New" pitchFamily="34" charset="-120"/>
              </a:rPr>
              <a:t>substitutable_with</a:t>
            </a:r>
            <a:r>
              <a:rPr lang="en-US" sz="2000" dirty="0">
                <a:solidFill>
                  <a:schemeClr val="tx1"/>
                </a:solidFill>
              </a:rPr>
              <a:t>).</a:t>
            </a:r>
            <a:endParaRPr lang="en-US" sz="2000" dirty="0"/>
          </a:p>
          <a:p>
            <a:pPr marL="279400" indent="-279400">
              <a:spcAft>
                <a:spcPts val="800"/>
              </a:spcAft>
              <a:buClr>
                <a:schemeClr val="accent1"/>
              </a:buClr>
              <a:buSzPct val="100000"/>
              <a:buChar char="●"/>
            </a:pPr>
            <a:r>
              <a:rPr lang="en-US" sz="2000" dirty="0">
                <a:solidFill>
                  <a:schemeClr val="tx1"/>
                </a:solidFill>
              </a:rPr>
              <a:t>Neo4j migration (a configuration swap) and a Next.js frontend with CI/CD.</a:t>
            </a:r>
            <a:endParaRPr lang="en-US" sz="20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201168" y="0"/>
            <a:ext cx="8778240" cy="713232"/>
          </a:xfrm>
          <a:prstGeom prst="rect">
            <a:avLst/>
          </a:prstGeom>
          <a:noFill/>
          <a:ln/>
        </p:spPr>
        <p:txBody>
          <a:bodyPr wrap="square" lIns="0" tIns="0" rIns="0" bIns="0" rtlCol="0" anchor="ctr"/>
          <a:lstStyle/>
          <a:p>
            <a:pPr algn="l" indent="0" marL="0">
              <a:buNone/>
            </a:pPr>
            <a:r>
              <a:rPr lang="en-US" sz="2600" dirty="0">
                <a:solidFill>
                  <a:schemeClr val="bg1"/>
                </a:solidFill>
              </a:rPr>
              <a:t>References</a:t>
            </a:r>
            <a:endParaRPr lang="en-US" sz="2600" dirty="0"/>
          </a:p>
        </p:txBody>
      </p:sp>
      <p:pic>
        <p:nvPicPr>
          <p:cNvPr id="3" name="ref-icon-287" descr="preencoded.png">    </p:cNvPr>
          <p:cNvPicPr>
            <a:picLocks noChangeAspect="1"/>
          </p:cNvPicPr>
          <p:nvPr/>
        </p:nvPicPr>
        <p:blipFill>
          <a:blip r:embed="rId1"/>
          <a:stretch>
            <a:fillRect/>
          </a:stretch>
        </p:blipFill>
        <p:spPr>
          <a:xfrm>
            <a:off x="411480" y="950976"/>
            <a:ext cx="201168" cy="201168"/>
          </a:xfrm>
          <a:prstGeom prst="rect">
            <a:avLst/>
          </a:prstGeom>
        </p:spPr>
      </p:pic>
      <p:sp>
        <p:nvSpPr>
          <p:cNvPr id="4" name="text-288"/>
          <p:cNvSpPr txBox="1"/>
          <p:nvPr/>
        </p:nvSpPr>
        <p:spPr>
          <a:xfrm>
            <a:off x="731520" y="914400"/>
            <a:ext cx="8046720" cy="502920"/>
          </a:xfrm>
          <a:prstGeom prst="rect">
            <a:avLst/>
          </a:prstGeom>
          <a:noFill/>
          <a:ln/>
        </p:spPr>
        <p:txBody>
          <a:bodyPr wrap="square" lIns="0" tIns="0" rIns="0" bIns="0" rtlCol="0" anchor="t"/>
          <a:lstStyle/>
          <a:p>
            <a:pPr indent="0" marL="0">
              <a:buNone/>
            </a:pPr>
            <a:r>
              <a:rPr lang="en-US" sz="1300" dirty="0">
                <a:solidFill>
                  <a:schemeClr val="accent1"/>
                </a:solidFill>
              </a:rPr>
              <a:t>Y. Chiang, et al., “LLaMP: Large Language Model Made Powerful for High-Fidelity Materials Knowledge Retrieval and Distillation,” 2024.</a:t>
            </a:r>
            <a:endParaRPr lang="en-US" sz="1300" dirty="0"/>
          </a:p>
        </p:txBody>
      </p:sp>
      <p:pic>
        <p:nvPicPr>
          <p:cNvPr id="5" name="ref-icon-289" descr="preencoded.png">    </p:cNvPr>
          <p:cNvPicPr>
            <a:picLocks noChangeAspect="1"/>
          </p:cNvPicPr>
          <p:nvPr/>
        </p:nvPicPr>
        <p:blipFill>
          <a:blip r:embed="rId2"/>
          <a:stretch>
            <a:fillRect/>
          </a:stretch>
        </p:blipFill>
        <p:spPr>
          <a:xfrm>
            <a:off x="411480" y="1636776"/>
            <a:ext cx="201168" cy="201168"/>
          </a:xfrm>
          <a:prstGeom prst="rect">
            <a:avLst/>
          </a:prstGeom>
        </p:spPr>
      </p:pic>
      <p:sp>
        <p:nvSpPr>
          <p:cNvPr id="6" name="text-290"/>
          <p:cNvSpPr txBox="1"/>
          <p:nvPr/>
        </p:nvSpPr>
        <p:spPr>
          <a:xfrm>
            <a:off x="731520" y="1600200"/>
            <a:ext cx="8046720" cy="274320"/>
          </a:xfrm>
          <a:prstGeom prst="rect">
            <a:avLst/>
          </a:prstGeom>
          <a:noFill/>
          <a:ln/>
        </p:spPr>
        <p:txBody>
          <a:bodyPr wrap="square" lIns="0" tIns="0" rIns="0" bIns="0" rtlCol="0" anchor="t"/>
          <a:lstStyle/>
          <a:p>
            <a:pPr indent="0" marL="0">
              <a:buNone/>
            </a:pPr>
            <a:r>
              <a:rPr lang="en-US" sz="1300" dirty="0">
                <a:solidFill>
                  <a:schemeClr val="accent1"/>
                </a:solidFill>
              </a:rPr>
              <a:t>H. Zhang, et al., “HoneyComb: A Flexible LLM-Based Agent System for Materials Science,” 2024.</a:t>
            </a:r>
            <a:endParaRPr lang="en-US" sz="1300" dirty="0"/>
          </a:p>
        </p:txBody>
      </p:sp>
      <p:pic>
        <p:nvPicPr>
          <p:cNvPr id="7" name="ref-icon-291" descr="preencoded.png">    </p:cNvPr>
          <p:cNvPicPr>
            <a:picLocks noChangeAspect="1"/>
          </p:cNvPicPr>
          <p:nvPr/>
        </p:nvPicPr>
        <p:blipFill>
          <a:blip r:embed="rId3"/>
          <a:stretch>
            <a:fillRect/>
          </a:stretch>
        </p:blipFill>
        <p:spPr>
          <a:xfrm>
            <a:off x="411480" y="2093976"/>
            <a:ext cx="201168" cy="201168"/>
          </a:xfrm>
          <a:prstGeom prst="rect">
            <a:avLst/>
          </a:prstGeom>
        </p:spPr>
      </p:pic>
      <p:sp>
        <p:nvSpPr>
          <p:cNvPr id="8" name="text-292"/>
          <p:cNvSpPr txBox="1"/>
          <p:nvPr/>
        </p:nvSpPr>
        <p:spPr>
          <a:xfrm>
            <a:off x="731520" y="2057400"/>
            <a:ext cx="8046720" cy="274320"/>
          </a:xfrm>
          <a:prstGeom prst="rect">
            <a:avLst/>
          </a:prstGeom>
          <a:noFill/>
          <a:ln/>
        </p:spPr>
        <p:txBody>
          <a:bodyPr wrap="square" lIns="0" tIns="0" rIns="0" bIns="0" rtlCol="0" anchor="t"/>
          <a:lstStyle/>
          <a:p>
            <a:pPr indent="0" marL="0">
              <a:buNone/>
            </a:pPr>
            <a:r>
              <a:rPr lang="en-US" sz="1300" dirty="0">
                <a:solidFill>
                  <a:schemeClr val="accent1"/>
                </a:solidFill>
              </a:rPr>
              <a:t>V. Mishra, et al., “LLaMat: Foundational Large Language Models for Materials Research,” 2024.</a:t>
            </a:r>
            <a:endParaRPr lang="en-US" sz="1300" dirty="0"/>
          </a:p>
        </p:txBody>
      </p:sp>
      <p:pic>
        <p:nvPicPr>
          <p:cNvPr id="9" name="ref-icon-293" descr="preencoded.png">    </p:cNvPr>
          <p:cNvPicPr>
            <a:picLocks noChangeAspect="1"/>
          </p:cNvPicPr>
          <p:nvPr/>
        </p:nvPicPr>
        <p:blipFill>
          <a:blip r:embed="rId4"/>
          <a:stretch>
            <a:fillRect/>
          </a:stretch>
        </p:blipFill>
        <p:spPr>
          <a:xfrm>
            <a:off x="411480" y="2551176"/>
            <a:ext cx="201168" cy="201168"/>
          </a:xfrm>
          <a:prstGeom prst="rect">
            <a:avLst/>
          </a:prstGeom>
        </p:spPr>
      </p:pic>
      <p:sp>
        <p:nvSpPr>
          <p:cNvPr id="10" name="text-294"/>
          <p:cNvSpPr txBox="1"/>
          <p:nvPr/>
        </p:nvSpPr>
        <p:spPr>
          <a:xfrm>
            <a:off x="731520" y="2514600"/>
            <a:ext cx="8046720" cy="502920"/>
          </a:xfrm>
          <a:prstGeom prst="rect">
            <a:avLst/>
          </a:prstGeom>
          <a:noFill/>
          <a:ln/>
        </p:spPr>
        <p:txBody>
          <a:bodyPr wrap="square" lIns="0" tIns="0" rIns="0" bIns="0" rtlCol="0" anchor="t"/>
          <a:lstStyle/>
          <a:p>
            <a:pPr indent="0" marL="0">
              <a:buNone/>
            </a:pPr>
            <a:r>
              <a:rPr lang="en-US" sz="1300" dirty="0">
                <a:solidFill>
                  <a:schemeClr val="accent1"/>
                </a:solidFill>
              </a:rPr>
              <a:t>D. Edge, et al., “From Local to Global: A Graph RAG Approach to Query-Focused Summarization,” Microsoft Research, 2024.</a:t>
            </a:r>
            <a:endParaRPr lang="en-US" sz="1300" dirty="0"/>
          </a:p>
        </p:txBody>
      </p:sp>
      <p:pic>
        <p:nvPicPr>
          <p:cNvPr id="11" name="ref-icon-295" descr="preencoded.png">    </p:cNvPr>
          <p:cNvPicPr>
            <a:picLocks noChangeAspect="1"/>
          </p:cNvPicPr>
          <p:nvPr/>
        </p:nvPicPr>
        <p:blipFill>
          <a:blip r:embed="rId5"/>
          <a:stretch>
            <a:fillRect/>
          </a:stretch>
        </p:blipFill>
        <p:spPr>
          <a:xfrm>
            <a:off x="411480" y="3236976"/>
            <a:ext cx="201168" cy="201168"/>
          </a:xfrm>
          <a:prstGeom prst="rect">
            <a:avLst/>
          </a:prstGeom>
        </p:spPr>
      </p:pic>
      <p:sp>
        <p:nvSpPr>
          <p:cNvPr id="12" name="text-296"/>
          <p:cNvSpPr txBox="1"/>
          <p:nvPr/>
        </p:nvSpPr>
        <p:spPr>
          <a:xfrm>
            <a:off x="731520" y="3200400"/>
            <a:ext cx="8046720" cy="502920"/>
          </a:xfrm>
          <a:prstGeom prst="rect">
            <a:avLst/>
          </a:prstGeom>
          <a:noFill/>
          <a:ln/>
        </p:spPr>
        <p:txBody>
          <a:bodyPr wrap="square" lIns="0" tIns="0" rIns="0" bIns="0" rtlCol="0" anchor="t"/>
          <a:lstStyle/>
          <a:p>
            <a:pPr indent="0" marL="0">
              <a:buNone/>
            </a:pPr>
            <a:r>
              <a:rPr lang="en-US" sz="1300" dirty="0">
                <a:solidFill>
                  <a:schemeClr val="accent1"/>
                </a:solidFill>
              </a:rPr>
              <a:t>T. Xie and J. C. Grossman, “Crystal Graph Convolutional Neural Networks for an Accurate and Interpretable Prediction of Material Properties,” Phys. Rev. Lett., vol. 120, 145301, 2018.</a:t>
            </a:r>
            <a:endParaRPr lang="en-US" sz="1300" dirty="0"/>
          </a:p>
        </p:txBody>
      </p:sp>
      <p:pic>
        <p:nvPicPr>
          <p:cNvPr id="13" name="ref-icon-297" descr="preencoded.png">    </p:cNvPr>
          <p:cNvPicPr>
            <a:picLocks noChangeAspect="1"/>
          </p:cNvPicPr>
          <p:nvPr/>
        </p:nvPicPr>
        <p:blipFill>
          <a:blip r:embed="rId6"/>
          <a:stretch>
            <a:fillRect/>
          </a:stretch>
        </p:blipFill>
        <p:spPr>
          <a:xfrm>
            <a:off x="411480" y="3922776"/>
            <a:ext cx="201168" cy="201168"/>
          </a:xfrm>
          <a:prstGeom prst="rect">
            <a:avLst/>
          </a:prstGeom>
        </p:spPr>
      </p:pic>
      <p:sp>
        <p:nvSpPr>
          <p:cNvPr id="14" name="text-298"/>
          <p:cNvSpPr txBox="1"/>
          <p:nvPr/>
        </p:nvSpPr>
        <p:spPr>
          <a:xfrm>
            <a:off x="731520" y="3886200"/>
            <a:ext cx="8046720" cy="502920"/>
          </a:xfrm>
          <a:prstGeom prst="rect">
            <a:avLst/>
          </a:prstGeom>
          <a:noFill/>
          <a:ln/>
        </p:spPr>
        <p:txBody>
          <a:bodyPr wrap="square" lIns="0" tIns="0" rIns="0" bIns="0" rtlCol="0" anchor="t"/>
          <a:lstStyle/>
          <a:p>
            <a:pPr indent="0" marL="0">
              <a:buNone/>
            </a:pPr>
            <a:r>
              <a:rPr lang="en-US" sz="1300" dirty="0">
                <a:solidFill>
                  <a:schemeClr val="accent1"/>
                </a:solidFill>
              </a:rPr>
              <a:t>K. Choudhary and B. DeCost, “Atomistic Line Graph Neural Network for improved materials property predictions,” npj Comput. Mater., vol. 7, 185, 2021.</a:t>
            </a:r>
            <a:endParaRPr lang="en-US" sz="1300" dirty="0"/>
          </a:p>
        </p:txBody>
      </p:sp>
      <p:pic>
        <p:nvPicPr>
          <p:cNvPr id="15" name="ref-icon-299" descr="preencoded.png">    </p:cNvPr>
          <p:cNvPicPr>
            <a:picLocks noChangeAspect="1"/>
          </p:cNvPicPr>
          <p:nvPr/>
        </p:nvPicPr>
        <p:blipFill>
          <a:blip r:embed="rId7"/>
          <a:stretch>
            <a:fillRect/>
          </a:stretch>
        </p:blipFill>
        <p:spPr>
          <a:xfrm>
            <a:off x="411480" y="4608576"/>
            <a:ext cx="201168" cy="201168"/>
          </a:xfrm>
          <a:prstGeom prst="rect">
            <a:avLst/>
          </a:prstGeom>
        </p:spPr>
      </p:pic>
      <p:sp>
        <p:nvSpPr>
          <p:cNvPr id="16" name="text-300"/>
          <p:cNvSpPr txBox="1"/>
          <p:nvPr/>
        </p:nvSpPr>
        <p:spPr>
          <a:xfrm>
            <a:off x="731520" y="4572000"/>
            <a:ext cx="8046720" cy="502920"/>
          </a:xfrm>
          <a:prstGeom prst="rect">
            <a:avLst/>
          </a:prstGeom>
          <a:noFill/>
          <a:ln/>
        </p:spPr>
        <p:txBody>
          <a:bodyPr wrap="square" lIns="0" tIns="0" rIns="0" bIns="0" rtlCol="0" anchor="t"/>
          <a:lstStyle/>
          <a:p>
            <a:pPr indent="0" marL="0">
              <a:buNone/>
            </a:pPr>
            <a:r>
              <a:rPr lang="en-US" sz="1300" dirty="0">
                <a:solidFill>
                  <a:schemeClr val="accent1"/>
                </a:solidFill>
              </a:rPr>
              <a:t>A. Jain, et al., “The Materials Project: A materials genome approach to accelerating materials innovation,” APL Materials, vol. 1, no. 1, 011002, 2013.</a:t>
            </a:r>
            <a:endParaRPr lang="en-US" sz="1300" dirty="0"/>
          </a:p>
        </p:txBody>
      </p:sp>
      <p:pic>
        <p:nvPicPr>
          <p:cNvPr id="17" name="ref-icon-301" descr="preencoded.png">    </p:cNvPr>
          <p:cNvPicPr>
            <a:picLocks noChangeAspect="1"/>
          </p:cNvPicPr>
          <p:nvPr/>
        </p:nvPicPr>
        <p:blipFill>
          <a:blip r:embed="rId8"/>
          <a:stretch>
            <a:fillRect/>
          </a:stretch>
        </p:blipFill>
        <p:spPr>
          <a:xfrm>
            <a:off x="411480" y="5294376"/>
            <a:ext cx="201168" cy="201168"/>
          </a:xfrm>
          <a:prstGeom prst="rect">
            <a:avLst/>
          </a:prstGeom>
        </p:spPr>
      </p:pic>
      <p:sp>
        <p:nvSpPr>
          <p:cNvPr id="18" name="text-302"/>
          <p:cNvSpPr txBox="1"/>
          <p:nvPr/>
        </p:nvSpPr>
        <p:spPr>
          <a:xfrm>
            <a:off x="731520" y="5257800"/>
            <a:ext cx="8046720" cy="502920"/>
          </a:xfrm>
          <a:prstGeom prst="rect">
            <a:avLst/>
          </a:prstGeom>
          <a:noFill/>
          <a:ln/>
        </p:spPr>
        <p:txBody>
          <a:bodyPr wrap="square" lIns="0" tIns="0" rIns="0" bIns="0" rtlCol="0" anchor="t"/>
          <a:lstStyle/>
          <a:p>
            <a:pPr indent="0" marL="0">
              <a:buNone/>
            </a:pPr>
            <a:r>
              <a:rPr lang="en-US" sz="1300" dirty="0">
                <a:solidFill>
                  <a:schemeClr val="accent1"/>
                </a:solidFill>
              </a:rPr>
              <a:t>S. P. Ong, et al., “Python Materials Genomics (pymatgen),” Comput. Mater. Sci., vol. 68, pp. 314–319, 2013.</a:t>
            </a:r>
            <a:endParaRPr lang="en-US" sz="1300" dirty="0"/>
          </a:p>
        </p:txBody>
      </p:sp>
      <p:sp>
        <p:nvSpPr>
          <p:cNvPr id="25" name="Slide Number Placeholder 0"/>
          <p:cNvSpPr>
            <a:spLocks noGrp="1"/>
          </p:cNvSpPr>
          <p:nvPr>
            <p:ph type="sldNum" sz="quarter" idx="4294967295"/>
          </p:nvPr>
        </p:nvSpPr>
        <p:spPr>
          <a:xfrm>
            <a:off x="7936992" y="659739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MatGraphRAG Review">
      <a:dk1>
        <a:srgbClr val="000000"/>
      </a:dk1>
      <a:lt1>
        <a:srgbClr val="FFFFFF"/>
      </a:lt1>
      <a:dk2>
        <a:srgbClr val="191959"/>
      </a:dk2>
      <a:lt2>
        <a:srgbClr val="EBEBF7"/>
      </a:lt2>
      <a:accent1>
        <a:srgbClr val="3333B2"/>
      </a:accent1>
      <a:accent2>
        <a:srgbClr val="262686"/>
      </a:accent2>
      <a:accent3>
        <a:srgbClr val="82B366"/>
      </a:accent3>
      <a:accent4>
        <a:srgbClr val="D79B00"/>
      </a:accent4>
      <a:accent5>
        <a:srgbClr val="6C8EBF"/>
      </a:accent5>
      <a:accent6>
        <a:srgbClr val="9673A6"/>
      </a:accent6>
      <a:hlink>
        <a:srgbClr val="3333B2"/>
      </a:hlink>
      <a:folHlink>
        <a:srgbClr val="262686"/>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MatGraphRAG</dc:title>
  <dc:subject>MatGraphRAG review</dc:subject>
  <dc:creator>PptxGenJS</dc:creator>
  <cp:lastModifiedBy>PptxGenJS</cp:lastModifiedBy>
  <cp:revision>1</cp:revision>
  <dcterms:created xsi:type="dcterms:W3CDTF">2026-10-23T03:29:31Z</dcterms:created>
  <dcterms:modified xsi:type="dcterms:W3CDTF">2026-10-23T03:29:31Z</dcterms:modified>
</cp:coreProperties>
</file>